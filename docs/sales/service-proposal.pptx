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0692079" cy="756025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79" cy="7560259"/>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7432243"/>
            <a:ext cx="10692079" cy="128016"/>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logo-white.png"/>
          <p:cNvPicPr>
            <a:picLocks noChangeAspect="1"/>
          </p:cNvPicPr>
          <p:nvPr/>
        </p:nvPicPr>
        <p:blipFill>
          <a:blip r:embed="rId2"/>
          <a:stretch>
            <a:fillRect/>
          </a:stretch>
        </p:blipFill>
        <p:spPr>
          <a:xfrm>
            <a:off x="658368" y="658368"/>
            <a:ext cx="1057244" cy="420624"/>
          </a:xfrm>
          <a:prstGeom prst="rect">
            <a:avLst/>
          </a:prstGeom>
        </p:spPr>
      </p:pic>
      <p:sp>
        <p:nvSpPr>
          <p:cNvPr id="5" name="TextBox 4"/>
          <p:cNvSpPr txBox="1"/>
          <p:nvPr/>
        </p:nvSpPr>
        <p:spPr>
          <a:xfrm>
            <a:off x="658368" y="1965960"/>
            <a:ext cx="9509760" cy="365760"/>
          </a:xfrm>
          <a:prstGeom prst="rect">
            <a:avLst/>
          </a:prstGeom>
          <a:noFill/>
        </p:spPr>
        <p:txBody>
          <a:bodyPr wrap="square" anchor="t" lIns="0" rIns="0" tIns="0" bIns="0">
            <a:spAutoFit/>
          </a:bodyPr>
          <a:lstStyle/>
          <a:p>
            <a:pPr algn="l">
              <a:spcAft>
                <a:spcPts val="0"/>
              </a:spcAft>
            </a:pPr>
            <a:r>
              <a:rPr sz="2000" b="0">
                <a:solidFill>
                  <a:srgbClr val="9EC0E8"/>
                </a:solidFill>
                <a:latin typeface="游ゴシック"/>
                <a:ea typeface="游ゴシック"/>
              </a:rPr>
              <a:t>AI検索に引用される</a:t>
            </a:r>
          </a:p>
        </p:txBody>
      </p:sp>
      <p:sp>
        <p:nvSpPr>
          <p:cNvPr id="6" name="TextBox 5"/>
          <p:cNvSpPr txBox="1"/>
          <p:nvPr/>
        </p:nvSpPr>
        <p:spPr>
          <a:xfrm>
            <a:off x="658368" y="2395728"/>
            <a:ext cx="10058400" cy="1463040"/>
          </a:xfrm>
          <a:prstGeom prst="rect">
            <a:avLst/>
          </a:prstGeom>
          <a:noFill/>
        </p:spPr>
        <p:txBody>
          <a:bodyPr wrap="square" anchor="t" lIns="0" rIns="0" tIns="0" bIns="0">
            <a:spAutoFit/>
          </a:bodyPr>
          <a:lstStyle/>
          <a:p>
            <a:pPr algn="l">
              <a:lnSpc>
                <a:spcPct val="118000"/>
              </a:lnSpc>
              <a:spcAft>
                <a:spcPts val="0"/>
              </a:spcAft>
            </a:pPr>
            <a:r>
              <a:rPr sz="4600" b="1">
                <a:solidFill>
                  <a:srgbClr val="FFFFFF"/>
                </a:solidFill>
                <a:latin typeface="游ゴシック"/>
                <a:ea typeface="游ゴシック"/>
              </a:rPr>
              <a:t>オウンドメディア</a:t>
            </a:r>
          </a:p>
          <a:p>
            <a:pPr algn="l">
              <a:lnSpc>
                <a:spcPct val="118000"/>
              </a:lnSpc>
              <a:spcAft>
                <a:spcPts val="0"/>
              </a:spcAft>
            </a:pPr>
            <a:r>
              <a:rPr sz="4600" b="1">
                <a:solidFill>
                  <a:srgbClr val="FFFFFF"/>
                </a:solidFill>
                <a:latin typeface="游ゴシック"/>
                <a:ea typeface="游ゴシック"/>
              </a:rPr>
              <a:t>構築・運用サービス</a:t>
            </a:r>
          </a:p>
        </p:txBody>
      </p:sp>
      <p:sp>
        <p:nvSpPr>
          <p:cNvPr id="7" name="Rectangle 6"/>
          <p:cNvSpPr/>
          <p:nvPr/>
        </p:nvSpPr>
        <p:spPr>
          <a:xfrm>
            <a:off x="658368" y="4224528"/>
            <a:ext cx="1188720" cy="4445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4498848"/>
            <a:ext cx="8778240" cy="914400"/>
          </a:xfrm>
          <a:prstGeom prst="rect">
            <a:avLst/>
          </a:prstGeom>
          <a:noFill/>
        </p:spPr>
        <p:txBody>
          <a:bodyPr wrap="square" anchor="t" lIns="0" rIns="0" tIns="0" bIns="0">
            <a:spAutoFit/>
          </a:bodyPr>
          <a:lstStyle/>
          <a:p>
            <a:pPr algn="l">
              <a:lnSpc>
                <a:spcPct val="170000"/>
              </a:lnSpc>
              <a:spcAft>
                <a:spcPts val="0"/>
              </a:spcAft>
            </a:pPr>
            <a:r>
              <a:rPr sz="1450" b="0">
                <a:solidFill>
                  <a:srgbClr val="C5D6EB"/>
                </a:solidFill>
                <a:latin typeface="游ゴシック"/>
                <a:ea typeface="游ゴシック"/>
              </a:rPr>
              <a:t>サイト構築から月60本の記事更新、効果測定と改善までを一式で。</a:t>
            </a:r>
          </a:p>
          <a:p>
            <a:pPr algn="l">
              <a:lnSpc>
                <a:spcPct val="170000"/>
              </a:lnSpc>
              <a:spcAft>
                <a:spcPts val="0"/>
              </a:spcAft>
            </a:pPr>
            <a:r>
              <a:rPr sz="1450" b="0">
                <a:solidFill>
                  <a:srgbClr val="C5D6EB"/>
                </a:solidFill>
                <a:latin typeface="游ゴシック"/>
                <a:ea typeface="游ゴシック"/>
              </a:rPr>
              <a:t>御社の作業はゼロのまま、検索とAIの両方から見つかる状態をつくります。</a:t>
            </a:r>
          </a:p>
        </p:txBody>
      </p:sp>
      <p:sp>
        <p:nvSpPr>
          <p:cNvPr id="9" name="Rectangle 8"/>
          <p:cNvSpPr/>
          <p:nvPr/>
        </p:nvSpPr>
        <p:spPr>
          <a:xfrm>
            <a:off x="658368" y="5623560"/>
            <a:ext cx="2286000" cy="384048"/>
          </a:xfrm>
          <a:prstGeom prst="rect">
            <a:avLst/>
          </a:prstGeom>
          <a:noFill/>
          <a:ln w="12700">
            <a:solidFill>
              <a:srgbClr val="3E5C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5715000"/>
            <a:ext cx="2286000" cy="274320"/>
          </a:xfrm>
          <a:prstGeom prst="rect">
            <a:avLst/>
          </a:prstGeom>
          <a:noFill/>
        </p:spPr>
        <p:txBody>
          <a:bodyPr wrap="square" anchor="t" lIns="0" rIns="0" tIns="0" bIns="0">
            <a:spAutoFit/>
          </a:bodyPr>
          <a:lstStyle/>
          <a:p>
            <a:pPr algn="ctr">
              <a:spcAft>
                <a:spcPts val="0"/>
              </a:spcAft>
            </a:pPr>
            <a:r>
              <a:rPr sz="1150" b="0">
                <a:solidFill>
                  <a:srgbClr val="C5D6EB"/>
                </a:solidFill>
                <a:latin typeface="游ゴシック"/>
                <a:ea typeface="游ゴシック"/>
              </a:rPr>
              <a:t>AI検索（AIO/LLMO）対応</a:t>
            </a:r>
          </a:p>
        </p:txBody>
      </p:sp>
      <p:sp>
        <p:nvSpPr>
          <p:cNvPr id="11" name="Rectangle 10"/>
          <p:cNvSpPr/>
          <p:nvPr/>
        </p:nvSpPr>
        <p:spPr>
          <a:xfrm>
            <a:off x="3145536" y="5623560"/>
            <a:ext cx="2286000" cy="384048"/>
          </a:xfrm>
          <a:prstGeom prst="rect">
            <a:avLst/>
          </a:prstGeom>
          <a:noFill/>
          <a:ln w="12700">
            <a:solidFill>
              <a:srgbClr val="3E5C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145536" y="5715000"/>
            <a:ext cx="2286000" cy="274320"/>
          </a:xfrm>
          <a:prstGeom prst="rect">
            <a:avLst/>
          </a:prstGeom>
          <a:noFill/>
        </p:spPr>
        <p:txBody>
          <a:bodyPr wrap="square" anchor="t" lIns="0" rIns="0" tIns="0" bIns="0">
            <a:spAutoFit/>
          </a:bodyPr>
          <a:lstStyle/>
          <a:p>
            <a:pPr algn="ctr">
              <a:spcAft>
                <a:spcPts val="0"/>
              </a:spcAft>
            </a:pPr>
            <a:r>
              <a:rPr sz="1150" b="0">
                <a:solidFill>
                  <a:srgbClr val="C5D6EB"/>
                </a:solidFill>
                <a:latin typeface="游ゴシック"/>
                <a:ea typeface="游ゴシック"/>
              </a:rPr>
              <a:t>月60記事</a:t>
            </a:r>
          </a:p>
        </p:txBody>
      </p:sp>
      <p:sp>
        <p:nvSpPr>
          <p:cNvPr id="13" name="Rectangle 12"/>
          <p:cNvSpPr/>
          <p:nvPr/>
        </p:nvSpPr>
        <p:spPr>
          <a:xfrm>
            <a:off x="5632704" y="5623560"/>
            <a:ext cx="2286000" cy="384048"/>
          </a:xfrm>
          <a:prstGeom prst="rect">
            <a:avLst/>
          </a:prstGeom>
          <a:noFill/>
          <a:ln w="12700">
            <a:solidFill>
              <a:srgbClr val="3E5C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32704" y="5715000"/>
            <a:ext cx="2286000" cy="274320"/>
          </a:xfrm>
          <a:prstGeom prst="rect">
            <a:avLst/>
          </a:prstGeom>
          <a:noFill/>
        </p:spPr>
        <p:txBody>
          <a:bodyPr wrap="square" anchor="t" lIns="0" rIns="0" tIns="0" bIns="0">
            <a:spAutoFit/>
          </a:bodyPr>
          <a:lstStyle/>
          <a:p>
            <a:pPr algn="ctr">
              <a:spcAft>
                <a:spcPts val="0"/>
              </a:spcAft>
            </a:pPr>
            <a:r>
              <a:rPr sz="1150" b="0">
                <a:solidFill>
                  <a:srgbClr val="C5D6EB"/>
                </a:solidFill>
                <a:latin typeface="游ゴシック"/>
                <a:ea typeface="游ゴシック"/>
              </a:rPr>
              <a:t>レポート・改善込み</a:t>
            </a:r>
          </a:p>
        </p:txBody>
      </p:sp>
      <p:sp>
        <p:nvSpPr>
          <p:cNvPr id="15" name="TextBox 14"/>
          <p:cNvSpPr txBox="1"/>
          <p:nvPr/>
        </p:nvSpPr>
        <p:spPr>
          <a:xfrm>
            <a:off x="7107631" y="5715000"/>
            <a:ext cx="2926080" cy="274320"/>
          </a:xfrm>
          <a:prstGeom prst="rect">
            <a:avLst/>
          </a:prstGeom>
          <a:noFill/>
        </p:spPr>
        <p:txBody>
          <a:bodyPr wrap="square" anchor="t" lIns="0" rIns="0" tIns="0" bIns="0">
            <a:spAutoFit/>
          </a:bodyPr>
          <a:lstStyle/>
          <a:p>
            <a:pPr algn="r">
              <a:spcAft>
                <a:spcPts val="0"/>
              </a:spcAft>
            </a:pPr>
            <a:r>
              <a:rPr sz="1150" b="0">
                <a:solidFill>
                  <a:srgbClr val="7E9ABE"/>
                </a:solidFill>
                <a:latin typeface="游ゴシック"/>
                <a:ea typeface="游ゴシック"/>
              </a:rPr>
              <a:t>2026年10月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はじめに — このご提案の結論</a:t>
            </a:r>
          </a:p>
        </p:txBody>
      </p:sp>
      <p:sp>
        <p:nvSpPr>
          <p:cNvPr id="3" name="Rectangle 2"/>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細かい仕組みの説明に入る前に、御社にとって何が変わるのかを3つにまとめます。</a:t>
            </a:r>
          </a:p>
        </p:txBody>
      </p:sp>
      <p:sp>
        <p:nvSpPr>
          <p:cNvPr id="5" name="Rectangle 4"/>
          <p:cNvSpPr/>
          <p:nvPr/>
        </p:nvSpPr>
        <p:spPr>
          <a:xfrm>
            <a:off x="658368" y="1517904"/>
            <a:ext cx="2991002" cy="14173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58368" y="1517904"/>
            <a:ext cx="38100" cy="1417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77824" y="167335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記事が止まらない</a:t>
            </a:r>
          </a:p>
        </p:txBody>
      </p:sp>
      <p:sp>
        <p:nvSpPr>
          <p:cNvPr id="8" name="TextBox 7"/>
          <p:cNvSpPr txBox="1"/>
          <p:nvPr/>
        </p:nvSpPr>
        <p:spPr>
          <a:xfrm>
            <a:off x="877824" y="190195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月60本</a:t>
            </a:r>
          </a:p>
        </p:txBody>
      </p:sp>
      <p:sp>
        <p:nvSpPr>
          <p:cNvPr id="9" name="TextBox 8"/>
          <p:cNvSpPr txBox="1"/>
          <p:nvPr/>
        </p:nvSpPr>
        <p:spPr>
          <a:xfrm>
            <a:off x="877824" y="230428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担当者の退職や繁忙期に左右されず、毎日決まった時刻に公開されます</a:t>
            </a:r>
          </a:p>
        </p:txBody>
      </p:sp>
      <p:sp>
        <p:nvSpPr>
          <p:cNvPr id="10" name="Rectangle 9"/>
          <p:cNvSpPr/>
          <p:nvPr/>
        </p:nvSpPr>
        <p:spPr>
          <a:xfrm>
            <a:off x="3850538" y="1517904"/>
            <a:ext cx="2991002" cy="14173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850538" y="1517904"/>
            <a:ext cx="38100" cy="1417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069994" y="167335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品質が落ちない</a:t>
            </a:r>
          </a:p>
        </p:txBody>
      </p:sp>
      <p:sp>
        <p:nvSpPr>
          <p:cNvPr id="13" name="TextBox 12"/>
          <p:cNvSpPr txBox="1"/>
          <p:nvPr/>
        </p:nvSpPr>
        <p:spPr>
          <a:xfrm>
            <a:off x="4069994" y="190195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90点未満は公開不可</a:t>
            </a:r>
          </a:p>
        </p:txBody>
      </p:sp>
      <p:sp>
        <p:nvSpPr>
          <p:cNvPr id="14" name="TextBox 13"/>
          <p:cNvSpPr txBox="1"/>
          <p:nvPr/>
        </p:nvSpPr>
        <p:spPr>
          <a:xfrm>
            <a:off x="4069994" y="230428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基準に届かない記事は、システム上サイトに載せられません</a:t>
            </a:r>
          </a:p>
        </p:txBody>
      </p:sp>
      <p:sp>
        <p:nvSpPr>
          <p:cNvPr id="15" name="Rectangle 14"/>
          <p:cNvSpPr/>
          <p:nvPr/>
        </p:nvSpPr>
        <p:spPr>
          <a:xfrm>
            <a:off x="7042708" y="1517904"/>
            <a:ext cx="2991002" cy="14173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042708" y="1517904"/>
            <a:ext cx="38100" cy="1417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262164" y="167335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効かない記事が残らない</a:t>
            </a:r>
          </a:p>
        </p:txBody>
      </p:sp>
      <p:sp>
        <p:nvSpPr>
          <p:cNvPr id="18" name="TextBox 17"/>
          <p:cNvSpPr txBox="1"/>
          <p:nvPr/>
        </p:nvSpPr>
        <p:spPr>
          <a:xfrm>
            <a:off x="7262164" y="190195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毎週 自動で改善</a:t>
            </a:r>
          </a:p>
        </p:txBody>
      </p:sp>
      <p:sp>
        <p:nvSpPr>
          <p:cNvPr id="19" name="TextBox 18"/>
          <p:cNvSpPr txBox="1"/>
          <p:nvPr/>
        </p:nvSpPr>
        <p:spPr>
          <a:xfrm>
            <a:off x="7262164" y="230428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順位の出ていない記事を機械が特定し、手当てまで自動で行います</a:t>
            </a:r>
          </a:p>
        </p:txBody>
      </p:sp>
      <p:sp>
        <p:nvSpPr>
          <p:cNvPr id="20" name="Rectangle 19"/>
          <p:cNvSpPr/>
          <p:nvPr/>
        </p:nvSpPr>
        <p:spPr>
          <a:xfrm>
            <a:off x="658368" y="3319272"/>
            <a:ext cx="9375343" cy="129844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8368" y="3319272"/>
            <a:ext cx="38100" cy="1298448"/>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3520440"/>
            <a:ext cx="8826703" cy="274320"/>
          </a:xfrm>
          <a:prstGeom prst="rect">
            <a:avLst/>
          </a:prstGeom>
          <a:noFill/>
        </p:spPr>
        <p:txBody>
          <a:bodyPr wrap="square" anchor="t" lIns="0" rIns="0" tIns="0" bIns="0">
            <a:spAutoFit/>
          </a:bodyPr>
          <a:lstStyle/>
          <a:p>
            <a:pPr algn="l">
              <a:spcAft>
                <a:spcPts val="0"/>
              </a:spcAft>
            </a:pPr>
            <a:r>
              <a:rPr sz="1500" b="1">
                <a:solidFill>
                  <a:srgbClr val="0B2447"/>
                </a:solidFill>
                <a:latin typeface="游ゴシック"/>
                <a:ea typeface="游ゴシック"/>
              </a:rPr>
              <a:t>記事は「書いて終わり」ではなく、積み上がる資産です</a:t>
            </a:r>
          </a:p>
        </p:txBody>
      </p:sp>
      <p:sp>
        <p:nvSpPr>
          <p:cNvPr id="23" name="TextBox 22"/>
          <p:cNvSpPr txBox="1"/>
          <p:nvPr/>
        </p:nvSpPr>
        <p:spPr>
          <a:xfrm>
            <a:off x="932688" y="3886200"/>
            <a:ext cx="8826703" cy="640080"/>
          </a:xfrm>
          <a:prstGeom prst="rect">
            <a:avLst/>
          </a:prstGeom>
          <a:noFill/>
        </p:spPr>
        <p:txBody>
          <a:bodyPr wrap="square" anchor="t" lIns="0" rIns="0" tIns="0" bIns="0">
            <a:spAutoFit/>
          </a:bodyPr>
          <a:lstStyle/>
          <a:p>
            <a:pPr algn="l">
              <a:lnSpc>
                <a:spcPct val="160000"/>
              </a:lnSpc>
              <a:spcAft>
                <a:spcPts val="0"/>
              </a:spcAft>
            </a:pPr>
            <a:r>
              <a:rPr sz="1300" b="0">
                <a:solidFill>
                  <a:srgbClr val="1A2233"/>
                </a:solidFill>
                <a:latin typeface="游ゴシック"/>
                <a:ea typeface="游ゴシック"/>
              </a:rPr>
              <a:t>広告は出稿を止めた瞬間に流入がゼロになります。検索とAI検索から入ってくる記事は、公開後も残り続けて集客を続けます。本サービスは、その資産を毎月積み上げる仕組みそのものをご提供するものです。</a:t>
            </a:r>
          </a:p>
        </p:txBody>
      </p:sp>
      <p:sp>
        <p:nvSpPr>
          <p:cNvPr id="24" name="Rectangle 23"/>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01</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記事を書いても順位が上がらない理由</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多くの企業が記事制作でつまずくのは、書く量ではなく次の3点です。</a:t>
            </a:r>
          </a:p>
        </p:txBody>
      </p:sp>
      <p:sp>
        <p:nvSpPr>
          <p:cNvPr id="6" name="Oval 5"/>
          <p:cNvSpPr/>
          <p:nvPr/>
        </p:nvSpPr>
        <p:spPr>
          <a:xfrm>
            <a:off x="676656" y="1600200"/>
            <a:ext cx="63500" cy="635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1248" y="1490472"/>
            <a:ext cx="9192463" cy="365760"/>
          </a:xfrm>
          <a:prstGeom prst="rect">
            <a:avLst/>
          </a:prstGeom>
          <a:noFill/>
        </p:spPr>
        <p:txBody>
          <a:bodyPr wrap="square" lIns="0" rIns="0" tIns="0" bIns="0">
            <a:spAutoFit/>
          </a:bodyPr>
          <a:lstStyle/>
          <a:p>
            <a:pPr>
              <a:lnSpc>
                <a:spcPct val="145000"/>
              </a:lnSpc>
            </a:pPr>
            <a:r>
              <a:rPr sz="1300" b="1">
                <a:solidFill>
                  <a:srgbClr val="0B2447"/>
                </a:solidFill>
                <a:latin typeface="游ゴシック"/>
                <a:ea typeface="游ゴシック"/>
              </a:rPr>
              <a:t>書き手が続かない。</a:t>
            </a:r>
            <a:r>
              <a:rPr sz="1300" b="0">
                <a:solidFill>
                  <a:srgbClr val="1A2233"/>
                </a:solidFill>
                <a:latin typeface="游ゴシック"/>
                <a:ea typeface="游ゴシック"/>
              </a:rPr>
              <a:t>　担当者の異動・退職・繁忙期で更新が止まります。3ヶ月空くとサイト全体の評価が下がります。</a:t>
            </a:r>
          </a:p>
        </p:txBody>
      </p:sp>
      <p:sp>
        <p:nvSpPr>
          <p:cNvPr id="8" name="Oval 7"/>
          <p:cNvSpPr/>
          <p:nvPr/>
        </p:nvSpPr>
        <p:spPr>
          <a:xfrm>
            <a:off x="676656" y="2386584"/>
            <a:ext cx="63500" cy="635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8" y="2276856"/>
            <a:ext cx="9192463" cy="365760"/>
          </a:xfrm>
          <a:prstGeom prst="rect">
            <a:avLst/>
          </a:prstGeom>
          <a:noFill/>
        </p:spPr>
        <p:txBody>
          <a:bodyPr wrap="square" lIns="0" rIns="0" tIns="0" bIns="0">
            <a:spAutoFit/>
          </a:bodyPr>
          <a:lstStyle/>
          <a:p>
            <a:pPr>
              <a:lnSpc>
                <a:spcPct val="145000"/>
              </a:lnSpc>
            </a:pPr>
            <a:r>
              <a:rPr sz="1300" b="1">
                <a:solidFill>
                  <a:srgbClr val="0B2447"/>
                </a:solidFill>
                <a:latin typeface="游ゴシック"/>
                <a:ea typeface="游ゴシック"/>
              </a:rPr>
              <a:t>自社の記事同士が食い合う。</a:t>
            </a:r>
            <a:r>
              <a:rPr sz="1300" b="0">
                <a:solidFill>
                  <a:srgbClr val="1A2233"/>
                </a:solidFill>
                <a:latin typeface="游ゴシック"/>
                <a:ea typeface="游ゴシック"/>
              </a:rPr>
              <a:t>　似たテーマを重ねると、検索エンジンがどちらを出すか決められず、両方の順位が落ちます。これは記事が増えるほど起きやすくなります。</a:t>
            </a:r>
          </a:p>
        </p:txBody>
      </p:sp>
      <p:sp>
        <p:nvSpPr>
          <p:cNvPr id="10" name="Oval 9"/>
          <p:cNvSpPr/>
          <p:nvPr/>
        </p:nvSpPr>
        <p:spPr>
          <a:xfrm>
            <a:off x="676656" y="3172968"/>
            <a:ext cx="63500" cy="635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3063240"/>
            <a:ext cx="9192463" cy="365760"/>
          </a:xfrm>
          <a:prstGeom prst="rect">
            <a:avLst/>
          </a:prstGeom>
          <a:noFill/>
        </p:spPr>
        <p:txBody>
          <a:bodyPr wrap="square" lIns="0" rIns="0" tIns="0" bIns="0">
            <a:spAutoFit/>
          </a:bodyPr>
          <a:lstStyle/>
          <a:p>
            <a:pPr>
              <a:lnSpc>
                <a:spcPct val="145000"/>
              </a:lnSpc>
            </a:pPr>
            <a:r>
              <a:rPr sz="1300" b="1">
                <a:solidFill>
                  <a:srgbClr val="0B2447"/>
                </a:solidFill>
                <a:latin typeface="游ゴシック"/>
                <a:ea typeface="游ゴシック"/>
              </a:rPr>
              <a:t>品質の基準が人によってぶれる。</a:t>
            </a:r>
            <a:r>
              <a:rPr sz="1300" b="0">
                <a:solidFill>
                  <a:srgbClr val="1A2233"/>
                </a:solidFill>
                <a:latin typeface="游ゴシック"/>
                <a:ea typeface="游ゴシック"/>
              </a:rPr>
              <a:t>　忙しい週は薄い記事が通り、それがサイト全体の評価を引き下げます。</a:t>
            </a:r>
          </a:p>
        </p:txBody>
      </p:sp>
      <p:sp>
        <p:nvSpPr>
          <p:cNvPr id="12" name="Rectangle 11"/>
          <p:cNvSpPr/>
          <p:nvPr/>
        </p:nvSpPr>
        <p:spPr>
          <a:xfrm>
            <a:off x="658368" y="4023360"/>
            <a:ext cx="9375343" cy="1371600"/>
          </a:xfrm>
          <a:prstGeom prst="rect">
            <a:avLst/>
          </a:prstGeom>
          <a:solidFill>
            <a:srgbClr val="FCEFED"/>
          </a:solidFill>
          <a:ln w="12700">
            <a:solidFill>
              <a:srgbClr val="F0C8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32688" y="4206240"/>
            <a:ext cx="8826703" cy="274320"/>
          </a:xfrm>
          <a:prstGeom prst="rect">
            <a:avLst/>
          </a:prstGeom>
          <a:noFill/>
        </p:spPr>
        <p:txBody>
          <a:bodyPr wrap="square" anchor="t" lIns="0" rIns="0" tIns="0" bIns="0">
            <a:spAutoFit/>
          </a:bodyPr>
          <a:lstStyle/>
          <a:p>
            <a:pPr algn="l">
              <a:spcAft>
                <a:spcPts val="0"/>
              </a:spcAft>
            </a:pPr>
            <a:r>
              <a:rPr sz="1450" b="1">
                <a:solidFill>
                  <a:srgbClr val="B42318"/>
                </a:solidFill>
                <a:latin typeface="游ゴシック"/>
                <a:ea typeface="游ゴシック"/>
              </a:rPr>
              <a:t>食い合いは、目視では防げません</a:t>
            </a:r>
          </a:p>
        </p:txBody>
      </p:sp>
      <p:sp>
        <p:nvSpPr>
          <p:cNvPr id="14" name="TextBox 13"/>
          <p:cNvSpPr txBox="1"/>
          <p:nvPr/>
        </p:nvSpPr>
        <p:spPr>
          <a:xfrm>
            <a:off x="932688" y="4572000"/>
            <a:ext cx="8826703" cy="731520"/>
          </a:xfrm>
          <a:prstGeom prst="rect">
            <a:avLst/>
          </a:prstGeom>
          <a:noFill/>
        </p:spPr>
        <p:txBody>
          <a:bodyPr wrap="square" anchor="t" lIns="0" rIns="0" tIns="0" bIns="0">
            <a:spAutoFit/>
          </a:bodyPr>
          <a:lstStyle/>
          <a:p>
            <a:pPr algn="l">
              <a:lnSpc>
                <a:spcPct val="160000"/>
              </a:lnSpc>
              <a:spcAft>
                <a:spcPts val="0"/>
              </a:spcAft>
            </a:pPr>
            <a:r>
              <a:rPr sz="1250" b="0">
                <a:solidFill>
                  <a:srgbClr val="1A2233"/>
                </a:solidFill>
                <a:latin typeface="游ゴシック"/>
                <a:ea typeface="游ゴシック"/>
              </a:rPr>
              <a:t>当社の運用でも、タイトルの類似チェックを通過した記事が、実際には8記事と狙う範囲が重なり、51の検索語で表示484回・クリック0という結果になったことがあります。タイトルが違っても、見出しの中身が重なれば食い合います。本サービスでは、この判定を検索コンソールの実績データに当てて機械的に行います。</a:t>
            </a:r>
          </a:p>
        </p:txBody>
      </p:sp>
      <p:sp>
        <p:nvSpPr>
          <p:cNvPr id="15" name="Rectangle 14"/>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記載の数値は当社運用サイトでの実測値です。</a:t>
            </a:r>
          </a:p>
        </p:txBody>
      </p:sp>
      <p:sp>
        <p:nvSpPr>
          <p:cNvPr id="17" name="TextBox 16"/>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必要性</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02</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なぜ今、AIOへの対応が必要なのか</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検索の入口が変わりつつあります。順位を取っても読まれない、という状態が現実に起きています。</a:t>
            </a:r>
          </a:p>
        </p:txBody>
      </p:sp>
      <p:sp>
        <p:nvSpPr>
          <p:cNvPr id="7" name="Rectangle 6"/>
          <p:cNvSpPr/>
          <p:nvPr/>
        </p:nvSpPr>
        <p:spPr>
          <a:xfrm>
            <a:off x="658368" y="1737360"/>
            <a:ext cx="4406411" cy="2148840"/>
          </a:xfrm>
          <a:prstGeom prst="rect">
            <a:avLst/>
          </a:prstGeom>
          <a:solidFill>
            <a:srgbClr val="FCEFED"/>
          </a:solidFill>
          <a:ln w="12700">
            <a:solidFill>
              <a:srgbClr val="F0C8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96112" y="1920240"/>
            <a:ext cx="3949211" cy="256032"/>
          </a:xfrm>
          <a:prstGeom prst="rect">
            <a:avLst/>
          </a:prstGeom>
          <a:noFill/>
        </p:spPr>
        <p:txBody>
          <a:bodyPr wrap="square" anchor="t" lIns="0" rIns="0" tIns="0" bIns="0">
            <a:spAutoFit/>
          </a:bodyPr>
          <a:lstStyle/>
          <a:p>
            <a:pPr algn="l">
              <a:spcAft>
                <a:spcPts val="0"/>
              </a:spcAft>
            </a:pPr>
            <a:r>
              <a:rPr sz="1250" b="1">
                <a:solidFill>
                  <a:srgbClr val="B42318"/>
                </a:solidFill>
                <a:latin typeface="游ゴシック"/>
                <a:ea typeface="游ゴシック"/>
              </a:rPr>
              <a:t>いま起きていること</a:t>
            </a:r>
          </a:p>
        </p:txBody>
      </p:sp>
      <p:sp>
        <p:nvSpPr>
          <p:cNvPr id="9" name="Oval 8"/>
          <p:cNvSpPr/>
          <p:nvPr/>
        </p:nvSpPr>
        <p:spPr>
          <a:xfrm>
            <a:off x="896112" y="2340864"/>
            <a:ext cx="50800" cy="5080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42416" y="2249424"/>
            <a:ext cx="3784619"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検索結果の上部にAIの回答が出る</a:t>
            </a:r>
          </a:p>
        </p:txBody>
      </p:sp>
      <p:sp>
        <p:nvSpPr>
          <p:cNvPr id="11" name="Oval 10"/>
          <p:cNvSpPr/>
          <p:nvPr/>
        </p:nvSpPr>
        <p:spPr>
          <a:xfrm>
            <a:off x="896112" y="2651760"/>
            <a:ext cx="50800" cy="5080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2416" y="2560320"/>
            <a:ext cx="3784619"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利用者はその回答を読んで完結する</a:t>
            </a:r>
          </a:p>
        </p:txBody>
      </p:sp>
      <p:sp>
        <p:nvSpPr>
          <p:cNvPr id="13" name="Oval 12"/>
          <p:cNvSpPr/>
          <p:nvPr/>
        </p:nvSpPr>
        <p:spPr>
          <a:xfrm>
            <a:off x="896112" y="2962656"/>
            <a:ext cx="50800" cy="5080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42416" y="2871216"/>
            <a:ext cx="3784619"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サイトまで来ないまま用事が済む</a:t>
            </a:r>
          </a:p>
        </p:txBody>
      </p:sp>
      <p:sp>
        <p:nvSpPr>
          <p:cNvPr id="15" name="Oval 14"/>
          <p:cNvSpPr/>
          <p:nvPr/>
        </p:nvSpPr>
        <p:spPr>
          <a:xfrm>
            <a:off x="896112" y="3273552"/>
            <a:ext cx="50800" cy="50800"/>
          </a:xfrm>
          <a:prstGeom prst="ellipse">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42416" y="3182112"/>
            <a:ext cx="3784619"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ChatGPTやPerplexityで直接調べる人が増える</a:t>
            </a:r>
          </a:p>
        </p:txBody>
      </p:sp>
      <p:sp>
        <p:nvSpPr>
          <p:cNvPr id="17" name="Rectangle 16"/>
          <p:cNvSpPr/>
          <p:nvPr/>
        </p:nvSpPr>
        <p:spPr>
          <a:xfrm>
            <a:off x="5339099" y="1737360"/>
            <a:ext cx="4694612" cy="214884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76843" y="1920240"/>
            <a:ext cx="4237412" cy="256032"/>
          </a:xfrm>
          <a:prstGeom prst="rect">
            <a:avLst/>
          </a:prstGeom>
          <a:noFill/>
        </p:spPr>
        <p:txBody>
          <a:bodyPr wrap="square" anchor="t" lIns="0" rIns="0" tIns="0" bIns="0">
            <a:spAutoFit/>
          </a:bodyPr>
          <a:lstStyle/>
          <a:p>
            <a:pPr algn="l">
              <a:spcAft>
                <a:spcPts val="0"/>
              </a:spcAft>
            </a:pPr>
            <a:r>
              <a:rPr sz="1250" b="1">
                <a:solidFill>
                  <a:srgbClr val="0B2447"/>
                </a:solidFill>
                <a:latin typeface="游ゴシック"/>
                <a:ea typeface="游ゴシック"/>
              </a:rPr>
              <a:t>そこで起きる分かれ目</a:t>
            </a:r>
          </a:p>
        </p:txBody>
      </p:sp>
      <p:sp>
        <p:nvSpPr>
          <p:cNvPr id="19" name="Oval 18"/>
          <p:cNvSpPr/>
          <p:nvPr/>
        </p:nvSpPr>
        <p:spPr>
          <a:xfrm>
            <a:off x="5576843" y="2340864"/>
            <a:ext cx="50800" cy="50800"/>
          </a:xfrm>
          <a:prstGeom prst="ellipse">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23147" y="2249424"/>
            <a:ext cx="4072820"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AIの回答に引用される = 社名ごと知られる</a:t>
            </a:r>
          </a:p>
        </p:txBody>
      </p:sp>
      <p:sp>
        <p:nvSpPr>
          <p:cNvPr id="21" name="Oval 20"/>
          <p:cNvSpPr/>
          <p:nvPr/>
        </p:nvSpPr>
        <p:spPr>
          <a:xfrm>
            <a:off x="5576843" y="2651760"/>
            <a:ext cx="50800" cy="50800"/>
          </a:xfrm>
          <a:prstGeom prst="ellipse">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723147" y="2560320"/>
            <a:ext cx="4072820"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引用されない = 存在しないのと同じになる</a:t>
            </a:r>
          </a:p>
        </p:txBody>
      </p:sp>
      <p:sp>
        <p:nvSpPr>
          <p:cNvPr id="23" name="Oval 22"/>
          <p:cNvSpPr/>
          <p:nvPr/>
        </p:nvSpPr>
        <p:spPr>
          <a:xfrm>
            <a:off x="5576843" y="2962656"/>
            <a:ext cx="50800" cy="50800"/>
          </a:xfrm>
          <a:prstGeom prst="ellipse">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723147" y="2871216"/>
            <a:ext cx="4072820"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引用の前提は、今までどおりの検索上位表示</a:t>
            </a:r>
          </a:p>
        </p:txBody>
      </p:sp>
      <p:sp>
        <p:nvSpPr>
          <p:cNvPr id="25" name="Oval 24"/>
          <p:cNvSpPr/>
          <p:nvPr/>
        </p:nvSpPr>
        <p:spPr>
          <a:xfrm>
            <a:off x="5576843" y="3273552"/>
            <a:ext cx="50800" cy="50800"/>
          </a:xfrm>
          <a:prstGeom prst="ellipse">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723147" y="3182112"/>
            <a:ext cx="4072820" cy="27432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上位でも、抽出できない構造なら引用されない</a:t>
            </a:r>
          </a:p>
        </p:txBody>
      </p:sp>
      <p:sp>
        <p:nvSpPr>
          <p:cNvPr id="27" name="TextBox 26"/>
          <p:cNvSpPr txBox="1"/>
          <p:nvPr/>
        </p:nvSpPr>
        <p:spPr>
          <a:xfrm>
            <a:off x="658368" y="4114800"/>
            <a:ext cx="9375343" cy="274320"/>
          </a:xfrm>
          <a:prstGeom prst="rect">
            <a:avLst/>
          </a:prstGeom>
          <a:noFill/>
        </p:spPr>
        <p:txBody>
          <a:bodyPr wrap="square" anchor="t" lIns="0" rIns="0" tIns="0" bIns="0">
            <a:spAutoFit/>
          </a:bodyPr>
          <a:lstStyle/>
          <a:p>
            <a:pPr algn="l">
              <a:spcAft>
                <a:spcPts val="0"/>
              </a:spcAft>
            </a:pPr>
            <a:r>
              <a:rPr sz="1500" b="1">
                <a:solidFill>
                  <a:srgbClr val="0B2447"/>
                </a:solidFill>
                <a:latin typeface="游ゴシック"/>
                <a:ea typeface="游ゴシック"/>
              </a:rPr>
              <a:t>だから、SEOとAIO（AI検索対策）は二段構えで設計します</a:t>
            </a:r>
          </a:p>
        </p:txBody>
      </p:sp>
      <p:sp>
        <p:nvSpPr>
          <p:cNvPr id="28" name="Rectangle 27"/>
          <p:cNvSpPr/>
          <p:nvPr/>
        </p:nvSpPr>
        <p:spPr>
          <a:xfrm>
            <a:off x="658368" y="4535424"/>
            <a:ext cx="2991002" cy="1225296"/>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4535424"/>
            <a:ext cx="38100" cy="1225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77824" y="469087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第一段</a:t>
            </a:r>
          </a:p>
        </p:txBody>
      </p:sp>
      <p:sp>
        <p:nvSpPr>
          <p:cNvPr id="31" name="TextBox 30"/>
          <p:cNvSpPr txBox="1"/>
          <p:nvPr/>
        </p:nvSpPr>
        <p:spPr>
          <a:xfrm>
            <a:off x="877824" y="491947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検索で上位を取る</a:t>
            </a:r>
          </a:p>
        </p:txBody>
      </p:sp>
      <p:sp>
        <p:nvSpPr>
          <p:cNvPr id="32" name="TextBox 31"/>
          <p:cNvSpPr txBox="1"/>
          <p:nvPr/>
        </p:nvSpPr>
        <p:spPr>
          <a:xfrm>
            <a:off x="877824" y="532180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AIは上位のページを読んで回答を作ります。上位表示は今までどおり前提条件です</a:t>
            </a:r>
          </a:p>
        </p:txBody>
      </p:sp>
      <p:sp>
        <p:nvSpPr>
          <p:cNvPr id="33" name="Rectangle 32"/>
          <p:cNvSpPr/>
          <p:nvPr/>
        </p:nvSpPr>
        <p:spPr>
          <a:xfrm>
            <a:off x="3850538" y="4535424"/>
            <a:ext cx="2991002" cy="1225296"/>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850538" y="4535424"/>
            <a:ext cx="38100" cy="1225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069994" y="469087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第二段</a:t>
            </a:r>
          </a:p>
        </p:txBody>
      </p:sp>
      <p:sp>
        <p:nvSpPr>
          <p:cNvPr id="36" name="TextBox 35"/>
          <p:cNvSpPr txBox="1"/>
          <p:nvPr/>
        </p:nvSpPr>
        <p:spPr>
          <a:xfrm>
            <a:off x="4069994" y="491947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抽出できる形にする</a:t>
            </a:r>
          </a:p>
        </p:txBody>
      </p:sp>
      <p:sp>
        <p:nvSpPr>
          <p:cNvPr id="37" name="TextBox 36"/>
          <p:cNvSpPr txBox="1"/>
          <p:nvPr/>
        </p:nvSpPr>
        <p:spPr>
          <a:xfrm>
            <a:off x="4069994" y="532180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冒頭の断言・見出しごとの結論・出典つきの数字。AIが切り出せる構造にします</a:t>
            </a:r>
          </a:p>
        </p:txBody>
      </p:sp>
      <p:sp>
        <p:nvSpPr>
          <p:cNvPr id="38" name="Rectangle 37"/>
          <p:cNvSpPr/>
          <p:nvPr/>
        </p:nvSpPr>
        <p:spPr>
          <a:xfrm>
            <a:off x="7042708" y="4535424"/>
            <a:ext cx="2991002" cy="1225296"/>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7042708" y="4535424"/>
            <a:ext cx="38100" cy="1225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262164" y="469087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結果</a:t>
            </a:r>
          </a:p>
        </p:txBody>
      </p:sp>
      <p:sp>
        <p:nvSpPr>
          <p:cNvPr id="41" name="TextBox 40"/>
          <p:cNvSpPr txBox="1"/>
          <p:nvPr/>
        </p:nvSpPr>
        <p:spPr>
          <a:xfrm>
            <a:off x="7262164" y="491947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指名検索が増える</a:t>
            </a:r>
          </a:p>
        </p:txBody>
      </p:sp>
      <p:sp>
        <p:nvSpPr>
          <p:cNvPr id="42" name="TextBox 41"/>
          <p:cNvSpPr txBox="1"/>
          <p:nvPr/>
        </p:nvSpPr>
        <p:spPr>
          <a:xfrm>
            <a:off x="7262164" y="532180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AIの回答に社名ごと載ることで、クリックされなくても認知が積み上がります</a:t>
            </a:r>
          </a:p>
        </p:txBody>
      </p:sp>
      <p:sp>
        <p:nvSpPr>
          <p:cNvPr id="43" name="Rectangle 42"/>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ゼロクリック検索が増えても、引用され続ければ指名検索とご相談は増えます。「クリック数だけを見ていると気づけない変化」がここで起きています。</a:t>
            </a:r>
          </a:p>
        </p:txBody>
      </p:sp>
      <p:sp>
        <p:nvSpPr>
          <p:cNvPr id="45" name="TextBox 44"/>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課題</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03</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記事は「量」が要る。しかし量を追うと質が落ちる</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オウンドメディアが続かない理由は、この two つが同時に成り立たないことにあります。</a:t>
            </a:r>
          </a:p>
        </p:txBody>
      </p:sp>
      <p:sp>
        <p:nvSpPr>
          <p:cNvPr id="7" name="Rectangle 6"/>
          <p:cNvSpPr/>
          <p:nvPr/>
        </p:nvSpPr>
        <p:spPr>
          <a:xfrm>
            <a:off x="658368" y="1737360"/>
            <a:ext cx="4550511" cy="157276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737360"/>
            <a:ext cx="38100" cy="15727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901952"/>
            <a:ext cx="4093311" cy="274320"/>
          </a:xfrm>
          <a:prstGeom prst="rect">
            <a:avLst/>
          </a:prstGeom>
          <a:noFill/>
        </p:spPr>
        <p:txBody>
          <a:bodyPr wrap="square" anchor="t" lIns="0" rIns="0" tIns="0" bIns="0">
            <a:spAutoFit/>
          </a:bodyPr>
          <a:lstStyle/>
          <a:p>
            <a:pPr algn="l">
              <a:spcAft>
                <a:spcPts val="0"/>
              </a:spcAft>
            </a:pPr>
            <a:r>
              <a:rPr sz="1300" b="1">
                <a:solidFill>
                  <a:srgbClr val="0B2447"/>
                </a:solidFill>
                <a:latin typeface="游ゴシック"/>
                <a:ea typeface="游ゴシック"/>
              </a:rPr>
              <a:t>量が要る理由</a:t>
            </a:r>
          </a:p>
        </p:txBody>
      </p:sp>
      <p:sp>
        <p:nvSpPr>
          <p:cNvPr id="10" name="TextBox 9"/>
          <p:cNvSpPr txBox="1"/>
          <p:nvPr/>
        </p:nvSpPr>
        <p:spPr>
          <a:xfrm>
            <a:off x="896112" y="2267712"/>
            <a:ext cx="4075023" cy="91440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検索されるテーマは業種ごとに数百あります。1テーマ1記事なので、カバーするには本数が要ります。月に数本では、拾える検索語がいつまでも増えません。</a:t>
            </a:r>
          </a:p>
        </p:txBody>
      </p:sp>
      <p:sp>
        <p:nvSpPr>
          <p:cNvPr id="11" name="Rectangle 10"/>
          <p:cNvSpPr/>
          <p:nvPr/>
        </p:nvSpPr>
        <p:spPr>
          <a:xfrm>
            <a:off x="5483199" y="1737360"/>
            <a:ext cx="4550511" cy="157276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483199" y="1737360"/>
            <a:ext cx="38100" cy="157276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20943" y="1901952"/>
            <a:ext cx="4093311" cy="274320"/>
          </a:xfrm>
          <a:prstGeom prst="rect">
            <a:avLst/>
          </a:prstGeom>
          <a:noFill/>
        </p:spPr>
        <p:txBody>
          <a:bodyPr wrap="square" anchor="t" lIns="0" rIns="0" tIns="0" bIns="0">
            <a:spAutoFit/>
          </a:bodyPr>
          <a:lstStyle/>
          <a:p>
            <a:pPr algn="l">
              <a:spcAft>
                <a:spcPts val="0"/>
              </a:spcAft>
            </a:pPr>
            <a:r>
              <a:rPr sz="1300" b="1">
                <a:solidFill>
                  <a:srgbClr val="0B2447"/>
                </a:solidFill>
                <a:latin typeface="游ゴシック"/>
                <a:ea typeface="游ゴシック"/>
              </a:rPr>
              <a:t>質が落ちる理由</a:t>
            </a:r>
          </a:p>
        </p:txBody>
      </p:sp>
      <p:sp>
        <p:nvSpPr>
          <p:cNvPr id="14" name="TextBox 13"/>
          <p:cNvSpPr txBox="1"/>
          <p:nvPr/>
        </p:nvSpPr>
        <p:spPr>
          <a:xfrm>
            <a:off x="5720943" y="2267712"/>
            <a:ext cx="4075023" cy="91440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本数を増やすほど、1本にかけられる時間が減ります。忙しい週は薄い記事が通り、似たテーマが重なって自社の記事同士が食い合います。</a:t>
            </a:r>
          </a:p>
        </p:txBody>
      </p:sp>
      <p:sp>
        <p:nvSpPr>
          <p:cNvPr id="15" name="TextBox 14"/>
          <p:cNvSpPr txBox="1"/>
          <p:nvPr/>
        </p:nvSpPr>
        <p:spPr>
          <a:xfrm>
            <a:off x="658368" y="3547872"/>
            <a:ext cx="9375343"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量を作る3つの方法と、それぞれの限界</a:t>
            </a:r>
          </a:p>
        </p:txBody>
      </p:sp>
      <p:sp>
        <p:nvSpPr>
          <p:cNvPr id="16" name="Rectangle 15"/>
          <p:cNvSpPr/>
          <p:nvPr/>
        </p:nvSpPr>
        <p:spPr>
          <a:xfrm>
            <a:off x="658368" y="3931920"/>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4005072"/>
            <a:ext cx="1410928"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方法</a:t>
            </a:r>
          </a:p>
        </p:txBody>
      </p:sp>
      <p:sp>
        <p:nvSpPr>
          <p:cNvPr id="18" name="TextBox 17"/>
          <p:cNvSpPr txBox="1"/>
          <p:nvPr/>
        </p:nvSpPr>
        <p:spPr>
          <a:xfrm>
            <a:off x="2380192" y="4005072"/>
            <a:ext cx="379640"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量</a:t>
            </a:r>
          </a:p>
        </p:txBody>
      </p:sp>
      <p:sp>
        <p:nvSpPr>
          <p:cNvPr id="19" name="TextBox 18"/>
          <p:cNvSpPr txBox="1"/>
          <p:nvPr/>
        </p:nvSpPr>
        <p:spPr>
          <a:xfrm>
            <a:off x="2942712" y="4005072"/>
            <a:ext cx="379640"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質</a:t>
            </a:r>
          </a:p>
        </p:txBody>
      </p:sp>
      <p:sp>
        <p:nvSpPr>
          <p:cNvPr id="20" name="TextBox 19"/>
          <p:cNvSpPr txBox="1"/>
          <p:nvPr/>
        </p:nvSpPr>
        <p:spPr>
          <a:xfrm>
            <a:off x="3505232" y="4005072"/>
            <a:ext cx="567147"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続くか</a:t>
            </a:r>
          </a:p>
        </p:txBody>
      </p:sp>
      <p:sp>
        <p:nvSpPr>
          <p:cNvPr id="21" name="TextBox 20"/>
          <p:cNvSpPr txBox="1"/>
          <p:nvPr/>
        </p:nvSpPr>
        <p:spPr>
          <a:xfrm>
            <a:off x="4255259" y="4005072"/>
            <a:ext cx="5723586"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実際に起きること</a:t>
            </a:r>
          </a:p>
        </p:txBody>
      </p:sp>
      <p:sp>
        <p:nvSpPr>
          <p:cNvPr id="22" name="Rectangle 21"/>
          <p:cNvSpPr/>
          <p:nvPr/>
        </p:nvSpPr>
        <p:spPr>
          <a:xfrm>
            <a:off x="658368" y="47365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86384" y="4361688"/>
            <a:ext cx="1374352"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外注ライター</a:t>
            </a:r>
          </a:p>
        </p:txBody>
      </p:sp>
      <p:sp>
        <p:nvSpPr>
          <p:cNvPr id="24" name="TextBox 23"/>
          <p:cNvSpPr txBox="1"/>
          <p:nvPr/>
        </p:nvSpPr>
        <p:spPr>
          <a:xfrm>
            <a:off x="2380192" y="4361688"/>
            <a:ext cx="343064" cy="365760"/>
          </a:xfrm>
          <a:prstGeom prst="rect">
            <a:avLst/>
          </a:prstGeom>
          <a:noFill/>
        </p:spPr>
        <p:txBody>
          <a:bodyPr wrap="square" anchor="t" lIns="0" rIns="0" tIns="0" bIns="0">
            <a:spAutoFit/>
          </a:bodyPr>
          <a:lstStyle/>
          <a:p>
            <a:pPr algn="l">
              <a:lnSpc>
                <a:spcPct val="130000"/>
              </a:lnSpc>
              <a:spcAft>
                <a:spcPts val="0"/>
              </a:spcAft>
            </a:pPr>
            <a:r>
              <a:rPr sz="1200" b="1">
                <a:solidFill>
                  <a:srgbClr val="15783D"/>
                </a:solidFill>
                <a:latin typeface="游ゴシック"/>
                <a:ea typeface="游ゴシック"/>
              </a:rPr>
              <a:t>○</a:t>
            </a:r>
          </a:p>
        </p:txBody>
      </p:sp>
      <p:sp>
        <p:nvSpPr>
          <p:cNvPr id="25" name="TextBox 24"/>
          <p:cNvSpPr txBox="1"/>
          <p:nvPr/>
        </p:nvSpPr>
        <p:spPr>
          <a:xfrm>
            <a:off x="2942712" y="4361688"/>
            <a:ext cx="343064" cy="365760"/>
          </a:xfrm>
          <a:prstGeom prst="rect">
            <a:avLst/>
          </a:prstGeom>
          <a:noFill/>
        </p:spPr>
        <p:txBody>
          <a:bodyPr wrap="square" anchor="t" lIns="0" rIns="0" tIns="0" bIns="0">
            <a:spAutoFit/>
          </a:bodyPr>
          <a:lstStyle/>
          <a:p>
            <a:pPr algn="l">
              <a:lnSpc>
                <a:spcPct val="130000"/>
              </a:lnSpc>
              <a:spcAft>
                <a:spcPts val="0"/>
              </a:spcAft>
            </a:pPr>
            <a:r>
              <a:rPr sz="1200" b="1">
                <a:solidFill>
                  <a:srgbClr val="9A6700"/>
                </a:solidFill>
                <a:latin typeface="游ゴシック"/>
                <a:ea typeface="游ゴシック"/>
              </a:rPr>
              <a:t>△</a:t>
            </a:r>
          </a:p>
        </p:txBody>
      </p:sp>
      <p:sp>
        <p:nvSpPr>
          <p:cNvPr id="26" name="TextBox 25"/>
          <p:cNvSpPr txBox="1"/>
          <p:nvPr/>
        </p:nvSpPr>
        <p:spPr>
          <a:xfrm>
            <a:off x="3505232" y="4361688"/>
            <a:ext cx="530571" cy="365760"/>
          </a:xfrm>
          <a:prstGeom prst="rect">
            <a:avLst/>
          </a:prstGeom>
          <a:noFill/>
        </p:spPr>
        <p:txBody>
          <a:bodyPr wrap="square" anchor="t" lIns="0" rIns="0" tIns="0" bIns="0">
            <a:spAutoFit/>
          </a:bodyPr>
          <a:lstStyle/>
          <a:p>
            <a:pPr algn="l">
              <a:lnSpc>
                <a:spcPct val="130000"/>
              </a:lnSpc>
              <a:spcAft>
                <a:spcPts val="0"/>
              </a:spcAft>
            </a:pPr>
            <a:r>
              <a:rPr sz="1200" b="1">
                <a:solidFill>
                  <a:srgbClr val="9A6700"/>
                </a:solidFill>
                <a:latin typeface="游ゴシック"/>
                <a:ea typeface="游ゴシック"/>
              </a:rPr>
              <a:t>△</a:t>
            </a:r>
          </a:p>
        </p:txBody>
      </p:sp>
      <p:sp>
        <p:nvSpPr>
          <p:cNvPr id="27" name="TextBox 26"/>
          <p:cNvSpPr txBox="1"/>
          <p:nvPr/>
        </p:nvSpPr>
        <p:spPr>
          <a:xfrm>
            <a:off x="4255259" y="4361688"/>
            <a:ext cx="5687010"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1本ずつ発注・確認が要る。担当が変わると品質が揺れる</a:t>
            </a:r>
          </a:p>
        </p:txBody>
      </p:sp>
      <p:sp>
        <p:nvSpPr>
          <p:cNvPr id="28" name="Rectangle 27"/>
          <p:cNvSpPr/>
          <p:nvPr/>
        </p:nvSpPr>
        <p:spPr>
          <a:xfrm>
            <a:off x="658368" y="4736592"/>
            <a:ext cx="9375343"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51937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86384" y="4818888"/>
            <a:ext cx="1374352"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社内で採用</a:t>
            </a:r>
          </a:p>
        </p:txBody>
      </p:sp>
      <p:sp>
        <p:nvSpPr>
          <p:cNvPr id="31" name="TextBox 30"/>
          <p:cNvSpPr txBox="1"/>
          <p:nvPr/>
        </p:nvSpPr>
        <p:spPr>
          <a:xfrm>
            <a:off x="2380192" y="4818888"/>
            <a:ext cx="343064" cy="365760"/>
          </a:xfrm>
          <a:prstGeom prst="rect">
            <a:avLst/>
          </a:prstGeom>
          <a:noFill/>
        </p:spPr>
        <p:txBody>
          <a:bodyPr wrap="square" anchor="t" lIns="0" rIns="0" tIns="0" bIns="0">
            <a:spAutoFit/>
          </a:bodyPr>
          <a:lstStyle/>
          <a:p>
            <a:pPr algn="l">
              <a:lnSpc>
                <a:spcPct val="130000"/>
              </a:lnSpc>
              <a:spcAft>
                <a:spcPts val="0"/>
              </a:spcAft>
            </a:pPr>
            <a:r>
              <a:rPr sz="1200" b="1">
                <a:solidFill>
                  <a:srgbClr val="9A6700"/>
                </a:solidFill>
                <a:latin typeface="游ゴシック"/>
                <a:ea typeface="游ゴシック"/>
              </a:rPr>
              <a:t>△</a:t>
            </a:r>
          </a:p>
        </p:txBody>
      </p:sp>
      <p:sp>
        <p:nvSpPr>
          <p:cNvPr id="32" name="TextBox 31"/>
          <p:cNvSpPr txBox="1"/>
          <p:nvPr/>
        </p:nvSpPr>
        <p:spPr>
          <a:xfrm>
            <a:off x="2942712" y="4818888"/>
            <a:ext cx="343064" cy="365760"/>
          </a:xfrm>
          <a:prstGeom prst="rect">
            <a:avLst/>
          </a:prstGeom>
          <a:noFill/>
        </p:spPr>
        <p:txBody>
          <a:bodyPr wrap="square" anchor="t" lIns="0" rIns="0" tIns="0" bIns="0">
            <a:spAutoFit/>
          </a:bodyPr>
          <a:lstStyle/>
          <a:p>
            <a:pPr algn="l">
              <a:lnSpc>
                <a:spcPct val="130000"/>
              </a:lnSpc>
              <a:spcAft>
                <a:spcPts val="0"/>
              </a:spcAft>
            </a:pPr>
            <a:r>
              <a:rPr sz="1200" b="1">
                <a:solidFill>
                  <a:srgbClr val="15783D"/>
                </a:solidFill>
                <a:latin typeface="游ゴシック"/>
                <a:ea typeface="游ゴシック"/>
              </a:rPr>
              <a:t>○</a:t>
            </a:r>
          </a:p>
        </p:txBody>
      </p:sp>
      <p:sp>
        <p:nvSpPr>
          <p:cNvPr id="33" name="TextBox 32"/>
          <p:cNvSpPr txBox="1"/>
          <p:nvPr/>
        </p:nvSpPr>
        <p:spPr>
          <a:xfrm>
            <a:off x="3505232" y="4818888"/>
            <a:ext cx="530571" cy="365760"/>
          </a:xfrm>
          <a:prstGeom prst="rect">
            <a:avLst/>
          </a:prstGeom>
          <a:noFill/>
        </p:spPr>
        <p:txBody>
          <a:bodyPr wrap="square" anchor="t" lIns="0" rIns="0" tIns="0" bIns="0">
            <a:spAutoFit/>
          </a:bodyPr>
          <a:lstStyle/>
          <a:p>
            <a:pPr algn="l">
              <a:lnSpc>
                <a:spcPct val="130000"/>
              </a:lnSpc>
              <a:spcAft>
                <a:spcPts val="0"/>
              </a:spcAft>
            </a:pPr>
            <a:r>
              <a:rPr sz="1200" b="1">
                <a:solidFill>
                  <a:srgbClr val="B42318"/>
                </a:solidFill>
                <a:latin typeface="游ゴシック"/>
                <a:ea typeface="游ゴシック"/>
              </a:rPr>
              <a:t>×</a:t>
            </a:r>
          </a:p>
        </p:txBody>
      </p:sp>
      <p:sp>
        <p:nvSpPr>
          <p:cNvPr id="34" name="TextBox 33"/>
          <p:cNvSpPr txBox="1"/>
          <p:nvPr/>
        </p:nvSpPr>
        <p:spPr>
          <a:xfrm>
            <a:off x="4255259" y="4818888"/>
            <a:ext cx="5687010"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採用に数ヶ月。退職すると更新が止まり、評価も下がる</a:t>
            </a:r>
          </a:p>
        </p:txBody>
      </p:sp>
      <p:sp>
        <p:nvSpPr>
          <p:cNvPr id="35" name="Rectangle 34"/>
          <p:cNvSpPr/>
          <p:nvPr/>
        </p:nvSpPr>
        <p:spPr>
          <a:xfrm>
            <a:off x="658368" y="56509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86384" y="5276088"/>
            <a:ext cx="1374352"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AIツールに書かせる</a:t>
            </a:r>
          </a:p>
        </p:txBody>
      </p:sp>
      <p:sp>
        <p:nvSpPr>
          <p:cNvPr id="37" name="TextBox 36"/>
          <p:cNvSpPr txBox="1"/>
          <p:nvPr/>
        </p:nvSpPr>
        <p:spPr>
          <a:xfrm>
            <a:off x="2380192" y="5276088"/>
            <a:ext cx="343064" cy="365760"/>
          </a:xfrm>
          <a:prstGeom prst="rect">
            <a:avLst/>
          </a:prstGeom>
          <a:noFill/>
        </p:spPr>
        <p:txBody>
          <a:bodyPr wrap="square" anchor="t" lIns="0" rIns="0" tIns="0" bIns="0">
            <a:spAutoFit/>
          </a:bodyPr>
          <a:lstStyle/>
          <a:p>
            <a:pPr algn="l">
              <a:lnSpc>
                <a:spcPct val="130000"/>
              </a:lnSpc>
              <a:spcAft>
                <a:spcPts val="0"/>
              </a:spcAft>
            </a:pPr>
            <a:r>
              <a:rPr sz="1200" b="1">
                <a:solidFill>
                  <a:srgbClr val="15783D"/>
                </a:solidFill>
                <a:latin typeface="游ゴシック"/>
                <a:ea typeface="游ゴシック"/>
              </a:rPr>
              <a:t>◎</a:t>
            </a:r>
          </a:p>
        </p:txBody>
      </p:sp>
      <p:sp>
        <p:nvSpPr>
          <p:cNvPr id="38" name="TextBox 37"/>
          <p:cNvSpPr txBox="1"/>
          <p:nvPr/>
        </p:nvSpPr>
        <p:spPr>
          <a:xfrm>
            <a:off x="2942712" y="5276088"/>
            <a:ext cx="343064" cy="365760"/>
          </a:xfrm>
          <a:prstGeom prst="rect">
            <a:avLst/>
          </a:prstGeom>
          <a:noFill/>
        </p:spPr>
        <p:txBody>
          <a:bodyPr wrap="square" anchor="t" lIns="0" rIns="0" tIns="0" bIns="0">
            <a:spAutoFit/>
          </a:bodyPr>
          <a:lstStyle/>
          <a:p>
            <a:pPr algn="l">
              <a:lnSpc>
                <a:spcPct val="130000"/>
              </a:lnSpc>
              <a:spcAft>
                <a:spcPts val="0"/>
              </a:spcAft>
            </a:pPr>
            <a:r>
              <a:rPr sz="1200" b="1">
                <a:solidFill>
                  <a:srgbClr val="B42318"/>
                </a:solidFill>
                <a:latin typeface="游ゴシック"/>
                <a:ea typeface="游ゴシック"/>
              </a:rPr>
              <a:t>×</a:t>
            </a:r>
          </a:p>
        </p:txBody>
      </p:sp>
      <p:sp>
        <p:nvSpPr>
          <p:cNvPr id="39" name="TextBox 38"/>
          <p:cNvSpPr txBox="1"/>
          <p:nvPr/>
        </p:nvSpPr>
        <p:spPr>
          <a:xfrm>
            <a:off x="3505232" y="5276088"/>
            <a:ext cx="530571" cy="365760"/>
          </a:xfrm>
          <a:prstGeom prst="rect">
            <a:avLst/>
          </a:prstGeom>
          <a:noFill/>
        </p:spPr>
        <p:txBody>
          <a:bodyPr wrap="square" anchor="t" lIns="0" rIns="0" tIns="0" bIns="0">
            <a:spAutoFit/>
          </a:bodyPr>
          <a:lstStyle/>
          <a:p>
            <a:pPr algn="l">
              <a:lnSpc>
                <a:spcPct val="130000"/>
              </a:lnSpc>
              <a:spcAft>
                <a:spcPts val="0"/>
              </a:spcAft>
            </a:pPr>
            <a:r>
              <a:rPr sz="1200" b="1">
                <a:solidFill>
                  <a:srgbClr val="9A6700"/>
                </a:solidFill>
                <a:latin typeface="游ゴシック"/>
                <a:ea typeface="游ゴシック"/>
              </a:rPr>
              <a:t>△</a:t>
            </a:r>
          </a:p>
        </p:txBody>
      </p:sp>
      <p:sp>
        <p:nvSpPr>
          <p:cNvPr id="40" name="TextBox 39"/>
          <p:cNvSpPr txBox="1"/>
          <p:nvPr/>
        </p:nvSpPr>
        <p:spPr>
          <a:xfrm>
            <a:off x="4255259" y="5276088"/>
            <a:ext cx="5687010"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量は出るが、食い合いと薄さの判定が誰もできない</a:t>
            </a:r>
          </a:p>
        </p:txBody>
      </p:sp>
      <p:sp>
        <p:nvSpPr>
          <p:cNvPr id="41" name="Rectangle 40"/>
          <p:cNvSpPr/>
          <p:nvPr/>
        </p:nvSpPr>
        <p:spPr>
          <a:xfrm>
            <a:off x="658368" y="5833872"/>
            <a:ext cx="9375343" cy="786384"/>
          </a:xfrm>
          <a:prstGeom prst="rect">
            <a:avLst/>
          </a:prstGeom>
          <a:solidFill>
            <a:srgbClr val="EBF2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4400" y="5980176"/>
            <a:ext cx="8863279" cy="548640"/>
          </a:xfrm>
          <a:prstGeom prst="rect">
            <a:avLst/>
          </a:prstGeom>
          <a:noFill/>
        </p:spPr>
        <p:txBody>
          <a:bodyPr wrap="square" anchor="t" lIns="0" rIns="0" tIns="0" bIns="0">
            <a:spAutoFit/>
          </a:bodyPr>
          <a:lstStyle/>
          <a:p>
            <a:pPr algn="l">
              <a:lnSpc>
                <a:spcPct val="150000"/>
              </a:lnSpc>
              <a:spcAft>
                <a:spcPts val="0"/>
              </a:spcAft>
            </a:pPr>
            <a:r>
              <a:rPr sz="1250" b="1">
                <a:solidFill>
                  <a:srgbClr val="0B2447"/>
                </a:solidFill>
                <a:latin typeface="游ゴシック"/>
                <a:ea typeface="游ゴシック"/>
              </a:rPr>
              <a:t>本サービスは「量はAIエージェント、質は機械の検査、判断は人」に分けます。量と質のどちらかを諦める必要がなくなります。</a:t>
            </a:r>
          </a:p>
        </p:txBody>
      </p:sp>
      <p:sp>
        <p:nvSpPr>
          <p:cNvPr id="43" name="Rectangle 42"/>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04</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ご提供するものの全体像</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サイトの構築から記事の制作・公開・効果測定・改善まで、一式でお引き受けします。</a:t>
            </a:r>
          </a:p>
        </p:txBody>
      </p:sp>
      <p:sp>
        <p:nvSpPr>
          <p:cNvPr id="6" name="Rectangle 5"/>
          <p:cNvSpPr/>
          <p:nvPr/>
        </p:nvSpPr>
        <p:spPr>
          <a:xfrm>
            <a:off x="658368" y="1517904"/>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1591056"/>
            <a:ext cx="1879695"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項目</a:t>
            </a:r>
          </a:p>
        </p:txBody>
      </p:sp>
      <p:sp>
        <p:nvSpPr>
          <p:cNvPr id="8" name="TextBox 7"/>
          <p:cNvSpPr txBox="1"/>
          <p:nvPr/>
        </p:nvSpPr>
        <p:spPr>
          <a:xfrm>
            <a:off x="2848959" y="1591056"/>
            <a:ext cx="754654"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担当</a:t>
            </a:r>
          </a:p>
        </p:txBody>
      </p:sp>
      <p:sp>
        <p:nvSpPr>
          <p:cNvPr id="9" name="TextBox 8"/>
          <p:cNvSpPr txBox="1"/>
          <p:nvPr/>
        </p:nvSpPr>
        <p:spPr>
          <a:xfrm>
            <a:off x="3786493" y="1591056"/>
            <a:ext cx="6192353"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内容</a:t>
            </a:r>
          </a:p>
        </p:txBody>
      </p:sp>
      <p:sp>
        <p:nvSpPr>
          <p:cNvPr id="10" name="Rectangle 9"/>
          <p:cNvSpPr/>
          <p:nvPr/>
        </p:nvSpPr>
        <p:spPr>
          <a:xfrm>
            <a:off x="658368" y="234086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947672"/>
            <a:ext cx="1843119" cy="384048"/>
          </a:xfrm>
          <a:prstGeom prst="rect">
            <a:avLst/>
          </a:prstGeom>
          <a:noFill/>
        </p:spPr>
        <p:txBody>
          <a:bodyPr wrap="square" anchor="t" lIns="0" rIns="0" tIns="0" bIns="0">
            <a:spAutoFit/>
          </a:bodyPr>
          <a:lstStyle/>
          <a:p>
            <a:pPr algn="l">
              <a:lnSpc>
                <a:spcPct val="130000"/>
              </a:lnSpc>
              <a:spcAft>
                <a:spcPts val="0"/>
              </a:spcAft>
            </a:pPr>
            <a:r>
              <a:rPr sz="1200" b="1">
                <a:solidFill>
                  <a:srgbClr val="0B2447"/>
                </a:solidFill>
                <a:latin typeface="游ゴシック"/>
                <a:ea typeface="游ゴシック"/>
              </a:rPr>
              <a:t>サイトの構築</a:t>
            </a:r>
          </a:p>
        </p:txBody>
      </p:sp>
      <p:sp>
        <p:nvSpPr>
          <p:cNvPr id="12" name="TextBox 11"/>
          <p:cNvSpPr txBox="1"/>
          <p:nvPr/>
        </p:nvSpPr>
        <p:spPr>
          <a:xfrm>
            <a:off x="2848959" y="1947672"/>
            <a:ext cx="718078" cy="384048"/>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当社</a:t>
            </a:r>
          </a:p>
        </p:txBody>
      </p:sp>
      <p:sp>
        <p:nvSpPr>
          <p:cNvPr id="13" name="TextBox 12"/>
          <p:cNvSpPr txBox="1"/>
          <p:nvPr/>
        </p:nvSpPr>
        <p:spPr>
          <a:xfrm>
            <a:off x="3786493" y="1947672"/>
            <a:ext cx="6155777" cy="38404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オウンドメディア＋サービスLP。AI検索対応を実装済みの状態で納品</a:t>
            </a:r>
          </a:p>
        </p:txBody>
      </p:sp>
      <p:sp>
        <p:nvSpPr>
          <p:cNvPr id="14" name="Rectangle 13"/>
          <p:cNvSpPr/>
          <p:nvPr/>
        </p:nvSpPr>
        <p:spPr>
          <a:xfrm>
            <a:off x="658368" y="2340864"/>
            <a:ext cx="9375343"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28163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86384" y="2423160"/>
            <a:ext cx="1843119" cy="384048"/>
          </a:xfrm>
          <a:prstGeom prst="rect">
            <a:avLst/>
          </a:prstGeom>
          <a:noFill/>
        </p:spPr>
        <p:txBody>
          <a:bodyPr wrap="square" anchor="t" lIns="0" rIns="0" tIns="0" bIns="0">
            <a:spAutoFit/>
          </a:bodyPr>
          <a:lstStyle/>
          <a:p>
            <a:pPr algn="l">
              <a:lnSpc>
                <a:spcPct val="130000"/>
              </a:lnSpc>
              <a:spcAft>
                <a:spcPts val="0"/>
              </a:spcAft>
            </a:pPr>
            <a:r>
              <a:rPr sz="1200" b="1">
                <a:solidFill>
                  <a:srgbClr val="0B2447"/>
                </a:solidFill>
                <a:latin typeface="游ゴシック"/>
                <a:ea typeface="游ゴシック"/>
              </a:rPr>
              <a:t>記事の企画・執筆・図解</a:t>
            </a:r>
          </a:p>
        </p:txBody>
      </p:sp>
      <p:sp>
        <p:nvSpPr>
          <p:cNvPr id="17" name="TextBox 16"/>
          <p:cNvSpPr txBox="1"/>
          <p:nvPr/>
        </p:nvSpPr>
        <p:spPr>
          <a:xfrm>
            <a:off x="2848959" y="2423160"/>
            <a:ext cx="718078" cy="384048"/>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当社</a:t>
            </a:r>
          </a:p>
        </p:txBody>
      </p:sp>
      <p:sp>
        <p:nvSpPr>
          <p:cNvPr id="18" name="TextBox 17"/>
          <p:cNvSpPr txBox="1"/>
          <p:nvPr/>
        </p:nvSpPr>
        <p:spPr>
          <a:xfrm>
            <a:off x="3786493" y="2423160"/>
            <a:ext cx="6155777" cy="38404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月60本。1本5,000字以上＋画像4〜6枚。御社の作業はゼロ</a:t>
            </a:r>
          </a:p>
        </p:txBody>
      </p:sp>
      <p:sp>
        <p:nvSpPr>
          <p:cNvPr id="19" name="Rectangle 18"/>
          <p:cNvSpPr/>
          <p:nvPr/>
        </p:nvSpPr>
        <p:spPr>
          <a:xfrm>
            <a:off x="658368" y="3291840"/>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86384" y="2898648"/>
            <a:ext cx="1843119" cy="384048"/>
          </a:xfrm>
          <a:prstGeom prst="rect">
            <a:avLst/>
          </a:prstGeom>
          <a:noFill/>
        </p:spPr>
        <p:txBody>
          <a:bodyPr wrap="square" anchor="t" lIns="0" rIns="0" tIns="0" bIns="0">
            <a:spAutoFit/>
          </a:bodyPr>
          <a:lstStyle/>
          <a:p>
            <a:pPr algn="l">
              <a:lnSpc>
                <a:spcPct val="130000"/>
              </a:lnSpc>
              <a:spcAft>
                <a:spcPts val="0"/>
              </a:spcAft>
            </a:pPr>
            <a:r>
              <a:rPr sz="1200" b="1">
                <a:solidFill>
                  <a:srgbClr val="0B2447"/>
                </a:solidFill>
                <a:latin typeface="游ゴシック"/>
                <a:ea typeface="游ゴシック"/>
              </a:rPr>
              <a:t>公開・インデックス登録</a:t>
            </a:r>
          </a:p>
        </p:txBody>
      </p:sp>
      <p:sp>
        <p:nvSpPr>
          <p:cNvPr id="21" name="TextBox 20"/>
          <p:cNvSpPr txBox="1"/>
          <p:nvPr/>
        </p:nvSpPr>
        <p:spPr>
          <a:xfrm>
            <a:off x="2848959" y="2898648"/>
            <a:ext cx="718078" cy="384048"/>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当社</a:t>
            </a:r>
          </a:p>
        </p:txBody>
      </p:sp>
      <p:sp>
        <p:nvSpPr>
          <p:cNvPr id="22" name="TextBox 21"/>
          <p:cNvSpPr txBox="1"/>
          <p:nvPr/>
        </p:nvSpPr>
        <p:spPr>
          <a:xfrm>
            <a:off x="3786493" y="2898648"/>
            <a:ext cx="6155777" cy="38404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自動で公開し、GoogleとBingへ即時通知</a:t>
            </a:r>
          </a:p>
        </p:txBody>
      </p:sp>
      <p:sp>
        <p:nvSpPr>
          <p:cNvPr id="23" name="Rectangle 22"/>
          <p:cNvSpPr/>
          <p:nvPr/>
        </p:nvSpPr>
        <p:spPr>
          <a:xfrm>
            <a:off x="658368" y="3291840"/>
            <a:ext cx="9375343"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376732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86384" y="3374136"/>
            <a:ext cx="1843119" cy="384048"/>
          </a:xfrm>
          <a:prstGeom prst="rect">
            <a:avLst/>
          </a:prstGeom>
          <a:noFill/>
        </p:spPr>
        <p:txBody>
          <a:bodyPr wrap="square" anchor="t" lIns="0" rIns="0" tIns="0" bIns="0">
            <a:spAutoFit/>
          </a:bodyPr>
          <a:lstStyle/>
          <a:p>
            <a:pPr algn="l">
              <a:lnSpc>
                <a:spcPct val="130000"/>
              </a:lnSpc>
              <a:spcAft>
                <a:spcPts val="0"/>
              </a:spcAft>
            </a:pPr>
            <a:r>
              <a:rPr sz="1200" b="1">
                <a:solidFill>
                  <a:srgbClr val="0B2447"/>
                </a:solidFill>
                <a:latin typeface="游ゴシック"/>
                <a:ea typeface="游ゴシック"/>
              </a:rPr>
              <a:t>効果測定・改善</a:t>
            </a:r>
          </a:p>
        </p:txBody>
      </p:sp>
      <p:sp>
        <p:nvSpPr>
          <p:cNvPr id="26" name="TextBox 25"/>
          <p:cNvSpPr txBox="1"/>
          <p:nvPr/>
        </p:nvSpPr>
        <p:spPr>
          <a:xfrm>
            <a:off x="2848959" y="3374136"/>
            <a:ext cx="718078" cy="384048"/>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当社</a:t>
            </a:r>
          </a:p>
        </p:txBody>
      </p:sp>
      <p:sp>
        <p:nvSpPr>
          <p:cNvPr id="27" name="TextBox 26"/>
          <p:cNvSpPr txBox="1"/>
          <p:nvPr/>
        </p:nvSpPr>
        <p:spPr>
          <a:xfrm>
            <a:off x="3786493" y="3374136"/>
            <a:ext cx="6155777" cy="38404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毎日の集計、毎週のリライト、毎月のレポート</a:t>
            </a:r>
          </a:p>
        </p:txBody>
      </p:sp>
      <p:sp>
        <p:nvSpPr>
          <p:cNvPr id="28" name="Rectangle 27"/>
          <p:cNvSpPr/>
          <p:nvPr/>
        </p:nvSpPr>
        <p:spPr>
          <a:xfrm>
            <a:off x="658368" y="4242816"/>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86384" y="3849624"/>
            <a:ext cx="1843119" cy="384048"/>
          </a:xfrm>
          <a:prstGeom prst="rect">
            <a:avLst/>
          </a:prstGeom>
          <a:noFill/>
        </p:spPr>
        <p:txBody>
          <a:bodyPr wrap="square" anchor="t" lIns="0" rIns="0" tIns="0" bIns="0">
            <a:spAutoFit/>
          </a:bodyPr>
          <a:lstStyle/>
          <a:p>
            <a:pPr algn="l">
              <a:lnSpc>
                <a:spcPct val="130000"/>
              </a:lnSpc>
              <a:spcAft>
                <a:spcPts val="0"/>
              </a:spcAft>
            </a:pPr>
            <a:r>
              <a:rPr sz="1200" b="1">
                <a:solidFill>
                  <a:srgbClr val="0B2447"/>
                </a:solidFill>
                <a:latin typeface="游ゴシック"/>
                <a:ea typeface="游ゴシック"/>
              </a:rPr>
              <a:t>方向性の決定</a:t>
            </a:r>
          </a:p>
        </p:txBody>
      </p:sp>
      <p:sp>
        <p:nvSpPr>
          <p:cNvPr id="30" name="TextBox 29"/>
          <p:cNvSpPr txBox="1"/>
          <p:nvPr/>
        </p:nvSpPr>
        <p:spPr>
          <a:xfrm>
            <a:off x="2848959" y="3849624"/>
            <a:ext cx="718078" cy="384048"/>
          </a:xfrm>
          <a:prstGeom prst="rect">
            <a:avLst/>
          </a:prstGeom>
          <a:noFill/>
        </p:spPr>
        <p:txBody>
          <a:bodyPr wrap="square" anchor="t" lIns="0" rIns="0" tIns="0" bIns="0">
            <a:spAutoFit/>
          </a:bodyPr>
          <a:lstStyle/>
          <a:p>
            <a:pPr algn="l">
              <a:lnSpc>
                <a:spcPct val="130000"/>
              </a:lnSpc>
              <a:spcAft>
                <a:spcPts val="0"/>
              </a:spcAft>
            </a:pPr>
            <a:r>
              <a:rPr sz="1200" b="1">
                <a:solidFill>
                  <a:srgbClr val="0D9488"/>
                </a:solidFill>
                <a:latin typeface="游ゴシック"/>
                <a:ea typeface="游ゴシック"/>
              </a:rPr>
              <a:t>御社</a:t>
            </a:r>
          </a:p>
        </p:txBody>
      </p:sp>
      <p:sp>
        <p:nvSpPr>
          <p:cNvPr id="31" name="TextBox 30"/>
          <p:cNvSpPr txBox="1"/>
          <p:nvPr/>
        </p:nvSpPr>
        <p:spPr>
          <a:xfrm>
            <a:off x="3786493" y="3849624"/>
            <a:ext cx="6155777" cy="38404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どの商材を主力にするか。初回ヒアリングで設計します</a:t>
            </a:r>
          </a:p>
        </p:txBody>
      </p:sp>
      <p:sp>
        <p:nvSpPr>
          <p:cNvPr id="32" name="Rectangle 31"/>
          <p:cNvSpPr/>
          <p:nvPr/>
        </p:nvSpPr>
        <p:spPr>
          <a:xfrm>
            <a:off x="658368" y="4242816"/>
            <a:ext cx="9375343"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471830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6384" y="4325112"/>
            <a:ext cx="1843119" cy="384048"/>
          </a:xfrm>
          <a:prstGeom prst="rect">
            <a:avLst/>
          </a:prstGeom>
          <a:noFill/>
        </p:spPr>
        <p:txBody>
          <a:bodyPr wrap="square" anchor="t" lIns="0" rIns="0" tIns="0" bIns="0">
            <a:spAutoFit/>
          </a:bodyPr>
          <a:lstStyle/>
          <a:p>
            <a:pPr algn="l">
              <a:lnSpc>
                <a:spcPct val="130000"/>
              </a:lnSpc>
              <a:spcAft>
                <a:spcPts val="0"/>
              </a:spcAft>
            </a:pPr>
            <a:r>
              <a:rPr sz="1200" b="1">
                <a:solidFill>
                  <a:srgbClr val="0B2447"/>
                </a:solidFill>
                <a:latin typeface="游ゴシック"/>
                <a:ea typeface="游ゴシック"/>
              </a:rPr>
              <a:t>写真素材のご提供</a:t>
            </a:r>
          </a:p>
        </p:txBody>
      </p:sp>
      <p:sp>
        <p:nvSpPr>
          <p:cNvPr id="35" name="TextBox 34"/>
          <p:cNvSpPr txBox="1"/>
          <p:nvPr/>
        </p:nvSpPr>
        <p:spPr>
          <a:xfrm>
            <a:off x="2848959" y="4325112"/>
            <a:ext cx="718078" cy="384048"/>
          </a:xfrm>
          <a:prstGeom prst="rect">
            <a:avLst/>
          </a:prstGeom>
          <a:noFill/>
        </p:spPr>
        <p:txBody>
          <a:bodyPr wrap="square" anchor="t" lIns="0" rIns="0" tIns="0" bIns="0">
            <a:spAutoFit/>
          </a:bodyPr>
          <a:lstStyle/>
          <a:p>
            <a:pPr algn="l">
              <a:lnSpc>
                <a:spcPct val="130000"/>
              </a:lnSpc>
              <a:spcAft>
                <a:spcPts val="0"/>
              </a:spcAft>
            </a:pPr>
            <a:r>
              <a:rPr sz="1200" b="1">
                <a:solidFill>
                  <a:srgbClr val="0D9488"/>
                </a:solidFill>
                <a:latin typeface="游ゴシック"/>
                <a:ea typeface="游ゴシック"/>
              </a:rPr>
              <a:t>御社</a:t>
            </a:r>
          </a:p>
        </p:txBody>
      </p:sp>
      <p:sp>
        <p:nvSpPr>
          <p:cNvPr id="36" name="TextBox 35"/>
          <p:cNvSpPr txBox="1"/>
          <p:nvPr/>
        </p:nvSpPr>
        <p:spPr>
          <a:xfrm>
            <a:off x="3786493" y="4325112"/>
            <a:ext cx="6155777" cy="38404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店舗・商品・スタッフの写真（記事内の図解は当社が作成）</a:t>
            </a:r>
          </a:p>
        </p:txBody>
      </p:sp>
      <p:sp>
        <p:nvSpPr>
          <p:cNvPr id="37" name="Rectangle 3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05</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サイト構築で作るもの</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記事を置くだけの箱ではなく、問い合わせにつながる導線まで作り込んだ状態で納品します。</a:t>
            </a:r>
          </a:p>
        </p:txBody>
      </p:sp>
      <p:sp>
        <p:nvSpPr>
          <p:cNvPr id="6" name="Rectangle 5"/>
          <p:cNvSpPr/>
          <p:nvPr/>
        </p:nvSpPr>
        <p:spPr>
          <a:xfrm>
            <a:off x="658368" y="151790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164592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ページ構成</a:t>
            </a:r>
          </a:p>
        </p:txBody>
      </p:sp>
      <p:sp>
        <p:nvSpPr>
          <p:cNvPr id="8" name="TextBox 7"/>
          <p:cNvSpPr txBox="1"/>
          <p:nvPr/>
        </p:nvSpPr>
        <p:spPr>
          <a:xfrm>
            <a:off x="3145536" y="157276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トップ / カテゴリ一覧 / 記事詳細 / サービスLP / 会社情報 / お問い合わせ / プライバシーポリシー / 特定商取引法表記 / 用語集 / はじめての方へ / 編集ポリシー</a:t>
            </a:r>
          </a:p>
        </p:txBody>
      </p:sp>
      <p:sp>
        <p:nvSpPr>
          <p:cNvPr id="9" name="Rectangle 8"/>
          <p:cNvSpPr/>
          <p:nvPr/>
        </p:nvSpPr>
        <p:spPr>
          <a:xfrm>
            <a:off x="658368" y="206654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19456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記事ページの機能</a:t>
            </a:r>
          </a:p>
        </p:txBody>
      </p:sp>
      <p:sp>
        <p:nvSpPr>
          <p:cNvPr id="11" name="TextBox 10"/>
          <p:cNvSpPr txBox="1"/>
          <p:nvPr/>
        </p:nvSpPr>
        <p:spPr>
          <a:xfrm>
            <a:off x="3145536" y="212140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目次の自動生成・パンくず・著者と監修者の表示・関連記事・前後の記事ナビ・SNSシェア・URLコピー・音声読み上げ・メール購読フォーム</a:t>
            </a:r>
          </a:p>
        </p:txBody>
      </p:sp>
      <p:sp>
        <p:nvSpPr>
          <p:cNvPr id="12" name="Rectangle 11"/>
          <p:cNvSpPr/>
          <p:nvPr/>
        </p:nvSpPr>
        <p:spPr>
          <a:xfrm>
            <a:off x="658368" y="261518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74320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問い合わせ導線</a:t>
            </a:r>
          </a:p>
        </p:txBody>
      </p:sp>
      <p:sp>
        <p:nvSpPr>
          <p:cNvPr id="14" name="TextBox 13"/>
          <p:cNvSpPr txBox="1"/>
          <p:nvPr/>
        </p:nvSpPr>
        <p:spPr>
          <a:xfrm>
            <a:off x="3145536" y="267004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記事内CTA 2箇所以上・追従サイドバー・記事下CTA・LPへの誘導・無料診断への導線</a:t>
            </a:r>
          </a:p>
        </p:txBody>
      </p:sp>
      <p:sp>
        <p:nvSpPr>
          <p:cNvPr id="15" name="Rectangle 14"/>
          <p:cNvSpPr/>
          <p:nvPr/>
        </p:nvSpPr>
        <p:spPr>
          <a:xfrm>
            <a:off x="658368" y="316382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329184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フォーム</a:t>
            </a:r>
          </a:p>
        </p:txBody>
      </p:sp>
      <p:sp>
        <p:nvSpPr>
          <p:cNvPr id="17" name="TextBox 16"/>
          <p:cNvSpPr txBox="1"/>
          <p:nvPr/>
        </p:nvSpPr>
        <p:spPr>
          <a:xfrm>
            <a:off x="3145536" y="321868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送信内容をスプレッドシート台帳へ自動記録＋メール通知。自動返信も設定可能。迷惑投稿対策（ハニーポット・合言葉検証）を実装</a:t>
            </a:r>
          </a:p>
        </p:txBody>
      </p:sp>
      <p:sp>
        <p:nvSpPr>
          <p:cNvPr id="18" name="Rectangle 17"/>
          <p:cNvSpPr/>
          <p:nvPr/>
        </p:nvSpPr>
        <p:spPr>
          <a:xfrm>
            <a:off x="658368" y="371246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2" y="384048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表示速度</a:t>
            </a:r>
          </a:p>
        </p:txBody>
      </p:sp>
      <p:sp>
        <p:nvSpPr>
          <p:cNvPr id="20" name="TextBox 19"/>
          <p:cNvSpPr txBox="1"/>
          <p:nvPr/>
        </p:nvSpPr>
        <p:spPr>
          <a:xfrm>
            <a:off x="3145536" y="376732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Cloudflareの世界規模CDNから配信。静的生成のため表示が速く、アクセスが増えてもサーバー費用が上がらない構成</a:t>
            </a:r>
          </a:p>
        </p:txBody>
      </p:sp>
      <p:sp>
        <p:nvSpPr>
          <p:cNvPr id="21" name="Rectangle 20"/>
          <p:cNvSpPr/>
          <p:nvPr/>
        </p:nvSpPr>
        <p:spPr>
          <a:xfrm>
            <a:off x="658368" y="426110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04672" y="438912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スマートフォン対応</a:t>
            </a:r>
          </a:p>
        </p:txBody>
      </p:sp>
      <p:sp>
        <p:nvSpPr>
          <p:cNvPr id="23" name="TextBox 22"/>
          <p:cNvSpPr txBox="1"/>
          <p:nvPr/>
        </p:nvSpPr>
        <p:spPr>
          <a:xfrm>
            <a:off x="3145536" y="431596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全ページがスマホ・タブレット・PCに最適化。読み込みの軽さと指で操作しやすい導線を優先した設計</a:t>
            </a:r>
          </a:p>
        </p:txBody>
      </p:sp>
      <p:sp>
        <p:nvSpPr>
          <p:cNvPr id="24" name="Rectangle 23"/>
          <p:cNvSpPr/>
          <p:nvPr/>
        </p:nvSpPr>
        <p:spPr>
          <a:xfrm>
            <a:off x="658368" y="4809744"/>
            <a:ext cx="2286000" cy="4754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 y="4937760"/>
            <a:ext cx="2011680" cy="274320"/>
          </a:xfrm>
          <a:prstGeom prst="rect">
            <a:avLst/>
          </a:prstGeom>
          <a:noFill/>
        </p:spPr>
        <p:txBody>
          <a:bodyPr wrap="square" anchor="t" lIns="0" rIns="0" tIns="0" bIns="0">
            <a:spAutoFit/>
          </a:bodyPr>
          <a:lstStyle/>
          <a:p>
            <a:pPr algn="l">
              <a:spcAft>
                <a:spcPts val="0"/>
              </a:spcAft>
            </a:pPr>
            <a:r>
              <a:rPr sz="1200" b="1">
                <a:solidFill>
                  <a:srgbClr val="0B2447"/>
                </a:solidFill>
                <a:latin typeface="游ゴシック"/>
                <a:ea typeface="游ゴシック"/>
              </a:rPr>
              <a:t>アクセシビリティ</a:t>
            </a:r>
          </a:p>
        </p:txBody>
      </p:sp>
      <p:sp>
        <p:nvSpPr>
          <p:cNvPr id="26" name="TextBox 25"/>
          <p:cNvSpPr txBox="1"/>
          <p:nvPr/>
        </p:nvSpPr>
        <p:spPr>
          <a:xfrm>
            <a:off x="3145536" y="4864608"/>
            <a:ext cx="6888175" cy="43891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キーボード操作・スクリーンリーダー対応。動きを減らす設定にも追従し、誰にとっても読める状態を担保</a:t>
            </a:r>
          </a:p>
        </p:txBody>
      </p:sp>
      <p:sp>
        <p:nvSpPr>
          <p:cNvPr id="27" name="Rectangle 2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06</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AI検索に引用されるための12の実装（1/2）</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記事の書き方だけでなく、サイト側の実装でAIに読ませる状態を作ります。</a:t>
            </a:r>
          </a:p>
        </p:txBody>
      </p:sp>
      <p:sp>
        <p:nvSpPr>
          <p:cNvPr id="6" name="Rectangle 5"/>
          <p:cNvSpPr/>
          <p:nvPr/>
        </p:nvSpPr>
        <p:spPr>
          <a:xfrm>
            <a:off x="658368" y="1517904"/>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563624"/>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1</a:t>
            </a:r>
          </a:p>
        </p:txBody>
      </p:sp>
      <p:sp>
        <p:nvSpPr>
          <p:cNvPr id="8" name="TextBox 7"/>
          <p:cNvSpPr txBox="1"/>
          <p:nvPr/>
        </p:nvSpPr>
        <p:spPr>
          <a:xfrm>
            <a:off x="1115568" y="149961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構造化データ4種</a:t>
            </a:r>
          </a:p>
        </p:txBody>
      </p:sp>
      <p:sp>
        <p:nvSpPr>
          <p:cNvPr id="9" name="TextBox 8"/>
          <p:cNvSpPr txBox="1"/>
          <p:nvPr/>
        </p:nvSpPr>
        <p:spPr>
          <a:xfrm>
            <a:off x="1115568" y="1773936"/>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記事情報・FAQ・パンくず・手順（HowTo）をGoogleが読める形式で埋め込み。検索結果でのリッチ表示とAIの理解精度を高める</a:t>
            </a:r>
          </a:p>
        </p:txBody>
      </p:sp>
      <p:sp>
        <p:nvSpPr>
          <p:cNvPr id="10" name="Rectangle 9"/>
          <p:cNvSpPr/>
          <p:nvPr/>
        </p:nvSpPr>
        <p:spPr>
          <a:xfrm>
            <a:off x="658368" y="2304288"/>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2350008"/>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2</a:t>
            </a:r>
          </a:p>
        </p:txBody>
      </p:sp>
      <p:sp>
        <p:nvSpPr>
          <p:cNvPr id="12" name="TextBox 11"/>
          <p:cNvSpPr txBox="1"/>
          <p:nvPr/>
        </p:nvSpPr>
        <p:spPr>
          <a:xfrm>
            <a:off x="1115568" y="2286000"/>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llms.txt の設置</a:t>
            </a:r>
          </a:p>
        </p:txBody>
      </p:sp>
      <p:sp>
        <p:nvSpPr>
          <p:cNvPr id="13" name="TextBox 12"/>
          <p:cNvSpPr txBox="1"/>
          <p:nvPr/>
        </p:nvSpPr>
        <p:spPr>
          <a:xfrm>
            <a:off x="1115568" y="2560320"/>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AIクローラー向けにサイトの案内図を設置。何のサイトで誰が書いているかを機械が読める形で明示する（AI検索時代の新しい標準）</a:t>
            </a:r>
          </a:p>
        </p:txBody>
      </p:sp>
      <p:sp>
        <p:nvSpPr>
          <p:cNvPr id="14" name="Rectangle 13"/>
          <p:cNvSpPr/>
          <p:nvPr/>
        </p:nvSpPr>
        <p:spPr>
          <a:xfrm>
            <a:off x="658368" y="3090672"/>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136392"/>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3</a:t>
            </a:r>
          </a:p>
        </p:txBody>
      </p:sp>
      <p:sp>
        <p:nvSpPr>
          <p:cNvPr id="16" name="TextBox 15"/>
          <p:cNvSpPr txBox="1"/>
          <p:nvPr/>
        </p:nvSpPr>
        <p:spPr>
          <a:xfrm>
            <a:off x="1115568" y="3072384"/>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AIクローラーの許可</a:t>
            </a:r>
          </a:p>
        </p:txBody>
      </p:sp>
      <p:sp>
        <p:nvSpPr>
          <p:cNvPr id="17" name="TextBox 16"/>
          <p:cNvSpPr txBox="1"/>
          <p:nvPr/>
        </p:nvSpPr>
        <p:spPr>
          <a:xfrm>
            <a:off x="1115568" y="3346704"/>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GPTBot・OAI-SearchBot・ClaudeBot・PerplexityBot・Google-Extended・Bingbot の6種を明示的に許可。ここをブロックしていると、順位が高くてもAIに引用されない</a:t>
            </a:r>
          </a:p>
        </p:txBody>
      </p:sp>
      <p:sp>
        <p:nvSpPr>
          <p:cNvPr id="18" name="Rectangle 17"/>
          <p:cNvSpPr/>
          <p:nvPr/>
        </p:nvSpPr>
        <p:spPr>
          <a:xfrm>
            <a:off x="658368" y="3877056"/>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3922776"/>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4</a:t>
            </a:r>
          </a:p>
        </p:txBody>
      </p:sp>
      <p:sp>
        <p:nvSpPr>
          <p:cNvPr id="20" name="TextBox 19"/>
          <p:cNvSpPr txBox="1"/>
          <p:nvPr/>
        </p:nvSpPr>
        <p:spPr>
          <a:xfrm>
            <a:off x="1115568" y="3858768"/>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冒頭200字の断言型回答</a:t>
            </a:r>
          </a:p>
        </p:txBody>
      </p:sp>
      <p:sp>
        <p:nvSpPr>
          <p:cNvPr id="21" name="TextBox 20"/>
          <p:cNvSpPr txBox="1"/>
          <p:nvPr/>
        </p:nvSpPr>
        <p:spPr>
          <a:xfrm>
            <a:off x="1115568" y="4133088"/>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「◯◯は◯◯です」で始める。AIが最も抜き出しやすい形で結論を置く</a:t>
            </a:r>
          </a:p>
        </p:txBody>
      </p:sp>
      <p:sp>
        <p:nvSpPr>
          <p:cNvPr id="22" name="Rectangle 21"/>
          <p:cNvSpPr/>
          <p:nvPr/>
        </p:nvSpPr>
        <p:spPr>
          <a:xfrm>
            <a:off x="658368" y="4663440"/>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4709160"/>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5</a:t>
            </a:r>
          </a:p>
        </p:txBody>
      </p:sp>
      <p:sp>
        <p:nvSpPr>
          <p:cNvPr id="24" name="TextBox 23"/>
          <p:cNvSpPr txBox="1"/>
          <p:nvPr/>
        </p:nvSpPr>
        <p:spPr>
          <a:xfrm>
            <a:off x="1115568" y="4645152"/>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見出しごとの1文結論</a:t>
            </a:r>
          </a:p>
        </p:txBody>
      </p:sp>
      <p:sp>
        <p:nvSpPr>
          <p:cNvPr id="25" name="TextBox 24"/>
          <p:cNvSpPr txBox="1"/>
          <p:nvPr/>
        </p:nvSpPr>
        <p:spPr>
          <a:xfrm>
            <a:off x="1115568" y="4919472"/>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各見出しの直下に40〜60字の結論。その1文だけ切り出しても意味が通るためAIの回答にそのまま採用されやすい</a:t>
            </a:r>
          </a:p>
        </p:txBody>
      </p:sp>
      <p:sp>
        <p:nvSpPr>
          <p:cNvPr id="26" name="Rectangle 25"/>
          <p:cNvSpPr/>
          <p:nvPr/>
        </p:nvSpPr>
        <p:spPr>
          <a:xfrm>
            <a:off x="658368" y="5449824"/>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5495544"/>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6</a:t>
            </a:r>
          </a:p>
        </p:txBody>
      </p:sp>
      <p:sp>
        <p:nvSpPr>
          <p:cNvPr id="28" name="TextBox 27"/>
          <p:cNvSpPr txBox="1"/>
          <p:nvPr/>
        </p:nvSpPr>
        <p:spPr>
          <a:xfrm>
            <a:off x="1115568" y="543153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FAQ5問以上＋完全一致</a:t>
            </a:r>
          </a:p>
        </p:txBody>
      </p:sp>
      <p:sp>
        <p:nvSpPr>
          <p:cNvPr id="29" name="TextBox 28"/>
          <p:cNvSpPr txBox="1"/>
          <p:nvPr/>
        </p:nvSpPr>
        <p:spPr>
          <a:xfrm>
            <a:off x="1115568" y="5705856"/>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本文のFAQと構造化データを完全に一致させる。不一致はスパム判定のリスクがある</a:t>
            </a:r>
          </a:p>
        </p:txBody>
      </p:sp>
      <p:sp>
        <p:nvSpPr>
          <p:cNvPr id="30" name="Rectangle 2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07</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AI検索に引用されるための12の実装（2/2）</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記事1本ごとに、以下の形を全て満たした状態で公開します。</a:t>
            </a:r>
          </a:p>
        </p:txBody>
      </p:sp>
      <p:sp>
        <p:nvSpPr>
          <p:cNvPr id="6" name="Rectangle 5"/>
          <p:cNvSpPr/>
          <p:nvPr/>
        </p:nvSpPr>
        <p:spPr>
          <a:xfrm>
            <a:off x="658368" y="1517904"/>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563624"/>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7</a:t>
            </a:r>
          </a:p>
        </p:txBody>
      </p:sp>
      <p:sp>
        <p:nvSpPr>
          <p:cNvPr id="8" name="TextBox 7"/>
          <p:cNvSpPr txBox="1"/>
          <p:nvPr/>
        </p:nvSpPr>
        <p:spPr>
          <a:xfrm>
            <a:off x="1115568" y="149961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出典付きの数値ファクト</a:t>
            </a:r>
          </a:p>
        </p:txBody>
      </p:sp>
      <p:sp>
        <p:nvSpPr>
          <p:cNvPr id="9" name="TextBox 8"/>
          <p:cNvSpPr txBox="1"/>
          <p:nvPr/>
        </p:nvSpPr>
        <p:spPr>
          <a:xfrm>
            <a:off x="1115568" y="1773936"/>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1記事に3箇所以上。AIは数値付きの断定文を優先的に引用する</a:t>
            </a:r>
          </a:p>
        </p:txBody>
      </p:sp>
      <p:sp>
        <p:nvSpPr>
          <p:cNvPr id="10" name="Rectangle 9"/>
          <p:cNvSpPr/>
          <p:nvPr/>
        </p:nvSpPr>
        <p:spPr>
          <a:xfrm>
            <a:off x="658368" y="2304288"/>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2350008"/>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8</a:t>
            </a:r>
          </a:p>
        </p:txBody>
      </p:sp>
      <p:sp>
        <p:nvSpPr>
          <p:cNvPr id="12" name="TextBox 11"/>
          <p:cNvSpPr txBox="1"/>
          <p:nvPr/>
        </p:nvSpPr>
        <p:spPr>
          <a:xfrm>
            <a:off x="1115568" y="2286000"/>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情報の鮮度表記</a:t>
            </a:r>
          </a:p>
        </p:txBody>
      </p:sp>
      <p:sp>
        <p:nvSpPr>
          <p:cNvPr id="13" name="TextBox 12"/>
          <p:cNvSpPr txBox="1"/>
          <p:nvPr/>
        </p:nvSpPr>
        <p:spPr>
          <a:xfrm>
            <a:off x="1115568" y="2560320"/>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「◯年◯月時点」の明記と更新日の管理。AI検索は鮮度を強く評価する</a:t>
            </a:r>
          </a:p>
        </p:txBody>
      </p:sp>
      <p:sp>
        <p:nvSpPr>
          <p:cNvPr id="14" name="Rectangle 13"/>
          <p:cNvSpPr/>
          <p:nvPr/>
        </p:nvSpPr>
        <p:spPr>
          <a:xfrm>
            <a:off x="658368" y="3090672"/>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136392"/>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9</a:t>
            </a:r>
          </a:p>
        </p:txBody>
      </p:sp>
      <p:sp>
        <p:nvSpPr>
          <p:cNvPr id="16" name="TextBox 15"/>
          <p:cNvSpPr txBox="1"/>
          <p:nvPr/>
        </p:nvSpPr>
        <p:spPr>
          <a:xfrm>
            <a:off x="1115568" y="3072384"/>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比較テーブル</a:t>
            </a:r>
          </a:p>
        </p:txBody>
      </p:sp>
      <p:sp>
        <p:nvSpPr>
          <p:cNvPr id="17" name="TextBox 16"/>
          <p:cNvSpPr txBox="1"/>
          <p:nvPr/>
        </p:nvSpPr>
        <p:spPr>
          <a:xfrm>
            <a:off x="1115568" y="3346704"/>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表だけを切り出しても意味が完結する作り。AIが引用しやすい</a:t>
            </a:r>
          </a:p>
        </p:txBody>
      </p:sp>
      <p:sp>
        <p:nvSpPr>
          <p:cNvPr id="18" name="Rectangle 17"/>
          <p:cNvSpPr/>
          <p:nvPr/>
        </p:nvSpPr>
        <p:spPr>
          <a:xfrm>
            <a:off x="658368" y="3877056"/>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3922776"/>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10</a:t>
            </a:r>
          </a:p>
        </p:txBody>
      </p:sp>
      <p:sp>
        <p:nvSpPr>
          <p:cNvPr id="20" name="TextBox 19"/>
          <p:cNvSpPr txBox="1"/>
          <p:nvPr/>
        </p:nvSpPr>
        <p:spPr>
          <a:xfrm>
            <a:off x="1115568" y="3858768"/>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失敗例・注意点</a:t>
            </a:r>
          </a:p>
        </p:txBody>
      </p:sp>
      <p:sp>
        <p:nvSpPr>
          <p:cNvPr id="21" name="TextBox 20"/>
          <p:cNvSpPr txBox="1"/>
          <p:nvPr/>
        </p:nvSpPr>
        <p:spPr>
          <a:xfrm>
            <a:off x="1115568" y="4133088"/>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「これはNG」の形で最低1箇所。網羅性の評価につながる</a:t>
            </a:r>
          </a:p>
        </p:txBody>
      </p:sp>
      <p:sp>
        <p:nvSpPr>
          <p:cNvPr id="22" name="Rectangle 21"/>
          <p:cNvSpPr/>
          <p:nvPr/>
        </p:nvSpPr>
        <p:spPr>
          <a:xfrm>
            <a:off x="658368" y="4663440"/>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4709160"/>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11</a:t>
            </a:r>
          </a:p>
        </p:txBody>
      </p:sp>
      <p:sp>
        <p:nvSpPr>
          <p:cNvPr id="24" name="TextBox 23"/>
          <p:cNvSpPr txBox="1"/>
          <p:nvPr/>
        </p:nvSpPr>
        <p:spPr>
          <a:xfrm>
            <a:off x="1115568" y="4645152"/>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対象読者の明記</a:t>
            </a:r>
          </a:p>
        </p:txBody>
      </p:sp>
      <p:sp>
        <p:nvSpPr>
          <p:cNvPr id="25" name="TextBox 24"/>
          <p:cNvSpPr txBox="1"/>
          <p:nvPr/>
        </p:nvSpPr>
        <p:spPr>
          <a:xfrm>
            <a:off x="1115568" y="4919472"/>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「この記事は◯◯向けです」を冒頭に。誰に向けた情報かをAIに伝える</a:t>
            </a:r>
          </a:p>
        </p:txBody>
      </p:sp>
      <p:sp>
        <p:nvSpPr>
          <p:cNvPr id="26" name="Rectangle 25"/>
          <p:cNvSpPr/>
          <p:nvPr/>
        </p:nvSpPr>
        <p:spPr>
          <a:xfrm>
            <a:off x="658368" y="5449824"/>
            <a:ext cx="310896" cy="3108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5495544"/>
            <a:ext cx="310896" cy="237744"/>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12</a:t>
            </a:r>
          </a:p>
        </p:txBody>
      </p:sp>
      <p:sp>
        <p:nvSpPr>
          <p:cNvPr id="28" name="TextBox 27"/>
          <p:cNvSpPr txBox="1"/>
          <p:nvPr/>
        </p:nvSpPr>
        <p:spPr>
          <a:xfrm>
            <a:off x="1115568" y="543153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画像に頼らない</a:t>
            </a:r>
          </a:p>
        </p:txBody>
      </p:sp>
      <p:sp>
        <p:nvSpPr>
          <p:cNvPr id="29" name="TextBox 28"/>
          <p:cNvSpPr txBox="1"/>
          <p:nvPr/>
        </p:nvSpPr>
        <p:spPr>
          <a:xfrm>
            <a:off x="1115568" y="5705856"/>
            <a:ext cx="8918143"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図解の重要情報は必ず本文にも文章で書く。AIは画像を引用できないため</a:t>
            </a:r>
          </a:p>
        </p:txBody>
      </p:sp>
      <p:sp>
        <p:nvSpPr>
          <p:cNvPr id="30" name="Rectangle 2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08</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記事60本はこう作られます</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1本あたり7つの工程を通ります。各工程の完了を確認してから次へ進み、飛ばせない形にしてあります。</a:t>
            </a:r>
          </a:p>
        </p:txBody>
      </p:sp>
      <p:sp>
        <p:nvSpPr>
          <p:cNvPr id="6" name="Rectangle 5"/>
          <p:cNvSpPr/>
          <p:nvPr/>
        </p:nvSpPr>
        <p:spPr>
          <a:xfrm>
            <a:off x="658368" y="1554480"/>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636776"/>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01</a:t>
            </a:r>
          </a:p>
        </p:txBody>
      </p:sp>
      <p:sp>
        <p:nvSpPr>
          <p:cNvPr id="8" name="Rectangle 7"/>
          <p:cNvSpPr/>
          <p:nvPr/>
        </p:nvSpPr>
        <p:spPr>
          <a:xfrm>
            <a:off x="850392" y="1956816"/>
            <a:ext cx="15240" cy="237744"/>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243584" y="1517904"/>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キーワード選定</a:t>
            </a:r>
          </a:p>
        </p:txBody>
      </p:sp>
      <p:sp>
        <p:nvSpPr>
          <p:cNvPr id="10" name="TextBox 9"/>
          <p:cNvSpPr txBox="1"/>
          <p:nvPr/>
        </p:nvSpPr>
        <p:spPr>
          <a:xfrm>
            <a:off x="3767328" y="1527048"/>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台帳から次のテーマを取得し、既存記事との重複を機械検査。他サイトを運用中の場合は、サイトをまたいだ重複も検査して共倒れを防ぐ</a:t>
            </a:r>
          </a:p>
        </p:txBody>
      </p:sp>
      <p:sp>
        <p:nvSpPr>
          <p:cNvPr id="11" name="Rectangle 10"/>
          <p:cNvSpPr/>
          <p:nvPr/>
        </p:nvSpPr>
        <p:spPr>
          <a:xfrm>
            <a:off x="658368" y="2231136"/>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2313432"/>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02</a:t>
            </a:r>
          </a:p>
        </p:txBody>
      </p:sp>
      <p:sp>
        <p:nvSpPr>
          <p:cNvPr id="13" name="Rectangle 12"/>
          <p:cNvSpPr/>
          <p:nvPr/>
        </p:nvSpPr>
        <p:spPr>
          <a:xfrm>
            <a:off x="850392" y="2633472"/>
            <a:ext cx="15240" cy="237744"/>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243584" y="2194560"/>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一次情報の収集</a:t>
            </a:r>
          </a:p>
        </p:txBody>
      </p:sp>
      <p:sp>
        <p:nvSpPr>
          <p:cNvPr id="15" name="TextBox 14"/>
          <p:cNvSpPr txBox="1"/>
          <p:nvPr/>
        </p:nvSpPr>
        <p:spPr>
          <a:xfrm>
            <a:off x="3767328" y="2203704"/>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SNS・動画・公的統計から、その記事にしかない事実と数字を集める。AI検索が最も引用したがるのが一次情報</a:t>
            </a:r>
          </a:p>
        </p:txBody>
      </p:sp>
      <p:sp>
        <p:nvSpPr>
          <p:cNvPr id="16" name="Rectangle 15"/>
          <p:cNvSpPr/>
          <p:nvPr/>
        </p:nvSpPr>
        <p:spPr>
          <a:xfrm>
            <a:off x="658368" y="2907792"/>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2990088"/>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03</a:t>
            </a:r>
          </a:p>
        </p:txBody>
      </p:sp>
      <p:sp>
        <p:nvSpPr>
          <p:cNvPr id="18" name="Rectangle 17"/>
          <p:cNvSpPr/>
          <p:nvPr/>
        </p:nvSpPr>
        <p:spPr>
          <a:xfrm>
            <a:off x="850392" y="3310128"/>
            <a:ext cx="15240" cy="237744"/>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243584" y="2871216"/>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構成の設計と事前審査</a:t>
            </a:r>
          </a:p>
        </p:txBody>
      </p:sp>
      <p:sp>
        <p:nvSpPr>
          <p:cNvPr id="20" name="TextBox 19"/>
          <p:cNvSpPr txBox="1"/>
          <p:nvPr/>
        </p:nvSpPr>
        <p:spPr>
          <a:xfrm>
            <a:off x="3767328" y="2880360"/>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検索上位の構造を分析し、共通6〜7割＋独自3〜4割で構成を設計。執筆前に14項目を自己審査し、全項目を満たすまで書き始めない</a:t>
            </a:r>
          </a:p>
        </p:txBody>
      </p:sp>
      <p:sp>
        <p:nvSpPr>
          <p:cNvPr id="21" name="Rectangle 20"/>
          <p:cNvSpPr/>
          <p:nvPr/>
        </p:nvSpPr>
        <p:spPr>
          <a:xfrm>
            <a:off x="658368" y="3584448"/>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3666744"/>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04</a:t>
            </a:r>
          </a:p>
        </p:txBody>
      </p:sp>
      <p:sp>
        <p:nvSpPr>
          <p:cNvPr id="23" name="Rectangle 22"/>
          <p:cNvSpPr/>
          <p:nvPr/>
        </p:nvSpPr>
        <p:spPr>
          <a:xfrm>
            <a:off x="850392" y="3986784"/>
            <a:ext cx="15240" cy="237744"/>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243584" y="3547872"/>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執筆</a:t>
            </a:r>
          </a:p>
        </p:txBody>
      </p:sp>
      <p:sp>
        <p:nvSpPr>
          <p:cNvPr id="25" name="TextBox 24"/>
          <p:cNvSpPr txBox="1"/>
          <p:nvPr/>
        </p:nvSpPr>
        <p:spPr>
          <a:xfrm>
            <a:off x="3767328" y="3557016"/>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5,000字以上。AI感を排除する7項目（曖昧な結論・語尾の単調さ等）を全チェック。一人称の体験・観察を必ず2箇所以上入れる</a:t>
            </a:r>
          </a:p>
        </p:txBody>
      </p:sp>
      <p:sp>
        <p:nvSpPr>
          <p:cNvPr id="26" name="Rectangle 25"/>
          <p:cNvSpPr/>
          <p:nvPr/>
        </p:nvSpPr>
        <p:spPr>
          <a:xfrm>
            <a:off x="658368" y="4261104"/>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4343400"/>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05</a:t>
            </a:r>
          </a:p>
        </p:txBody>
      </p:sp>
      <p:sp>
        <p:nvSpPr>
          <p:cNvPr id="28" name="Rectangle 27"/>
          <p:cNvSpPr/>
          <p:nvPr/>
        </p:nvSpPr>
        <p:spPr>
          <a:xfrm>
            <a:off x="850392" y="4663440"/>
            <a:ext cx="15240" cy="237744"/>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243584" y="4224528"/>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品質採点</a:t>
            </a:r>
          </a:p>
        </p:txBody>
      </p:sp>
      <p:sp>
        <p:nvSpPr>
          <p:cNvPr id="30" name="TextBox 29"/>
          <p:cNvSpPr txBox="1"/>
          <p:nvPr/>
        </p:nvSpPr>
        <p:spPr>
          <a:xfrm>
            <a:off x="3767328" y="4233672"/>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機械採点18項目を全て通したうえで、執筆とは別の工程が3観点で採点。基準に届かなければ自動で修正して再採点する</a:t>
            </a:r>
          </a:p>
        </p:txBody>
      </p:sp>
      <p:sp>
        <p:nvSpPr>
          <p:cNvPr id="31" name="Rectangle 30"/>
          <p:cNvSpPr/>
          <p:nvPr/>
        </p:nvSpPr>
        <p:spPr>
          <a:xfrm>
            <a:off x="658368" y="4937760"/>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5020056"/>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06</a:t>
            </a:r>
          </a:p>
        </p:txBody>
      </p:sp>
      <p:sp>
        <p:nvSpPr>
          <p:cNvPr id="33" name="Rectangle 32"/>
          <p:cNvSpPr/>
          <p:nvPr/>
        </p:nvSpPr>
        <p:spPr>
          <a:xfrm>
            <a:off x="850392" y="5340096"/>
            <a:ext cx="15240" cy="237744"/>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243584" y="4901184"/>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画像生成と公開</a:t>
            </a:r>
          </a:p>
        </p:txBody>
      </p:sp>
      <p:sp>
        <p:nvSpPr>
          <p:cNvPr id="35" name="TextBox 34"/>
          <p:cNvSpPr txBox="1"/>
          <p:nvPr/>
        </p:nvSpPr>
        <p:spPr>
          <a:xfrm>
            <a:off x="3767328" y="4910328"/>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アイキャッチ1枚＋本文図解3〜5枚を生成。HTML化し、サイトマップ・AI向け案内図を更新して公開</a:t>
            </a:r>
          </a:p>
        </p:txBody>
      </p:sp>
      <p:sp>
        <p:nvSpPr>
          <p:cNvPr id="36" name="Rectangle 35"/>
          <p:cNvSpPr/>
          <p:nvPr/>
        </p:nvSpPr>
        <p:spPr>
          <a:xfrm>
            <a:off x="658368" y="5614416"/>
            <a:ext cx="402336" cy="402336"/>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8368" y="5696712"/>
            <a:ext cx="402336" cy="256032"/>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07</a:t>
            </a:r>
          </a:p>
        </p:txBody>
      </p:sp>
      <p:sp>
        <p:nvSpPr>
          <p:cNvPr id="38" name="TextBox 37"/>
          <p:cNvSpPr txBox="1"/>
          <p:nvPr/>
        </p:nvSpPr>
        <p:spPr>
          <a:xfrm>
            <a:off x="1243584" y="5577840"/>
            <a:ext cx="2468880"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インデックス登録と内部リンク</a:t>
            </a:r>
          </a:p>
        </p:txBody>
      </p:sp>
      <p:sp>
        <p:nvSpPr>
          <p:cNvPr id="39" name="TextBox 38"/>
          <p:cNvSpPr txBox="1"/>
          <p:nvPr/>
        </p:nvSpPr>
        <p:spPr>
          <a:xfrm>
            <a:off x="3767328" y="5586984"/>
            <a:ext cx="6266383" cy="585216"/>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GoogleとBingへ即時通知。既存記事から新記事への内部リンクを自動で追加し、サイト全体の評価を底上げする</a:t>
            </a:r>
          </a:p>
        </p:txBody>
      </p:sp>
      <p:sp>
        <p:nvSpPr>
          <p:cNvPr id="40" name="Rectangle 3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8368" y="7121347"/>
            <a:ext cx="7546543" cy="36576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工程04の文字数は記事の種類で変わります（手順3,000字〜／比較検討5,000字〜／網羅ガイド8,000字〜）。全記事を同じ長さに揃えると、それ自体が機械生成の痕跡になるためです。</a:t>
            </a:r>
          </a:p>
        </p:txBody>
      </p:sp>
      <p:sp>
        <p:nvSpPr>
          <p:cNvPr id="42" name="TextBox 41"/>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役割分担</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09</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人がやること / AIエージェントがやること（1/2）</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全27工程の内訳です。判断が要るものだけを人に残し、条件で決まるものは機械に任せます。</a:t>
            </a:r>
          </a:p>
        </p:txBody>
      </p:sp>
      <p:sp>
        <p:nvSpPr>
          <p:cNvPr id="7" name="Rectangle 6"/>
          <p:cNvSpPr/>
          <p:nvPr/>
        </p:nvSpPr>
        <p:spPr>
          <a:xfrm>
            <a:off x="658368" y="1737360"/>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810512"/>
            <a:ext cx="2114079"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工程</a:t>
            </a:r>
          </a:p>
        </p:txBody>
      </p:sp>
      <p:sp>
        <p:nvSpPr>
          <p:cNvPr id="9" name="TextBox 8"/>
          <p:cNvSpPr txBox="1"/>
          <p:nvPr/>
        </p:nvSpPr>
        <p:spPr>
          <a:xfrm>
            <a:off x="3083343" y="1810512"/>
            <a:ext cx="285887"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AI</a:t>
            </a:r>
          </a:p>
        </p:txBody>
      </p:sp>
      <p:sp>
        <p:nvSpPr>
          <p:cNvPr id="10" name="TextBox 9"/>
          <p:cNvSpPr txBox="1"/>
          <p:nvPr/>
        </p:nvSpPr>
        <p:spPr>
          <a:xfrm>
            <a:off x="3552110" y="1810512"/>
            <a:ext cx="285887"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人</a:t>
            </a:r>
          </a:p>
        </p:txBody>
      </p:sp>
      <p:sp>
        <p:nvSpPr>
          <p:cNvPr id="11" name="TextBox 10"/>
          <p:cNvSpPr txBox="1"/>
          <p:nvPr/>
        </p:nvSpPr>
        <p:spPr>
          <a:xfrm>
            <a:off x="4020877" y="1810512"/>
            <a:ext cx="5957969"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中身</a:t>
            </a:r>
          </a:p>
        </p:txBody>
      </p:sp>
      <p:sp>
        <p:nvSpPr>
          <p:cNvPr id="12" name="Rectangle 11"/>
          <p:cNvSpPr/>
          <p:nvPr/>
        </p:nvSpPr>
        <p:spPr>
          <a:xfrm>
            <a:off x="658368" y="24048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86384" y="216712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事業の方向性を決める</a:t>
            </a:r>
          </a:p>
        </p:txBody>
      </p:sp>
      <p:sp>
        <p:nvSpPr>
          <p:cNvPr id="14" name="TextBox 13"/>
          <p:cNvSpPr txBox="1"/>
          <p:nvPr/>
        </p:nvSpPr>
        <p:spPr>
          <a:xfrm>
            <a:off x="3083343" y="216712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15" name="TextBox 14"/>
          <p:cNvSpPr txBox="1"/>
          <p:nvPr/>
        </p:nvSpPr>
        <p:spPr>
          <a:xfrm>
            <a:off x="3552110" y="216712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16" name="TextBox 15"/>
          <p:cNvSpPr txBox="1"/>
          <p:nvPr/>
        </p:nvSpPr>
        <p:spPr>
          <a:xfrm>
            <a:off x="4020877" y="216712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どの商材を主力にするか。ここだけは代われません</a:t>
            </a:r>
          </a:p>
        </p:txBody>
      </p:sp>
      <p:sp>
        <p:nvSpPr>
          <p:cNvPr id="17" name="Rectangle 16"/>
          <p:cNvSpPr/>
          <p:nvPr/>
        </p:nvSpPr>
        <p:spPr>
          <a:xfrm>
            <a:off x="658368" y="240487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27249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248716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主力商材とカテゴリ配分</a:t>
            </a:r>
          </a:p>
        </p:txBody>
      </p:sp>
      <p:sp>
        <p:nvSpPr>
          <p:cNvPr id="20" name="TextBox 19"/>
          <p:cNvSpPr txBox="1"/>
          <p:nvPr/>
        </p:nvSpPr>
        <p:spPr>
          <a:xfrm>
            <a:off x="3083343" y="248716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21" name="TextBox 20"/>
          <p:cNvSpPr txBox="1"/>
          <p:nvPr/>
        </p:nvSpPr>
        <p:spPr>
          <a:xfrm>
            <a:off x="3552110" y="248716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22" name="TextBox 21"/>
          <p:cNvSpPr txBox="1"/>
          <p:nvPr/>
        </p:nvSpPr>
        <p:spPr>
          <a:xfrm>
            <a:off x="4020877" y="248716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初回のヒアリングで一緒に設計します</a:t>
            </a:r>
          </a:p>
        </p:txBody>
      </p:sp>
      <p:sp>
        <p:nvSpPr>
          <p:cNvPr id="23" name="Rectangle 22"/>
          <p:cNvSpPr/>
          <p:nvPr/>
        </p:nvSpPr>
        <p:spPr>
          <a:xfrm>
            <a:off x="658368" y="30449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280720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キーワードの候補出し</a:t>
            </a:r>
          </a:p>
        </p:txBody>
      </p:sp>
      <p:sp>
        <p:nvSpPr>
          <p:cNvPr id="25" name="TextBox 24"/>
          <p:cNvSpPr txBox="1"/>
          <p:nvPr/>
        </p:nvSpPr>
        <p:spPr>
          <a:xfrm>
            <a:off x="3083343" y="280720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26" name="TextBox 25"/>
          <p:cNvSpPr txBox="1"/>
          <p:nvPr/>
        </p:nvSpPr>
        <p:spPr>
          <a:xfrm>
            <a:off x="3552110" y="280720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27" name="TextBox 26"/>
          <p:cNvSpPr txBox="1"/>
          <p:nvPr/>
        </p:nvSpPr>
        <p:spPr>
          <a:xfrm>
            <a:off x="4020877" y="280720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競合の獲得語を抽出し、検索数と難易度を取る</a:t>
            </a:r>
          </a:p>
        </p:txBody>
      </p:sp>
      <p:sp>
        <p:nvSpPr>
          <p:cNvPr id="28" name="Rectangle 27"/>
          <p:cNvSpPr/>
          <p:nvPr/>
        </p:nvSpPr>
        <p:spPr>
          <a:xfrm>
            <a:off x="658368" y="304495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33649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86384" y="312724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食い合いの判定</a:t>
            </a:r>
          </a:p>
        </p:txBody>
      </p:sp>
      <p:sp>
        <p:nvSpPr>
          <p:cNvPr id="31" name="TextBox 30"/>
          <p:cNvSpPr txBox="1"/>
          <p:nvPr/>
        </p:nvSpPr>
        <p:spPr>
          <a:xfrm>
            <a:off x="3083343" y="312724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32" name="TextBox 31"/>
          <p:cNvSpPr txBox="1"/>
          <p:nvPr/>
        </p:nvSpPr>
        <p:spPr>
          <a:xfrm>
            <a:off x="3552110" y="312724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33" name="TextBox 32"/>
          <p:cNvSpPr txBox="1"/>
          <p:nvPr/>
        </p:nvSpPr>
        <p:spPr>
          <a:xfrm>
            <a:off x="4020877" y="312724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検索コンソールの実績に当てて機械的に判定</a:t>
            </a:r>
          </a:p>
        </p:txBody>
      </p:sp>
      <p:sp>
        <p:nvSpPr>
          <p:cNvPr id="34" name="Rectangle 33"/>
          <p:cNvSpPr/>
          <p:nvPr/>
        </p:nvSpPr>
        <p:spPr>
          <a:xfrm>
            <a:off x="658368" y="36850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86384" y="344728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語の性質の判定</a:t>
            </a:r>
          </a:p>
        </p:txBody>
      </p:sp>
      <p:sp>
        <p:nvSpPr>
          <p:cNvPr id="36" name="TextBox 35"/>
          <p:cNvSpPr txBox="1"/>
          <p:nvPr/>
        </p:nvSpPr>
        <p:spPr>
          <a:xfrm>
            <a:off x="3083343" y="344728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37" name="TextBox 36"/>
          <p:cNvSpPr txBox="1"/>
          <p:nvPr/>
        </p:nvSpPr>
        <p:spPr>
          <a:xfrm>
            <a:off x="3552110" y="344728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38" name="TextBox 37"/>
          <p:cNvSpPr txBox="1"/>
          <p:nvPr/>
        </p:nvSpPr>
        <p:spPr>
          <a:xfrm>
            <a:off x="4020877" y="344728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「開かないと済まない語」かを採点する</a:t>
            </a:r>
          </a:p>
        </p:txBody>
      </p:sp>
      <p:sp>
        <p:nvSpPr>
          <p:cNvPr id="39" name="Rectangle 38"/>
          <p:cNvSpPr/>
          <p:nvPr/>
        </p:nvSpPr>
        <p:spPr>
          <a:xfrm>
            <a:off x="658368" y="368503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58368" y="40050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86384" y="376732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一次情報の材料提供</a:t>
            </a:r>
          </a:p>
        </p:txBody>
      </p:sp>
      <p:sp>
        <p:nvSpPr>
          <p:cNvPr id="42" name="TextBox 41"/>
          <p:cNvSpPr txBox="1"/>
          <p:nvPr/>
        </p:nvSpPr>
        <p:spPr>
          <a:xfrm>
            <a:off x="3083343" y="376732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43" name="TextBox 42"/>
          <p:cNvSpPr txBox="1"/>
          <p:nvPr/>
        </p:nvSpPr>
        <p:spPr>
          <a:xfrm>
            <a:off x="3552110" y="376732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44" name="TextBox 43"/>
          <p:cNvSpPr txBox="1"/>
          <p:nvPr/>
        </p:nvSpPr>
        <p:spPr>
          <a:xfrm>
            <a:off x="4020877" y="376732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自社の実績数値。年1回の更新で足ります</a:t>
            </a:r>
          </a:p>
        </p:txBody>
      </p:sp>
      <p:sp>
        <p:nvSpPr>
          <p:cNvPr id="45" name="Rectangle 44"/>
          <p:cNvSpPr/>
          <p:nvPr/>
        </p:nvSpPr>
        <p:spPr>
          <a:xfrm>
            <a:off x="658368" y="43251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86384" y="408736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一次情報の収集</a:t>
            </a:r>
          </a:p>
        </p:txBody>
      </p:sp>
      <p:sp>
        <p:nvSpPr>
          <p:cNvPr id="47" name="TextBox 46"/>
          <p:cNvSpPr txBox="1"/>
          <p:nvPr/>
        </p:nvSpPr>
        <p:spPr>
          <a:xfrm>
            <a:off x="3083343" y="408736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48" name="TextBox 47"/>
          <p:cNvSpPr txBox="1"/>
          <p:nvPr/>
        </p:nvSpPr>
        <p:spPr>
          <a:xfrm>
            <a:off x="3552110" y="408736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49" name="TextBox 48"/>
          <p:cNvSpPr txBox="1"/>
          <p:nvPr/>
        </p:nvSpPr>
        <p:spPr>
          <a:xfrm>
            <a:off x="4020877" y="408736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動画字幕から数字・体験・つまずきを抽出</a:t>
            </a:r>
          </a:p>
        </p:txBody>
      </p:sp>
      <p:sp>
        <p:nvSpPr>
          <p:cNvPr id="50" name="Rectangle 49"/>
          <p:cNvSpPr/>
          <p:nvPr/>
        </p:nvSpPr>
        <p:spPr>
          <a:xfrm>
            <a:off x="658368" y="432511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58368" y="46451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86384" y="440740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競合の構造分析</a:t>
            </a:r>
          </a:p>
        </p:txBody>
      </p:sp>
      <p:sp>
        <p:nvSpPr>
          <p:cNvPr id="53" name="TextBox 52"/>
          <p:cNvSpPr txBox="1"/>
          <p:nvPr/>
        </p:nvSpPr>
        <p:spPr>
          <a:xfrm>
            <a:off x="3083343" y="440740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54" name="TextBox 53"/>
          <p:cNvSpPr txBox="1"/>
          <p:nvPr/>
        </p:nvSpPr>
        <p:spPr>
          <a:xfrm>
            <a:off x="3552110" y="440740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55" name="TextBox 54"/>
          <p:cNvSpPr txBox="1"/>
          <p:nvPr/>
        </p:nvSpPr>
        <p:spPr>
          <a:xfrm>
            <a:off x="4020877" y="440740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検索上位10記事の見出し構造を取得して分類</a:t>
            </a:r>
          </a:p>
        </p:txBody>
      </p:sp>
      <p:sp>
        <p:nvSpPr>
          <p:cNvPr id="56" name="Rectangle 55"/>
          <p:cNvSpPr/>
          <p:nvPr/>
        </p:nvSpPr>
        <p:spPr>
          <a:xfrm>
            <a:off x="658368" y="49651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86384" y="472744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構成の設計</a:t>
            </a:r>
          </a:p>
        </p:txBody>
      </p:sp>
      <p:sp>
        <p:nvSpPr>
          <p:cNvPr id="58" name="TextBox 57"/>
          <p:cNvSpPr txBox="1"/>
          <p:nvPr/>
        </p:nvSpPr>
        <p:spPr>
          <a:xfrm>
            <a:off x="3083343" y="472744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59" name="TextBox 58"/>
          <p:cNvSpPr txBox="1"/>
          <p:nvPr/>
        </p:nvSpPr>
        <p:spPr>
          <a:xfrm>
            <a:off x="3552110" y="472744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60" name="TextBox 59"/>
          <p:cNvSpPr txBox="1"/>
          <p:nvPr/>
        </p:nvSpPr>
        <p:spPr>
          <a:xfrm>
            <a:off x="4020877" y="472744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共通6〜7割＋独自3〜4割で組み立てる</a:t>
            </a:r>
          </a:p>
        </p:txBody>
      </p:sp>
      <p:sp>
        <p:nvSpPr>
          <p:cNvPr id="61" name="Rectangle 60"/>
          <p:cNvSpPr/>
          <p:nvPr/>
        </p:nvSpPr>
        <p:spPr>
          <a:xfrm>
            <a:off x="658368" y="496519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58368" y="52852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86384" y="504748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構成の事前審査（14項目）</a:t>
            </a:r>
          </a:p>
        </p:txBody>
      </p:sp>
      <p:sp>
        <p:nvSpPr>
          <p:cNvPr id="64" name="TextBox 63"/>
          <p:cNvSpPr txBox="1"/>
          <p:nvPr/>
        </p:nvSpPr>
        <p:spPr>
          <a:xfrm>
            <a:off x="3083343" y="504748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65" name="TextBox 64"/>
          <p:cNvSpPr txBox="1"/>
          <p:nvPr/>
        </p:nvSpPr>
        <p:spPr>
          <a:xfrm>
            <a:off x="3552110" y="504748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66" name="TextBox 65"/>
          <p:cNvSpPr txBox="1"/>
          <p:nvPr/>
        </p:nvSpPr>
        <p:spPr>
          <a:xfrm>
            <a:off x="4020877" y="504748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全項目を満たすまで執筆を開始しない</a:t>
            </a:r>
          </a:p>
        </p:txBody>
      </p:sp>
      <p:sp>
        <p:nvSpPr>
          <p:cNvPr id="67" name="Rectangle 66"/>
          <p:cNvSpPr/>
          <p:nvPr/>
        </p:nvSpPr>
        <p:spPr>
          <a:xfrm>
            <a:off x="658368" y="56052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786384" y="536752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本文の執筆</a:t>
            </a:r>
          </a:p>
        </p:txBody>
      </p:sp>
      <p:sp>
        <p:nvSpPr>
          <p:cNvPr id="69" name="TextBox 68"/>
          <p:cNvSpPr txBox="1"/>
          <p:nvPr/>
        </p:nvSpPr>
        <p:spPr>
          <a:xfrm>
            <a:off x="3083343" y="536752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70" name="TextBox 69"/>
          <p:cNvSpPr txBox="1"/>
          <p:nvPr/>
        </p:nvSpPr>
        <p:spPr>
          <a:xfrm>
            <a:off x="3552110" y="536752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71" name="TextBox 70"/>
          <p:cNvSpPr txBox="1"/>
          <p:nvPr/>
        </p:nvSpPr>
        <p:spPr>
          <a:xfrm>
            <a:off x="4020877" y="536752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5,000字以上。一次情報を2割以上織り込む</a:t>
            </a:r>
          </a:p>
        </p:txBody>
      </p:sp>
      <p:sp>
        <p:nvSpPr>
          <p:cNvPr id="72" name="Rectangle 71"/>
          <p:cNvSpPr/>
          <p:nvPr/>
        </p:nvSpPr>
        <p:spPr>
          <a:xfrm>
            <a:off x="658368" y="560527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658368" y="59253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86384" y="568756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AI感の排除（7項目）</a:t>
            </a:r>
          </a:p>
        </p:txBody>
      </p:sp>
      <p:sp>
        <p:nvSpPr>
          <p:cNvPr id="75" name="TextBox 74"/>
          <p:cNvSpPr txBox="1"/>
          <p:nvPr/>
        </p:nvSpPr>
        <p:spPr>
          <a:xfrm>
            <a:off x="3083343" y="568756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76" name="TextBox 75"/>
          <p:cNvSpPr txBox="1"/>
          <p:nvPr/>
        </p:nvSpPr>
        <p:spPr>
          <a:xfrm>
            <a:off x="3552110" y="568756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77" name="TextBox 76"/>
          <p:cNvSpPr txBox="1"/>
          <p:nvPr/>
        </p:nvSpPr>
        <p:spPr>
          <a:xfrm>
            <a:off x="4020877" y="568756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曖昧な結論・語尾の単調さなどを機械で検出</a:t>
            </a:r>
          </a:p>
        </p:txBody>
      </p:sp>
      <p:sp>
        <p:nvSpPr>
          <p:cNvPr id="78" name="Rectangle 77"/>
          <p:cNvSpPr/>
          <p:nvPr/>
        </p:nvSpPr>
        <p:spPr>
          <a:xfrm>
            <a:off x="658368" y="62453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786384" y="600760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機械採点（19項目）</a:t>
            </a:r>
          </a:p>
        </p:txBody>
      </p:sp>
      <p:sp>
        <p:nvSpPr>
          <p:cNvPr id="80" name="TextBox 79"/>
          <p:cNvSpPr txBox="1"/>
          <p:nvPr/>
        </p:nvSpPr>
        <p:spPr>
          <a:xfrm>
            <a:off x="3083343" y="600760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81" name="TextBox 80"/>
          <p:cNvSpPr txBox="1"/>
          <p:nvPr/>
        </p:nvSpPr>
        <p:spPr>
          <a:xfrm>
            <a:off x="3552110" y="600760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82" name="TextBox 81"/>
          <p:cNvSpPr txBox="1"/>
          <p:nvPr/>
        </p:nvSpPr>
        <p:spPr>
          <a:xfrm>
            <a:off x="4020877" y="600760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文字数・FAQ・リンク・構造を数える</a:t>
            </a:r>
          </a:p>
        </p:txBody>
      </p:sp>
      <p:sp>
        <p:nvSpPr>
          <p:cNvPr id="83" name="Rectangle 82"/>
          <p:cNvSpPr/>
          <p:nvPr/>
        </p:nvSpPr>
        <p:spPr>
          <a:xfrm>
            <a:off x="658368" y="624535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658368" y="65653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786384" y="632764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3観点×100点の採点</a:t>
            </a:r>
          </a:p>
        </p:txBody>
      </p:sp>
      <p:sp>
        <p:nvSpPr>
          <p:cNvPr id="86" name="TextBox 85"/>
          <p:cNvSpPr txBox="1"/>
          <p:nvPr/>
        </p:nvSpPr>
        <p:spPr>
          <a:xfrm>
            <a:off x="3083343" y="632764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87" name="TextBox 86"/>
          <p:cNvSpPr txBox="1"/>
          <p:nvPr/>
        </p:nvSpPr>
        <p:spPr>
          <a:xfrm>
            <a:off x="3552110" y="632764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88" name="TextBox 87"/>
          <p:cNvSpPr txBox="1"/>
          <p:nvPr/>
        </p:nvSpPr>
        <p:spPr>
          <a:xfrm>
            <a:off x="4020877" y="632764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一次性／抽出性／決定支援。各80点以上＋総合90点以上</a:t>
            </a:r>
          </a:p>
        </p:txBody>
      </p:sp>
      <p:sp>
        <p:nvSpPr>
          <p:cNvPr id="89" name="Rectangle 88"/>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役割分担</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09</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人がやること / AIエージェントがやること（2/2）</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公開してからの工程です。効果測定と手当ては自動、文章の判断は人が行います。</a:t>
            </a:r>
          </a:p>
        </p:txBody>
      </p:sp>
      <p:sp>
        <p:nvSpPr>
          <p:cNvPr id="7" name="Rectangle 6"/>
          <p:cNvSpPr/>
          <p:nvPr/>
        </p:nvSpPr>
        <p:spPr>
          <a:xfrm>
            <a:off x="658368" y="1737360"/>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810512"/>
            <a:ext cx="2114079"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工程</a:t>
            </a:r>
          </a:p>
        </p:txBody>
      </p:sp>
      <p:sp>
        <p:nvSpPr>
          <p:cNvPr id="9" name="TextBox 8"/>
          <p:cNvSpPr txBox="1"/>
          <p:nvPr/>
        </p:nvSpPr>
        <p:spPr>
          <a:xfrm>
            <a:off x="3083343" y="1810512"/>
            <a:ext cx="285887"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AI</a:t>
            </a:r>
          </a:p>
        </p:txBody>
      </p:sp>
      <p:sp>
        <p:nvSpPr>
          <p:cNvPr id="10" name="TextBox 9"/>
          <p:cNvSpPr txBox="1"/>
          <p:nvPr/>
        </p:nvSpPr>
        <p:spPr>
          <a:xfrm>
            <a:off x="3552110" y="1810512"/>
            <a:ext cx="285887"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人</a:t>
            </a:r>
          </a:p>
        </p:txBody>
      </p:sp>
      <p:sp>
        <p:nvSpPr>
          <p:cNvPr id="11" name="TextBox 10"/>
          <p:cNvSpPr txBox="1"/>
          <p:nvPr/>
        </p:nvSpPr>
        <p:spPr>
          <a:xfrm>
            <a:off x="4020877" y="1810512"/>
            <a:ext cx="5957969"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中身</a:t>
            </a:r>
          </a:p>
        </p:txBody>
      </p:sp>
      <p:sp>
        <p:nvSpPr>
          <p:cNvPr id="12" name="Rectangle 11"/>
          <p:cNvSpPr/>
          <p:nvPr/>
        </p:nvSpPr>
        <p:spPr>
          <a:xfrm>
            <a:off x="658368" y="24048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86384" y="216712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修正ループ</a:t>
            </a:r>
          </a:p>
        </p:txBody>
      </p:sp>
      <p:sp>
        <p:nvSpPr>
          <p:cNvPr id="14" name="TextBox 13"/>
          <p:cNvSpPr txBox="1"/>
          <p:nvPr/>
        </p:nvSpPr>
        <p:spPr>
          <a:xfrm>
            <a:off x="3083343" y="216712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15" name="TextBox 14"/>
          <p:cNvSpPr txBox="1"/>
          <p:nvPr/>
        </p:nvSpPr>
        <p:spPr>
          <a:xfrm>
            <a:off x="3552110" y="216712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16" name="TextBox 15"/>
          <p:cNvSpPr txBox="1"/>
          <p:nvPr/>
        </p:nvSpPr>
        <p:spPr>
          <a:xfrm>
            <a:off x="4020877" y="216712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基準に届くまで直して再採点する</a:t>
            </a:r>
          </a:p>
        </p:txBody>
      </p:sp>
      <p:sp>
        <p:nvSpPr>
          <p:cNvPr id="17" name="Rectangle 16"/>
          <p:cNvSpPr/>
          <p:nvPr/>
        </p:nvSpPr>
        <p:spPr>
          <a:xfrm>
            <a:off x="658368" y="240487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27249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248716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写真素材の提供</a:t>
            </a:r>
          </a:p>
        </p:txBody>
      </p:sp>
      <p:sp>
        <p:nvSpPr>
          <p:cNvPr id="20" name="TextBox 19"/>
          <p:cNvSpPr txBox="1"/>
          <p:nvPr/>
        </p:nvSpPr>
        <p:spPr>
          <a:xfrm>
            <a:off x="3083343" y="248716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21" name="TextBox 20"/>
          <p:cNvSpPr txBox="1"/>
          <p:nvPr/>
        </p:nvSpPr>
        <p:spPr>
          <a:xfrm>
            <a:off x="3552110" y="248716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22" name="TextBox 21"/>
          <p:cNvSpPr txBox="1"/>
          <p:nvPr/>
        </p:nvSpPr>
        <p:spPr>
          <a:xfrm>
            <a:off x="4020877" y="248716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店舗・商品・スタッフの写真のみ</a:t>
            </a:r>
          </a:p>
        </p:txBody>
      </p:sp>
      <p:sp>
        <p:nvSpPr>
          <p:cNvPr id="23" name="Rectangle 22"/>
          <p:cNvSpPr/>
          <p:nvPr/>
        </p:nvSpPr>
        <p:spPr>
          <a:xfrm>
            <a:off x="658368" y="30449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280720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図解・アイキャッチの生成</a:t>
            </a:r>
          </a:p>
        </p:txBody>
      </p:sp>
      <p:sp>
        <p:nvSpPr>
          <p:cNvPr id="25" name="TextBox 24"/>
          <p:cNvSpPr txBox="1"/>
          <p:nvPr/>
        </p:nvSpPr>
        <p:spPr>
          <a:xfrm>
            <a:off x="3083343" y="280720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26" name="TextBox 25"/>
          <p:cNvSpPr txBox="1"/>
          <p:nvPr/>
        </p:nvSpPr>
        <p:spPr>
          <a:xfrm>
            <a:off x="3552110" y="280720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27" name="TextBox 26"/>
          <p:cNvSpPr txBox="1"/>
          <p:nvPr/>
        </p:nvSpPr>
        <p:spPr>
          <a:xfrm>
            <a:off x="4020877" y="280720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1記事あたり4〜6枚を自動生成</a:t>
            </a:r>
          </a:p>
        </p:txBody>
      </p:sp>
      <p:sp>
        <p:nvSpPr>
          <p:cNvPr id="28" name="Rectangle 27"/>
          <p:cNvSpPr/>
          <p:nvPr/>
        </p:nvSpPr>
        <p:spPr>
          <a:xfrm>
            <a:off x="658368" y="304495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33649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86384" y="312724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HTML化と構造化データ</a:t>
            </a:r>
          </a:p>
        </p:txBody>
      </p:sp>
      <p:sp>
        <p:nvSpPr>
          <p:cNvPr id="31" name="TextBox 30"/>
          <p:cNvSpPr txBox="1"/>
          <p:nvPr/>
        </p:nvSpPr>
        <p:spPr>
          <a:xfrm>
            <a:off x="3083343" y="312724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32" name="TextBox 31"/>
          <p:cNvSpPr txBox="1"/>
          <p:nvPr/>
        </p:nvSpPr>
        <p:spPr>
          <a:xfrm>
            <a:off x="3552110" y="312724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33" name="TextBox 32"/>
          <p:cNvSpPr txBox="1"/>
          <p:nvPr/>
        </p:nvSpPr>
        <p:spPr>
          <a:xfrm>
            <a:off x="4020877" y="312724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記事情報・FAQ・パンくず・手順を埋め込む</a:t>
            </a:r>
          </a:p>
        </p:txBody>
      </p:sp>
      <p:sp>
        <p:nvSpPr>
          <p:cNvPr id="34" name="Rectangle 33"/>
          <p:cNvSpPr/>
          <p:nvPr/>
        </p:nvSpPr>
        <p:spPr>
          <a:xfrm>
            <a:off x="658368" y="36850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86384" y="344728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公開と配信</a:t>
            </a:r>
          </a:p>
        </p:txBody>
      </p:sp>
      <p:sp>
        <p:nvSpPr>
          <p:cNvPr id="36" name="TextBox 35"/>
          <p:cNvSpPr txBox="1"/>
          <p:nvPr/>
        </p:nvSpPr>
        <p:spPr>
          <a:xfrm>
            <a:off x="3083343" y="344728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37" name="TextBox 36"/>
          <p:cNvSpPr txBox="1"/>
          <p:nvPr/>
        </p:nvSpPr>
        <p:spPr>
          <a:xfrm>
            <a:off x="3552110" y="344728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38" name="TextBox 37"/>
          <p:cNvSpPr txBox="1"/>
          <p:nvPr/>
        </p:nvSpPr>
        <p:spPr>
          <a:xfrm>
            <a:off x="4020877" y="344728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時刻を分けて公開。月の上限も機械で止める</a:t>
            </a:r>
          </a:p>
        </p:txBody>
      </p:sp>
      <p:sp>
        <p:nvSpPr>
          <p:cNvPr id="39" name="Rectangle 38"/>
          <p:cNvSpPr/>
          <p:nvPr/>
        </p:nvSpPr>
        <p:spPr>
          <a:xfrm>
            <a:off x="658368" y="368503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58368" y="40050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86384" y="376732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検索エンジンへの通知</a:t>
            </a:r>
          </a:p>
        </p:txBody>
      </p:sp>
      <p:sp>
        <p:nvSpPr>
          <p:cNvPr id="42" name="TextBox 41"/>
          <p:cNvSpPr txBox="1"/>
          <p:nvPr/>
        </p:nvSpPr>
        <p:spPr>
          <a:xfrm>
            <a:off x="3083343" y="376732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43" name="TextBox 42"/>
          <p:cNvSpPr txBox="1"/>
          <p:nvPr/>
        </p:nvSpPr>
        <p:spPr>
          <a:xfrm>
            <a:off x="3552110" y="376732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44" name="TextBox 43"/>
          <p:cNvSpPr txBox="1"/>
          <p:nvPr/>
        </p:nvSpPr>
        <p:spPr>
          <a:xfrm>
            <a:off x="4020877" y="376732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Google・Bingへ即時送信</a:t>
            </a:r>
          </a:p>
        </p:txBody>
      </p:sp>
      <p:sp>
        <p:nvSpPr>
          <p:cNvPr id="45" name="Rectangle 44"/>
          <p:cNvSpPr/>
          <p:nvPr/>
        </p:nvSpPr>
        <p:spPr>
          <a:xfrm>
            <a:off x="658368" y="43251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86384" y="408736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内部リンクの追加</a:t>
            </a:r>
          </a:p>
        </p:txBody>
      </p:sp>
      <p:sp>
        <p:nvSpPr>
          <p:cNvPr id="47" name="TextBox 46"/>
          <p:cNvSpPr txBox="1"/>
          <p:nvPr/>
        </p:nvSpPr>
        <p:spPr>
          <a:xfrm>
            <a:off x="3083343" y="408736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48" name="TextBox 47"/>
          <p:cNvSpPr txBox="1"/>
          <p:nvPr/>
        </p:nvSpPr>
        <p:spPr>
          <a:xfrm>
            <a:off x="3552110" y="408736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49" name="TextBox 48"/>
          <p:cNvSpPr txBox="1"/>
          <p:nvPr/>
        </p:nvSpPr>
        <p:spPr>
          <a:xfrm>
            <a:off x="4020877" y="408736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既存記事から新記事へ自動で送る</a:t>
            </a:r>
          </a:p>
        </p:txBody>
      </p:sp>
      <p:sp>
        <p:nvSpPr>
          <p:cNvPr id="50" name="Rectangle 49"/>
          <p:cNvSpPr/>
          <p:nvPr/>
        </p:nvSpPr>
        <p:spPr>
          <a:xfrm>
            <a:off x="658368" y="432511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58368" y="46451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86384" y="440740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効果測定</a:t>
            </a:r>
          </a:p>
        </p:txBody>
      </p:sp>
      <p:sp>
        <p:nvSpPr>
          <p:cNvPr id="53" name="TextBox 52"/>
          <p:cNvSpPr txBox="1"/>
          <p:nvPr/>
        </p:nvSpPr>
        <p:spPr>
          <a:xfrm>
            <a:off x="3083343" y="440740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54" name="TextBox 53"/>
          <p:cNvSpPr txBox="1"/>
          <p:nvPr/>
        </p:nvSpPr>
        <p:spPr>
          <a:xfrm>
            <a:off x="3552110" y="440740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55" name="TextBox 54"/>
          <p:cNvSpPr txBox="1"/>
          <p:nvPr/>
        </p:nvSpPr>
        <p:spPr>
          <a:xfrm>
            <a:off x="4020877" y="440740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直した日の前後で同じ日数を比較する</a:t>
            </a:r>
          </a:p>
        </p:txBody>
      </p:sp>
      <p:sp>
        <p:nvSpPr>
          <p:cNvPr id="56" name="Rectangle 55"/>
          <p:cNvSpPr/>
          <p:nvPr/>
        </p:nvSpPr>
        <p:spPr>
          <a:xfrm>
            <a:off x="658368" y="49651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86384" y="472744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タイトルの書き換え</a:t>
            </a:r>
          </a:p>
        </p:txBody>
      </p:sp>
      <p:sp>
        <p:nvSpPr>
          <p:cNvPr id="58" name="TextBox 57"/>
          <p:cNvSpPr txBox="1"/>
          <p:nvPr/>
        </p:nvSpPr>
        <p:spPr>
          <a:xfrm>
            <a:off x="3083343" y="472744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59" name="TextBox 58"/>
          <p:cNvSpPr txBox="1"/>
          <p:nvPr/>
        </p:nvSpPr>
        <p:spPr>
          <a:xfrm>
            <a:off x="3552110" y="472744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60" name="TextBox 59"/>
          <p:cNvSpPr txBox="1"/>
          <p:nvPr/>
        </p:nvSpPr>
        <p:spPr>
          <a:xfrm>
            <a:off x="4020877" y="472744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対象はAIが特定。文章の判断は人が行う</a:t>
            </a:r>
          </a:p>
        </p:txBody>
      </p:sp>
      <p:sp>
        <p:nvSpPr>
          <p:cNvPr id="61" name="Rectangle 60"/>
          <p:cNvSpPr/>
          <p:nvPr/>
        </p:nvSpPr>
        <p:spPr>
          <a:xfrm>
            <a:off x="658368" y="496519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58368" y="52852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86384" y="504748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検索意図のずれの修正</a:t>
            </a:r>
          </a:p>
        </p:txBody>
      </p:sp>
      <p:sp>
        <p:nvSpPr>
          <p:cNvPr id="64" name="TextBox 63"/>
          <p:cNvSpPr txBox="1"/>
          <p:nvPr/>
        </p:nvSpPr>
        <p:spPr>
          <a:xfrm>
            <a:off x="3083343" y="504748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65" name="TextBox 64"/>
          <p:cNvSpPr txBox="1"/>
          <p:nvPr/>
        </p:nvSpPr>
        <p:spPr>
          <a:xfrm>
            <a:off x="3552110" y="504748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66" name="TextBox 65"/>
          <p:cNvSpPr txBox="1"/>
          <p:nvPr/>
        </p:nvSpPr>
        <p:spPr>
          <a:xfrm>
            <a:off x="4020877" y="504748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同上。主張に関わる判断は自動化しない</a:t>
            </a:r>
          </a:p>
        </p:txBody>
      </p:sp>
      <p:sp>
        <p:nvSpPr>
          <p:cNvPr id="67" name="Rectangle 66"/>
          <p:cNvSpPr/>
          <p:nvPr/>
        </p:nvSpPr>
        <p:spPr>
          <a:xfrm>
            <a:off x="658368" y="56052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786384" y="536752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自動修正の見直し</a:t>
            </a:r>
          </a:p>
        </p:txBody>
      </p:sp>
      <p:sp>
        <p:nvSpPr>
          <p:cNvPr id="69" name="TextBox 68"/>
          <p:cNvSpPr txBox="1"/>
          <p:nvPr/>
        </p:nvSpPr>
        <p:spPr>
          <a:xfrm>
            <a:off x="3083343" y="536752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70" name="TextBox 69"/>
          <p:cNvSpPr txBox="1"/>
          <p:nvPr/>
        </p:nvSpPr>
        <p:spPr>
          <a:xfrm>
            <a:off x="3552110" y="536752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71" name="TextBox 70"/>
          <p:cNvSpPr txBox="1"/>
          <p:nvPr/>
        </p:nvSpPr>
        <p:spPr>
          <a:xfrm>
            <a:off x="4020877" y="536752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積み上がりと言い回しの偏りを検査する</a:t>
            </a:r>
          </a:p>
        </p:txBody>
      </p:sp>
      <p:sp>
        <p:nvSpPr>
          <p:cNvPr id="72" name="Rectangle 71"/>
          <p:cNvSpPr/>
          <p:nvPr/>
        </p:nvSpPr>
        <p:spPr>
          <a:xfrm>
            <a:off x="658368" y="5605272"/>
            <a:ext cx="9375343"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658368" y="59253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86384" y="568756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月次レポートの作成</a:t>
            </a:r>
          </a:p>
        </p:txBody>
      </p:sp>
      <p:sp>
        <p:nvSpPr>
          <p:cNvPr id="75" name="TextBox 74"/>
          <p:cNvSpPr txBox="1"/>
          <p:nvPr/>
        </p:nvSpPr>
        <p:spPr>
          <a:xfrm>
            <a:off x="3083343" y="568756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AI</a:t>
            </a:r>
          </a:p>
        </p:txBody>
      </p:sp>
      <p:sp>
        <p:nvSpPr>
          <p:cNvPr id="76" name="TextBox 75"/>
          <p:cNvSpPr txBox="1"/>
          <p:nvPr/>
        </p:nvSpPr>
        <p:spPr>
          <a:xfrm>
            <a:off x="3552110" y="568756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77" name="TextBox 76"/>
          <p:cNvSpPr txBox="1"/>
          <p:nvPr/>
        </p:nvSpPr>
        <p:spPr>
          <a:xfrm>
            <a:off x="4020877" y="568756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数字と改善指示まで自動で生成</a:t>
            </a:r>
          </a:p>
        </p:txBody>
      </p:sp>
      <p:sp>
        <p:nvSpPr>
          <p:cNvPr id="78" name="Rectangle 77"/>
          <p:cNvSpPr/>
          <p:nvPr/>
        </p:nvSpPr>
        <p:spPr>
          <a:xfrm>
            <a:off x="658368" y="62453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786384" y="6007608"/>
            <a:ext cx="207750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翌月の方針判断</a:t>
            </a:r>
          </a:p>
        </p:txBody>
      </p:sp>
      <p:sp>
        <p:nvSpPr>
          <p:cNvPr id="80" name="TextBox 79"/>
          <p:cNvSpPr txBox="1"/>
          <p:nvPr/>
        </p:nvSpPr>
        <p:spPr>
          <a:xfrm>
            <a:off x="3083343" y="6007608"/>
            <a:ext cx="249311"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
            </a:r>
          </a:p>
        </p:txBody>
      </p:sp>
      <p:sp>
        <p:nvSpPr>
          <p:cNvPr id="81" name="TextBox 80"/>
          <p:cNvSpPr txBox="1"/>
          <p:nvPr/>
        </p:nvSpPr>
        <p:spPr>
          <a:xfrm>
            <a:off x="3552110" y="6007608"/>
            <a:ext cx="249311" cy="228600"/>
          </a:xfrm>
          <a:prstGeom prst="rect">
            <a:avLst/>
          </a:prstGeom>
          <a:noFill/>
        </p:spPr>
        <p:txBody>
          <a:bodyPr wrap="square" anchor="t" lIns="0" rIns="0" tIns="0" bIns="0">
            <a:spAutoFit/>
          </a:bodyPr>
          <a:lstStyle/>
          <a:p>
            <a:pPr algn="l">
              <a:lnSpc>
                <a:spcPct val="130000"/>
              </a:lnSpc>
              <a:spcAft>
                <a:spcPts val="0"/>
              </a:spcAft>
            </a:pPr>
            <a:r>
              <a:rPr sz="1100" b="1">
                <a:solidFill>
                  <a:srgbClr val="B7922E"/>
                </a:solidFill>
                <a:latin typeface="游ゴシック"/>
                <a:ea typeface="游ゴシック"/>
              </a:rPr>
              <a:t>人</a:t>
            </a:r>
          </a:p>
        </p:txBody>
      </p:sp>
      <p:sp>
        <p:nvSpPr>
          <p:cNvPr id="82" name="TextBox 81"/>
          <p:cNvSpPr txBox="1"/>
          <p:nvPr/>
        </p:nvSpPr>
        <p:spPr>
          <a:xfrm>
            <a:off x="4020877" y="6007608"/>
            <a:ext cx="5921393" cy="228600"/>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レポートを見て決めるのは経営判断</a:t>
            </a:r>
          </a:p>
        </p:txBody>
      </p:sp>
      <p:sp>
        <p:nvSpPr>
          <p:cNvPr id="83" name="Rectangle 82"/>
          <p:cNvSpPr/>
          <p:nvPr/>
        </p:nvSpPr>
        <p:spPr>
          <a:xfrm>
            <a:off x="658368" y="6428232"/>
            <a:ext cx="9375343" cy="7315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914400" y="6565392"/>
            <a:ext cx="8863279" cy="502920"/>
          </a:xfrm>
          <a:prstGeom prst="rect">
            <a:avLst/>
          </a:prstGeom>
          <a:noFill/>
        </p:spPr>
        <p:txBody>
          <a:bodyPr wrap="square" anchor="t" lIns="0" rIns="0" tIns="0" bIns="0">
            <a:spAutoFit/>
          </a:bodyPr>
          <a:lstStyle/>
          <a:p>
            <a:pPr algn="l">
              <a:lnSpc>
                <a:spcPct val="150000"/>
              </a:lnSpc>
              <a:spcAft>
                <a:spcPts val="0"/>
              </a:spcAft>
            </a:pPr>
            <a:r>
              <a:rPr sz="1200" b="1">
                <a:solidFill>
                  <a:srgbClr val="0B2447"/>
                </a:solidFill>
                <a:latin typeface="游ゴシック"/>
                <a:ea typeface="游ゴシック"/>
              </a:rPr>
              <a:t>人に残るのは「方向性の決定」「素材の提供」「文章の最終判断」の3つだけです。合計しても月に1〜2時間程度が目安になります。</a:t>
            </a:r>
          </a:p>
        </p:txBody>
      </p:sp>
      <p:sp>
        <p:nvSpPr>
          <p:cNvPr id="85" name="Rectangle 84"/>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「AI」は条件で機械的に決まるもの、「人」は判断が要るものです。文章の主張に関わる判断を自動化すると、主張のずれた記事が量産されるため分けています。</a:t>
            </a:r>
          </a:p>
        </p:txBody>
      </p:sp>
      <p:sp>
        <p:nvSpPr>
          <p:cNvPr id="87" name="TextBox 86"/>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御社にしていただくこと</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10</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ご記入いただくのは、この1枚だけです</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記事づくりに必要な情報を1枚のシートにまとめてあります。ご記入は最初の1回のみ。所要時間は30分ほどです。</a:t>
            </a:r>
          </a:p>
        </p:txBody>
      </p:sp>
      <p:sp>
        <p:nvSpPr>
          <p:cNvPr id="7" name="Rectangle 6"/>
          <p:cNvSpPr/>
          <p:nvPr/>
        </p:nvSpPr>
        <p:spPr>
          <a:xfrm>
            <a:off x="658368" y="1737360"/>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810512"/>
            <a:ext cx="2629722" cy="228600"/>
          </a:xfrm>
          <a:prstGeom prst="rect">
            <a:avLst/>
          </a:prstGeom>
          <a:noFill/>
        </p:spPr>
        <p:txBody>
          <a:bodyPr wrap="square" anchor="t" lIns="0" rIns="0" tIns="0" bIns="0">
            <a:spAutoFit/>
          </a:bodyPr>
          <a:lstStyle/>
          <a:p>
            <a:pPr algn="l">
              <a:spcAft>
                <a:spcPts val="0"/>
              </a:spcAft>
            </a:pPr>
            <a:r>
              <a:rPr sz="1100" b="1">
                <a:solidFill>
                  <a:srgbClr val="FFFFFF"/>
                </a:solidFill>
                <a:latin typeface="游ゴシック"/>
                <a:ea typeface="游ゴシック"/>
              </a:rPr>
              <a:t>ご記入いただくこと</a:t>
            </a:r>
          </a:p>
        </p:txBody>
      </p:sp>
      <p:sp>
        <p:nvSpPr>
          <p:cNvPr id="9" name="TextBox 8"/>
          <p:cNvSpPr txBox="1"/>
          <p:nvPr/>
        </p:nvSpPr>
        <p:spPr>
          <a:xfrm>
            <a:off x="3598986" y="1810512"/>
            <a:ext cx="6379860" cy="228600"/>
          </a:xfrm>
          <a:prstGeom prst="rect">
            <a:avLst/>
          </a:prstGeom>
          <a:noFill/>
        </p:spPr>
        <p:txBody>
          <a:bodyPr wrap="square" anchor="t" lIns="0" rIns="0" tIns="0" bIns="0">
            <a:spAutoFit/>
          </a:bodyPr>
          <a:lstStyle/>
          <a:p>
            <a:pPr algn="l">
              <a:spcAft>
                <a:spcPts val="0"/>
              </a:spcAft>
            </a:pPr>
            <a:r>
              <a:rPr sz="1100" b="1">
                <a:solidFill>
                  <a:srgbClr val="FFFFFF"/>
                </a:solidFill>
                <a:latin typeface="游ゴシック"/>
                <a:ea typeface="游ゴシック"/>
              </a:rPr>
              <a:t>記事のどこになるか</a:t>
            </a:r>
          </a:p>
        </p:txBody>
      </p:sp>
      <p:sp>
        <p:nvSpPr>
          <p:cNvPr id="10" name="Rectangle 9"/>
          <p:cNvSpPr/>
          <p:nvPr/>
        </p:nvSpPr>
        <p:spPr>
          <a:xfrm>
            <a:off x="658368" y="25420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21671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主力商材とカテゴリの配分</a:t>
            </a:r>
          </a:p>
        </p:txBody>
      </p:sp>
      <p:sp>
        <p:nvSpPr>
          <p:cNvPr id="12" name="TextBox 11"/>
          <p:cNvSpPr txBox="1"/>
          <p:nvPr/>
        </p:nvSpPr>
        <p:spPr>
          <a:xfrm>
            <a:off x="3598986" y="21671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記事の結論をどこへ着地させるか。ここが曖昧だと、読まれても相談につながりません</a:t>
            </a:r>
          </a:p>
        </p:txBody>
      </p:sp>
      <p:sp>
        <p:nvSpPr>
          <p:cNvPr id="13" name="Rectangle 12"/>
          <p:cNvSpPr/>
          <p:nvPr/>
        </p:nvSpPr>
        <p:spPr>
          <a:xfrm>
            <a:off x="658368" y="2542032"/>
            <a:ext cx="9375343"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58368" y="29992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26243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ターゲット（人物像・商圏）</a:t>
            </a:r>
          </a:p>
        </p:txBody>
      </p:sp>
      <p:sp>
        <p:nvSpPr>
          <p:cNvPr id="16" name="TextBox 15"/>
          <p:cNvSpPr txBox="1"/>
          <p:nvPr/>
        </p:nvSpPr>
        <p:spPr>
          <a:xfrm>
            <a:off x="3598986" y="26243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誰に向けて書くか。1人の顔が浮かぶ粒度まで伺います</a:t>
            </a:r>
          </a:p>
        </p:txBody>
      </p:sp>
      <p:sp>
        <p:nvSpPr>
          <p:cNvPr id="17" name="Rectangle 16"/>
          <p:cNvSpPr/>
          <p:nvPr/>
        </p:nvSpPr>
        <p:spPr>
          <a:xfrm>
            <a:off x="658368" y="34564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30815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メインキーワード / サブキーワード</a:t>
            </a:r>
          </a:p>
        </p:txBody>
      </p:sp>
      <p:sp>
        <p:nvSpPr>
          <p:cNvPr id="19" name="TextBox 18"/>
          <p:cNvSpPr txBox="1"/>
          <p:nvPr/>
        </p:nvSpPr>
        <p:spPr>
          <a:xfrm>
            <a:off x="3598986" y="30815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掛け合わせて記事の主題を作ります。実例では メイン3語＋サブ4語 から主題候補50件</a:t>
            </a:r>
          </a:p>
        </p:txBody>
      </p:sp>
      <p:sp>
        <p:nvSpPr>
          <p:cNvPr id="20" name="Rectangle 19"/>
          <p:cNvSpPr/>
          <p:nvPr/>
        </p:nvSpPr>
        <p:spPr>
          <a:xfrm>
            <a:off x="658368" y="3456432"/>
            <a:ext cx="9375343"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8368" y="39136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86384" y="35387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実績の数値（3つまで）</a:t>
            </a:r>
          </a:p>
        </p:txBody>
      </p:sp>
      <p:sp>
        <p:nvSpPr>
          <p:cNvPr id="23" name="TextBox 22"/>
          <p:cNvSpPr txBox="1"/>
          <p:nvPr/>
        </p:nvSpPr>
        <p:spPr>
          <a:xfrm>
            <a:off x="3598986" y="35387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AI検索が最も引用したがる一次情報。出典と時点をセットで伺います</a:t>
            </a:r>
          </a:p>
        </p:txBody>
      </p:sp>
      <p:sp>
        <p:nvSpPr>
          <p:cNvPr id="24" name="Rectangle 23"/>
          <p:cNvSpPr/>
          <p:nvPr/>
        </p:nvSpPr>
        <p:spPr>
          <a:xfrm>
            <a:off x="658368" y="43708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86384" y="39959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よく聞かれる質問（5つ以上）</a:t>
            </a:r>
          </a:p>
        </p:txBody>
      </p:sp>
      <p:sp>
        <p:nvSpPr>
          <p:cNvPr id="26" name="TextBox 25"/>
          <p:cNvSpPr txBox="1"/>
          <p:nvPr/>
        </p:nvSpPr>
        <p:spPr>
          <a:xfrm>
            <a:off x="3598986" y="39959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記事のFAQにそのまま載ります。お客様の言葉のまま使えるほど強くなります</a:t>
            </a:r>
          </a:p>
        </p:txBody>
      </p:sp>
      <p:sp>
        <p:nvSpPr>
          <p:cNvPr id="27" name="Rectangle 26"/>
          <p:cNvSpPr/>
          <p:nvPr/>
        </p:nvSpPr>
        <p:spPr>
          <a:xfrm>
            <a:off x="658368" y="4370832"/>
            <a:ext cx="9375343"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48280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86384" y="44531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著者名・肩書き・保有資格</a:t>
            </a:r>
          </a:p>
        </p:txBody>
      </p:sp>
      <p:sp>
        <p:nvSpPr>
          <p:cNvPr id="30" name="TextBox 29"/>
          <p:cNvSpPr txBox="1"/>
          <p:nvPr/>
        </p:nvSpPr>
        <p:spPr>
          <a:xfrm>
            <a:off x="3598986" y="44531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記事の著者情報。誰が書いたか分からない記事は検索にもAIにも信用されません</a:t>
            </a:r>
          </a:p>
        </p:txBody>
      </p:sp>
      <p:sp>
        <p:nvSpPr>
          <p:cNvPr id="31" name="Rectangle 30"/>
          <p:cNvSpPr/>
          <p:nvPr/>
        </p:nvSpPr>
        <p:spPr>
          <a:xfrm>
            <a:off x="658368" y="52852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86384" y="49103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文体・使いたくない表現</a:t>
            </a:r>
          </a:p>
        </p:txBody>
      </p:sp>
      <p:sp>
        <p:nvSpPr>
          <p:cNvPr id="33" name="TextBox 32"/>
          <p:cNvSpPr txBox="1"/>
          <p:nvPr/>
        </p:nvSpPr>
        <p:spPr>
          <a:xfrm>
            <a:off x="3598986" y="49103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全記事の書き方が揃います。既存サイトがあればそちらに合わせます</a:t>
            </a:r>
          </a:p>
        </p:txBody>
      </p:sp>
      <p:sp>
        <p:nvSpPr>
          <p:cNvPr id="34" name="Rectangle 33"/>
          <p:cNvSpPr/>
          <p:nvPr/>
        </p:nvSpPr>
        <p:spPr>
          <a:xfrm>
            <a:off x="658368" y="5285232"/>
            <a:ext cx="9375343"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58368" y="574243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86384" y="5367528"/>
            <a:ext cx="2593146" cy="365760"/>
          </a:xfrm>
          <a:prstGeom prst="rect">
            <a:avLst/>
          </a:prstGeom>
          <a:noFill/>
        </p:spPr>
        <p:txBody>
          <a:bodyPr wrap="square" anchor="t" lIns="0" rIns="0" tIns="0" bIns="0">
            <a:spAutoFit/>
          </a:bodyPr>
          <a:lstStyle/>
          <a:p>
            <a:pPr algn="l">
              <a:lnSpc>
                <a:spcPct val="130000"/>
              </a:lnSpc>
              <a:spcAft>
                <a:spcPts val="0"/>
              </a:spcAft>
            </a:pPr>
            <a:r>
              <a:rPr sz="1150" b="1">
                <a:solidFill>
                  <a:srgbClr val="0B2447"/>
                </a:solidFill>
                <a:latin typeface="游ゴシック"/>
                <a:ea typeface="游ゴシック"/>
              </a:rPr>
              <a:t>外部との接点（加盟団体・取引先・取材）</a:t>
            </a:r>
          </a:p>
        </p:txBody>
      </p:sp>
      <p:sp>
        <p:nvSpPr>
          <p:cNvPr id="37" name="TextBox 36"/>
          <p:cNvSpPr txBox="1"/>
          <p:nvPr/>
        </p:nvSpPr>
        <p:spPr>
          <a:xfrm>
            <a:off x="3598986" y="5367528"/>
            <a:ext cx="6343284" cy="365760"/>
          </a:xfrm>
          <a:prstGeom prst="rect">
            <a:avLst/>
          </a:prstGeom>
          <a:noFill/>
        </p:spPr>
        <p:txBody>
          <a:bodyPr wrap="square" anchor="t" lIns="0" rIns="0" tIns="0" bIns="0">
            <a:spAutoFit/>
          </a:bodyPr>
          <a:lstStyle/>
          <a:p>
            <a:pPr algn="l">
              <a:lnSpc>
                <a:spcPct val="130000"/>
              </a:lnSpc>
              <a:spcAft>
                <a:spcPts val="0"/>
              </a:spcAft>
            </a:pPr>
            <a:r>
              <a:rPr sz="1150" b="0">
                <a:solidFill>
                  <a:srgbClr val="1A2233"/>
                </a:solidFill>
                <a:latin typeface="游ゴシック"/>
                <a:ea typeface="游ゴシック"/>
              </a:rPr>
              <a:t>他サイトからリンクされる起点。買うことはできないので、すでにある関係から広げます</a:t>
            </a:r>
          </a:p>
        </p:txBody>
      </p:sp>
      <p:sp>
        <p:nvSpPr>
          <p:cNvPr id="38" name="Rectangle 37"/>
          <p:cNvSpPr/>
          <p:nvPr/>
        </p:nvSpPr>
        <p:spPr>
          <a:xfrm>
            <a:off x="658368" y="5925312"/>
            <a:ext cx="9375343" cy="859536"/>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4400" y="6071616"/>
            <a:ext cx="8863279" cy="585216"/>
          </a:xfrm>
          <a:prstGeom prst="rect">
            <a:avLst/>
          </a:prstGeom>
          <a:noFill/>
        </p:spPr>
        <p:txBody>
          <a:bodyPr wrap="square" anchor="t" lIns="0" rIns="0" tIns="0" bIns="0">
            <a:spAutoFit/>
          </a:bodyPr>
          <a:lstStyle/>
          <a:p>
            <a:pPr algn="l">
              <a:lnSpc>
                <a:spcPct val="150000"/>
              </a:lnSpc>
              <a:spcAft>
                <a:spcPts val="0"/>
              </a:spcAft>
            </a:pPr>
            <a:r>
              <a:rPr sz="1200" b="1">
                <a:solidFill>
                  <a:srgbClr val="0B2447"/>
                </a:solidFill>
                <a:latin typeface="游ゴシック"/>
                <a:ea typeface="游ゴシック"/>
              </a:rPr>
              <a:t>ご記入いただいた内容は、記事を書くたびに読み込まれます。書かれていないことは書きません。憶測で補うと、事実と違う記事が公開されるためです。</a:t>
            </a:r>
          </a:p>
        </p:txBody>
      </p:sp>
      <p:sp>
        <p:nvSpPr>
          <p:cNvPr id="40" name="Rectangle 3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分からない項目は空欄のままで構いません。導入時のお打ち合わせで一緒に決めます。</a:t>
            </a:r>
          </a:p>
        </p:txBody>
      </p:sp>
      <p:sp>
        <p:nvSpPr>
          <p:cNvPr id="42" name="TextBox 41"/>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御社にしていただくこと</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11</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業種によって、聞くことを変えています</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同じ質問票では、その業種でしか書けない記事になりません。業種ごとに専用の項目をご用意しています。</a:t>
            </a:r>
          </a:p>
        </p:txBody>
      </p:sp>
      <p:sp>
        <p:nvSpPr>
          <p:cNvPr id="7" name="Rectangle 6"/>
          <p:cNvSpPr/>
          <p:nvPr/>
        </p:nvSpPr>
        <p:spPr>
          <a:xfrm>
            <a:off x="658368" y="1737360"/>
            <a:ext cx="4550511" cy="228600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737360"/>
            <a:ext cx="38100" cy="2286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901952"/>
            <a:ext cx="4093311" cy="256032"/>
          </a:xfrm>
          <a:prstGeom prst="rect">
            <a:avLst/>
          </a:prstGeom>
          <a:noFill/>
        </p:spPr>
        <p:txBody>
          <a:bodyPr wrap="square" anchor="t" lIns="0" rIns="0" tIns="0" bIns="0">
            <a:spAutoFit/>
          </a:bodyPr>
          <a:lstStyle/>
          <a:p>
            <a:pPr algn="l">
              <a:spcAft>
                <a:spcPts val="0"/>
              </a:spcAft>
            </a:pPr>
            <a:r>
              <a:rPr sz="1300" b="1">
                <a:solidFill>
                  <a:srgbClr val="0B2447"/>
                </a:solidFill>
                <a:latin typeface="游ゴシック"/>
                <a:ea typeface="游ゴシック"/>
              </a:rPr>
              <a:t>共通（全業種）</a:t>
            </a:r>
          </a:p>
        </p:txBody>
      </p:sp>
      <p:sp>
        <p:nvSpPr>
          <p:cNvPr id="10" name="TextBox 9"/>
          <p:cNvSpPr txBox="1"/>
          <p:nvPr/>
        </p:nvSpPr>
        <p:spPr>
          <a:xfrm>
            <a:off x="896112" y="2212848"/>
            <a:ext cx="4093311" cy="219456"/>
          </a:xfrm>
          <a:prstGeom prst="rect">
            <a:avLst/>
          </a:prstGeom>
          <a:noFill/>
        </p:spPr>
        <p:txBody>
          <a:bodyPr wrap="square" anchor="t" lIns="0" rIns="0" tIns="0" bIns="0">
            <a:spAutoFit/>
          </a:bodyPr>
          <a:lstStyle/>
          <a:p>
            <a:pPr algn="l">
              <a:spcAft>
                <a:spcPts val="0"/>
              </a:spcAft>
            </a:pPr>
            <a:r>
              <a:rPr sz="1100" b="1">
                <a:solidFill>
                  <a:srgbClr val="2563EB"/>
                </a:solidFill>
                <a:latin typeface="游ゴシック"/>
                <a:ea typeface="游ゴシック"/>
              </a:rPr>
              <a:t>95項目 / 18セクション</a:t>
            </a:r>
          </a:p>
        </p:txBody>
      </p:sp>
      <p:sp>
        <p:nvSpPr>
          <p:cNvPr id="11" name="Oval 10"/>
          <p:cNvSpPr/>
          <p:nvPr/>
        </p:nvSpPr>
        <p:spPr>
          <a:xfrm>
            <a:off x="896112" y="2615184"/>
            <a:ext cx="50800" cy="50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2416" y="2523744"/>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会社情報・著者・文体</a:t>
            </a:r>
          </a:p>
        </p:txBody>
      </p:sp>
      <p:sp>
        <p:nvSpPr>
          <p:cNvPr id="13" name="Oval 12"/>
          <p:cNvSpPr/>
          <p:nvPr/>
        </p:nvSpPr>
        <p:spPr>
          <a:xfrm>
            <a:off x="896112" y="2926080"/>
            <a:ext cx="50800" cy="50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42416" y="2834640"/>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主力商材とカテゴリの配分</a:t>
            </a:r>
          </a:p>
        </p:txBody>
      </p:sp>
      <p:sp>
        <p:nvSpPr>
          <p:cNvPr id="15" name="Oval 14"/>
          <p:cNvSpPr/>
          <p:nvPr/>
        </p:nvSpPr>
        <p:spPr>
          <a:xfrm>
            <a:off x="896112" y="3236976"/>
            <a:ext cx="50800" cy="50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42416" y="3145536"/>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ターゲットと狙うキーワード</a:t>
            </a:r>
          </a:p>
        </p:txBody>
      </p:sp>
      <p:sp>
        <p:nvSpPr>
          <p:cNvPr id="17" name="Oval 16"/>
          <p:cNvSpPr/>
          <p:nvPr/>
        </p:nvSpPr>
        <p:spPr>
          <a:xfrm>
            <a:off x="896112" y="3547872"/>
            <a:ext cx="50800" cy="50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42416" y="3456432"/>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実績の数値・よくある質問</a:t>
            </a:r>
          </a:p>
        </p:txBody>
      </p:sp>
      <p:sp>
        <p:nvSpPr>
          <p:cNvPr id="19" name="Oval 18"/>
          <p:cNvSpPr/>
          <p:nvPr/>
        </p:nvSpPr>
        <p:spPr>
          <a:xfrm>
            <a:off x="896112" y="3858768"/>
            <a:ext cx="50800" cy="50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42416" y="3767328"/>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外部との接点（被リンクの起点）</a:t>
            </a:r>
          </a:p>
        </p:txBody>
      </p:sp>
      <p:sp>
        <p:nvSpPr>
          <p:cNvPr id="21" name="Rectangle 20"/>
          <p:cNvSpPr/>
          <p:nvPr/>
        </p:nvSpPr>
        <p:spPr>
          <a:xfrm>
            <a:off x="5483199" y="1737360"/>
            <a:ext cx="4550511" cy="2286000"/>
          </a:xfrm>
          <a:prstGeom prst="rect">
            <a:avLst/>
          </a:prstGeom>
          <a:solidFill>
            <a:srgbClr val="EBF2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483199" y="1737360"/>
            <a:ext cx="38100" cy="2286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720943" y="1901952"/>
            <a:ext cx="4093311" cy="256032"/>
          </a:xfrm>
          <a:prstGeom prst="rect">
            <a:avLst/>
          </a:prstGeom>
          <a:noFill/>
        </p:spPr>
        <p:txBody>
          <a:bodyPr wrap="square" anchor="t" lIns="0" rIns="0" tIns="0" bIns="0">
            <a:spAutoFit/>
          </a:bodyPr>
          <a:lstStyle/>
          <a:p>
            <a:pPr algn="l">
              <a:spcAft>
                <a:spcPts val="0"/>
              </a:spcAft>
            </a:pPr>
            <a:r>
              <a:rPr sz="1300" b="1">
                <a:solidFill>
                  <a:srgbClr val="0B2447"/>
                </a:solidFill>
                <a:latin typeface="游ゴシック"/>
                <a:ea typeface="游ゴシック"/>
              </a:rPr>
              <a:t>飲食店向け（追加分）</a:t>
            </a:r>
          </a:p>
        </p:txBody>
      </p:sp>
      <p:sp>
        <p:nvSpPr>
          <p:cNvPr id="24" name="TextBox 23"/>
          <p:cNvSpPr txBox="1"/>
          <p:nvPr/>
        </p:nvSpPr>
        <p:spPr>
          <a:xfrm>
            <a:off x="5720943" y="2212848"/>
            <a:ext cx="4093311" cy="219456"/>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124項目 / 23セクション</a:t>
            </a:r>
          </a:p>
        </p:txBody>
      </p:sp>
      <p:sp>
        <p:nvSpPr>
          <p:cNvPr id="25" name="Oval 24"/>
          <p:cNvSpPr/>
          <p:nvPr/>
        </p:nvSpPr>
        <p:spPr>
          <a:xfrm>
            <a:off x="5720943" y="2615184"/>
            <a:ext cx="50800" cy="50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867247" y="2523744"/>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席数・客単価・最寄駅と徒歩分数</a:t>
            </a:r>
          </a:p>
        </p:txBody>
      </p:sp>
      <p:sp>
        <p:nvSpPr>
          <p:cNvPr id="27" name="Oval 26"/>
          <p:cNvSpPr/>
          <p:nvPr/>
        </p:nvSpPr>
        <p:spPr>
          <a:xfrm>
            <a:off x="5720943" y="2926080"/>
            <a:ext cx="50800" cy="50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867247" y="2834640"/>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看板メニューと価格・食材の産地</a:t>
            </a:r>
          </a:p>
        </p:txBody>
      </p:sp>
      <p:sp>
        <p:nvSpPr>
          <p:cNvPr id="29" name="Oval 28"/>
          <p:cNvSpPr/>
          <p:nvPr/>
        </p:nvSpPr>
        <p:spPr>
          <a:xfrm>
            <a:off x="5720943" y="3236976"/>
            <a:ext cx="50800" cy="50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867247" y="3145536"/>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予約の受付方法・貸切の可否</a:t>
            </a:r>
          </a:p>
        </p:txBody>
      </p:sp>
      <p:sp>
        <p:nvSpPr>
          <p:cNvPr id="31" name="Oval 30"/>
          <p:cNvSpPr/>
          <p:nvPr/>
        </p:nvSpPr>
        <p:spPr>
          <a:xfrm>
            <a:off x="5720943" y="3547872"/>
            <a:ext cx="50800" cy="50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867247" y="3456432"/>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グルメサイトと地図サービスの状況</a:t>
            </a:r>
          </a:p>
        </p:txBody>
      </p:sp>
      <p:sp>
        <p:nvSpPr>
          <p:cNvPr id="33" name="Oval 32"/>
          <p:cNvSpPr/>
          <p:nvPr/>
        </p:nvSpPr>
        <p:spPr>
          <a:xfrm>
            <a:off x="5720943" y="3858768"/>
            <a:ext cx="50800" cy="508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867247" y="3767328"/>
            <a:ext cx="3928719" cy="27432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景品表示法で使えない表現</a:t>
            </a:r>
          </a:p>
        </p:txBody>
      </p:sp>
      <p:sp>
        <p:nvSpPr>
          <p:cNvPr id="35" name="Rectangle 34"/>
          <p:cNvSpPr/>
          <p:nvPr/>
        </p:nvSpPr>
        <p:spPr>
          <a:xfrm>
            <a:off x="658368" y="4242816"/>
            <a:ext cx="9375343" cy="91440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4400" y="4389120"/>
            <a:ext cx="8863279" cy="640080"/>
          </a:xfrm>
          <a:prstGeom prst="rect">
            <a:avLst/>
          </a:prstGeom>
          <a:noFill/>
        </p:spPr>
        <p:txBody>
          <a:bodyPr wrap="square" anchor="t" lIns="0" rIns="0" tIns="0" bIns="0">
            <a:spAutoFit/>
          </a:bodyPr>
          <a:lstStyle/>
          <a:p>
            <a:pPr algn="l">
              <a:lnSpc>
                <a:spcPct val="155000"/>
              </a:lnSpc>
              <a:spcAft>
                <a:spcPts val="0"/>
              </a:spcAft>
            </a:pPr>
            <a:r>
              <a:rPr sz="1200" b="0">
                <a:solidFill>
                  <a:srgbClr val="1A2233"/>
                </a:solidFill>
                <a:latin typeface="游ゴシック"/>
                <a:ea typeface="游ゴシック"/>
              </a:rPr>
              <a:t>たとえば飲食店の記事で「明石浦漁港から毎朝直送」「JR大阪駅から徒歩6分」と書けるかどうかで、記事の説得力はまったく変わります。AI検索も、固有の地名・食材名・産地を手がかりに引用します。経理代行に席数を伺っても意味がないように、必要な材料は業種ごとに違います。</a:t>
            </a:r>
          </a:p>
        </p:txBody>
      </p:sp>
      <p:sp>
        <p:nvSpPr>
          <p:cNvPr id="37" name="Rectangle 3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上記以外の業種も、同じ考え方で専用シートをご用意します（クリニック・士業・工務店など）。</a:t>
            </a:r>
          </a:p>
        </p:txBody>
      </p:sp>
      <p:sp>
        <p:nvSpPr>
          <p:cNvPr id="39" name="TextBox 38"/>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12</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品質を落とさない四重の検査</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「気をつける」では品質は保てません。基準を割った記事が物理的に公開できない形にしてあります。</a:t>
            </a:r>
          </a:p>
        </p:txBody>
      </p:sp>
      <p:sp>
        <p:nvSpPr>
          <p:cNvPr id="6" name="Rectangle 5"/>
          <p:cNvSpPr/>
          <p:nvPr/>
        </p:nvSpPr>
        <p:spPr>
          <a:xfrm>
            <a:off x="658368" y="1517904"/>
            <a:ext cx="9375343" cy="877824"/>
          </a:xfrm>
          <a:prstGeom prst="rect">
            <a:avLst/>
          </a:prstGeom>
          <a:solidFill>
            <a:srgbClr val="FFFFFF"/>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1517904"/>
            <a:ext cx="44450" cy="8778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96112" y="1655064"/>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構成の事前審査</a:t>
            </a:r>
          </a:p>
        </p:txBody>
      </p:sp>
      <p:sp>
        <p:nvSpPr>
          <p:cNvPr id="9" name="Rectangle 8"/>
          <p:cNvSpPr/>
          <p:nvPr/>
        </p:nvSpPr>
        <p:spPr>
          <a:xfrm>
            <a:off x="3858768" y="1636776"/>
            <a:ext cx="1920240" cy="292608"/>
          </a:xfrm>
          <a:prstGeom prst="rect">
            <a:avLst/>
          </a:prstGeom>
          <a:solidFill>
            <a:srgbClr val="F5F8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858768" y="1691640"/>
            <a:ext cx="1920240" cy="219456"/>
          </a:xfrm>
          <a:prstGeom prst="rect">
            <a:avLst/>
          </a:prstGeom>
          <a:noFill/>
        </p:spPr>
        <p:txBody>
          <a:bodyPr wrap="square" anchor="t" lIns="0" rIns="0" tIns="0" bIns="0">
            <a:spAutoFit/>
          </a:bodyPr>
          <a:lstStyle/>
          <a:p>
            <a:pPr algn="ctr">
              <a:spcAft>
                <a:spcPts val="0"/>
              </a:spcAft>
            </a:pPr>
            <a:r>
              <a:rPr sz="1100" b="1">
                <a:solidFill>
                  <a:srgbClr val="2563EB"/>
                </a:solidFill>
                <a:latin typeface="游ゴシック"/>
                <a:ea typeface="游ゴシック"/>
              </a:rPr>
              <a:t>14項目</a:t>
            </a:r>
          </a:p>
        </p:txBody>
      </p:sp>
      <p:sp>
        <p:nvSpPr>
          <p:cNvPr id="11" name="TextBox 10"/>
          <p:cNvSpPr txBox="1"/>
          <p:nvPr/>
        </p:nvSpPr>
        <p:spPr>
          <a:xfrm>
            <a:off x="896112" y="2011680"/>
            <a:ext cx="8826703" cy="34747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書き始める前に構成を審査。タイトル字数・見出し設計・結論の草案・出典候補・内部リンク先まで確認する</a:t>
            </a:r>
          </a:p>
        </p:txBody>
      </p:sp>
      <p:sp>
        <p:nvSpPr>
          <p:cNvPr id="12" name="Rectangle 11"/>
          <p:cNvSpPr/>
          <p:nvPr/>
        </p:nvSpPr>
        <p:spPr>
          <a:xfrm>
            <a:off x="658368" y="2560319"/>
            <a:ext cx="9375343" cy="877824"/>
          </a:xfrm>
          <a:prstGeom prst="rect">
            <a:avLst/>
          </a:prstGeom>
          <a:solidFill>
            <a:srgbClr val="FFFFFF"/>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8368" y="2560319"/>
            <a:ext cx="44450" cy="8778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2697479"/>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機械採点</a:t>
            </a:r>
          </a:p>
        </p:txBody>
      </p:sp>
      <p:sp>
        <p:nvSpPr>
          <p:cNvPr id="15" name="Rectangle 14"/>
          <p:cNvSpPr/>
          <p:nvPr/>
        </p:nvSpPr>
        <p:spPr>
          <a:xfrm>
            <a:off x="3858768" y="2679191"/>
            <a:ext cx="1920240" cy="292608"/>
          </a:xfrm>
          <a:prstGeom prst="rect">
            <a:avLst/>
          </a:prstGeom>
          <a:solidFill>
            <a:srgbClr val="F5F8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58768" y="2734055"/>
            <a:ext cx="1920240" cy="219456"/>
          </a:xfrm>
          <a:prstGeom prst="rect">
            <a:avLst/>
          </a:prstGeom>
          <a:noFill/>
        </p:spPr>
        <p:txBody>
          <a:bodyPr wrap="square" anchor="t" lIns="0" rIns="0" tIns="0" bIns="0">
            <a:spAutoFit/>
          </a:bodyPr>
          <a:lstStyle/>
          <a:p>
            <a:pPr algn="ctr">
              <a:spcAft>
                <a:spcPts val="0"/>
              </a:spcAft>
            </a:pPr>
            <a:r>
              <a:rPr sz="1100" b="1">
                <a:solidFill>
                  <a:srgbClr val="2563EB"/>
                </a:solidFill>
                <a:latin typeface="游ゴシック"/>
                <a:ea typeface="游ゴシック"/>
              </a:rPr>
              <a:t>18項目</a:t>
            </a:r>
          </a:p>
        </p:txBody>
      </p:sp>
      <p:sp>
        <p:nvSpPr>
          <p:cNvPr id="17" name="TextBox 16"/>
          <p:cNvSpPr txBox="1"/>
          <p:nvPr/>
        </p:nvSpPr>
        <p:spPr>
          <a:xfrm>
            <a:off x="896112" y="3054095"/>
            <a:ext cx="8826703" cy="34747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文字数・強調の数・FAQ数・リンク数・見出し構造・AI感のNGワードなど、数えられるものを機械が判定</a:t>
            </a:r>
          </a:p>
        </p:txBody>
      </p:sp>
      <p:sp>
        <p:nvSpPr>
          <p:cNvPr id="18" name="Rectangle 17"/>
          <p:cNvSpPr/>
          <p:nvPr/>
        </p:nvSpPr>
        <p:spPr>
          <a:xfrm>
            <a:off x="658368" y="3602734"/>
            <a:ext cx="9375343" cy="877824"/>
          </a:xfrm>
          <a:prstGeom prst="rect">
            <a:avLst/>
          </a:prstGeom>
          <a:solidFill>
            <a:srgbClr val="FFFFFF"/>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602734"/>
            <a:ext cx="44450" cy="8778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96112" y="3739894"/>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別工程の採点</a:t>
            </a:r>
          </a:p>
        </p:txBody>
      </p:sp>
      <p:sp>
        <p:nvSpPr>
          <p:cNvPr id="21" name="Rectangle 20"/>
          <p:cNvSpPr/>
          <p:nvPr/>
        </p:nvSpPr>
        <p:spPr>
          <a:xfrm>
            <a:off x="3858768" y="3721606"/>
            <a:ext cx="1920240" cy="292608"/>
          </a:xfrm>
          <a:prstGeom prst="rect">
            <a:avLst/>
          </a:prstGeom>
          <a:solidFill>
            <a:srgbClr val="F5F8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858768" y="3776470"/>
            <a:ext cx="1920240" cy="219456"/>
          </a:xfrm>
          <a:prstGeom prst="rect">
            <a:avLst/>
          </a:prstGeom>
          <a:noFill/>
        </p:spPr>
        <p:txBody>
          <a:bodyPr wrap="square" anchor="t" lIns="0" rIns="0" tIns="0" bIns="0">
            <a:spAutoFit/>
          </a:bodyPr>
          <a:lstStyle/>
          <a:p>
            <a:pPr algn="ctr">
              <a:spcAft>
                <a:spcPts val="0"/>
              </a:spcAft>
            </a:pPr>
            <a:r>
              <a:rPr sz="1100" b="1">
                <a:solidFill>
                  <a:srgbClr val="2563EB"/>
                </a:solidFill>
                <a:latin typeface="游ゴシック"/>
                <a:ea typeface="游ゴシック"/>
              </a:rPr>
              <a:t>3観点×100点</a:t>
            </a:r>
          </a:p>
        </p:txBody>
      </p:sp>
      <p:sp>
        <p:nvSpPr>
          <p:cNvPr id="23" name="TextBox 22"/>
          <p:cNvSpPr txBox="1"/>
          <p:nvPr/>
        </p:nvSpPr>
        <p:spPr>
          <a:xfrm>
            <a:off x="896112" y="4096510"/>
            <a:ext cx="8826703" cy="34747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一次性／抽出性／決定支援。執筆とは別の工程が本文だけを読んで採点。1観点でも80点未満なら、総合が高くても不合格</a:t>
            </a:r>
          </a:p>
        </p:txBody>
      </p:sp>
      <p:sp>
        <p:nvSpPr>
          <p:cNvPr id="24" name="Rectangle 23"/>
          <p:cNvSpPr/>
          <p:nvPr/>
        </p:nvSpPr>
        <p:spPr>
          <a:xfrm>
            <a:off x="658368" y="4645149"/>
            <a:ext cx="9375343" cy="877824"/>
          </a:xfrm>
          <a:prstGeom prst="rect">
            <a:avLst/>
          </a:prstGeom>
          <a:solidFill>
            <a:srgbClr val="FFFFFF"/>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4645149"/>
            <a:ext cx="44450" cy="8778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96112" y="4782309"/>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公開時の物理ガード</a:t>
            </a:r>
          </a:p>
        </p:txBody>
      </p:sp>
      <p:sp>
        <p:nvSpPr>
          <p:cNvPr id="27" name="Rectangle 26"/>
          <p:cNvSpPr/>
          <p:nvPr/>
        </p:nvSpPr>
        <p:spPr>
          <a:xfrm>
            <a:off x="3858768" y="4764021"/>
            <a:ext cx="1920240" cy="292608"/>
          </a:xfrm>
          <a:prstGeom prst="rect">
            <a:avLst/>
          </a:prstGeom>
          <a:solidFill>
            <a:srgbClr val="F5F8FC"/>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858768" y="4818885"/>
            <a:ext cx="1920240" cy="219456"/>
          </a:xfrm>
          <a:prstGeom prst="rect">
            <a:avLst/>
          </a:prstGeom>
          <a:noFill/>
        </p:spPr>
        <p:txBody>
          <a:bodyPr wrap="square" anchor="t" lIns="0" rIns="0" tIns="0" bIns="0">
            <a:spAutoFit/>
          </a:bodyPr>
          <a:lstStyle/>
          <a:p>
            <a:pPr algn="ctr">
              <a:spcAft>
                <a:spcPts val="0"/>
              </a:spcAft>
            </a:pPr>
            <a:r>
              <a:rPr sz="1100" b="1">
                <a:solidFill>
                  <a:srgbClr val="B42318"/>
                </a:solidFill>
                <a:latin typeface="游ゴシック"/>
                <a:ea typeface="游ゴシック"/>
              </a:rPr>
              <a:t>90点未満は公開不可</a:t>
            </a:r>
          </a:p>
        </p:txBody>
      </p:sp>
      <p:sp>
        <p:nvSpPr>
          <p:cNvPr id="29" name="TextBox 28"/>
          <p:cNvSpPr txBox="1"/>
          <p:nvPr/>
        </p:nvSpPr>
        <p:spPr>
          <a:xfrm>
            <a:off x="896112" y="5138925"/>
            <a:ext cx="8826703" cy="347472"/>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基準に届かない記事は、システム上サイトに載せられない。「とりあえず出す」が構造的に起きない</a:t>
            </a:r>
          </a:p>
        </p:txBody>
      </p:sp>
      <p:sp>
        <p:nvSpPr>
          <p:cNvPr id="30" name="Rectangle 2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90点は「公開してよい最低ライン」であり、目標ではありません。推奨水準は95点以上です。</a:t>
            </a:r>
          </a:p>
        </p:txBody>
      </p:sp>
      <p:sp>
        <p:nvSpPr>
          <p:cNvPr id="32" name="TextBox 31"/>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13</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機械が数える19項目</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数えられるものを人に採点させません。全項目が通るまで、人による採点に進みません。</a:t>
            </a:r>
          </a:p>
        </p:txBody>
      </p:sp>
      <p:sp>
        <p:nvSpPr>
          <p:cNvPr id="6" name="TextBox 5"/>
          <p:cNvSpPr txBox="1"/>
          <p:nvPr/>
        </p:nvSpPr>
        <p:spPr>
          <a:xfrm>
            <a:off x="658368" y="1517904"/>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7" name="TextBox 6"/>
          <p:cNvSpPr txBox="1"/>
          <p:nvPr/>
        </p:nvSpPr>
        <p:spPr>
          <a:xfrm>
            <a:off x="896112" y="1517904"/>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規定字数以上</a:t>
            </a:r>
          </a:p>
        </p:txBody>
      </p:sp>
      <p:sp>
        <p:nvSpPr>
          <p:cNvPr id="8" name="TextBox 7"/>
          <p:cNvSpPr txBox="1"/>
          <p:nvPr/>
        </p:nvSpPr>
        <p:spPr>
          <a:xfrm>
            <a:off x="3844442" y="1517904"/>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9" name="TextBox 8"/>
          <p:cNvSpPr txBox="1"/>
          <p:nvPr/>
        </p:nvSpPr>
        <p:spPr>
          <a:xfrm>
            <a:off x="4082186" y="1517904"/>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強調が12〜18箇所</a:t>
            </a:r>
          </a:p>
        </p:txBody>
      </p:sp>
      <p:sp>
        <p:nvSpPr>
          <p:cNvPr id="10" name="TextBox 9"/>
          <p:cNvSpPr txBox="1"/>
          <p:nvPr/>
        </p:nvSpPr>
        <p:spPr>
          <a:xfrm>
            <a:off x="7030516" y="1517904"/>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11" name="TextBox 10"/>
          <p:cNvSpPr txBox="1"/>
          <p:nvPr/>
        </p:nvSpPr>
        <p:spPr>
          <a:xfrm>
            <a:off x="7268260" y="1517904"/>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冒頭が断言型・80字以上</a:t>
            </a:r>
          </a:p>
        </p:txBody>
      </p:sp>
      <p:sp>
        <p:nvSpPr>
          <p:cNvPr id="12" name="TextBox 11"/>
          <p:cNvSpPr txBox="1"/>
          <p:nvPr/>
        </p:nvSpPr>
        <p:spPr>
          <a:xfrm>
            <a:off x="658368" y="1938528"/>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13" name="TextBox 12"/>
          <p:cNvSpPr txBox="1"/>
          <p:nvPr/>
        </p:nvSpPr>
        <p:spPr>
          <a:xfrm>
            <a:off x="896112" y="1938528"/>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対象読者の明記</a:t>
            </a:r>
          </a:p>
        </p:txBody>
      </p:sp>
      <p:sp>
        <p:nvSpPr>
          <p:cNvPr id="14" name="TextBox 13"/>
          <p:cNvSpPr txBox="1"/>
          <p:nvPr/>
        </p:nvSpPr>
        <p:spPr>
          <a:xfrm>
            <a:off x="3844442" y="1938528"/>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15" name="TextBox 14"/>
          <p:cNvSpPr txBox="1"/>
          <p:nvPr/>
        </p:nvSpPr>
        <p:spPr>
          <a:xfrm>
            <a:off x="4082186" y="1938528"/>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鮮度表記（◯年◯月時点）</a:t>
            </a:r>
          </a:p>
        </p:txBody>
      </p:sp>
      <p:sp>
        <p:nvSpPr>
          <p:cNvPr id="16" name="TextBox 15"/>
          <p:cNvSpPr txBox="1"/>
          <p:nvPr/>
        </p:nvSpPr>
        <p:spPr>
          <a:xfrm>
            <a:off x="7030516" y="1938528"/>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17" name="TextBox 16"/>
          <p:cNvSpPr txBox="1"/>
          <p:nvPr/>
        </p:nvSpPr>
        <p:spPr>
          <a:xfrm>
            <a:off x="7268260" y="1938528"/>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用語の定義ブロック</a:t>
            </a:r>
          </a:p>
        </p:txBody>
      </p:sp>
      <p:sp>
        <p:nvSpPr>
          <p:cNvPr id="18" name="TextBox 17"/>
          <p:cNvSpPr txBox="1"/>
          <p:nvPr/>
        </p:nvSpPr>
        <p:spPr>
          <a:xfrm>
            <a:off x="658368" y="2359152"/>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19" name="TextBox 18"/>
          <p:cNvSpPr txBox="1"/>
          <p:nvPr/>
        </p:nvSpPr>
        <p:spPr>
          <a:xfrm>
            <a:off x="896112" y="2359152"/>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比較テーブル</a:t>
            </a:r>
          </a:p>
        </p:txBody>
      </p:sp>
      <p:sp>
        <p:nvSpPr>
          <p:cNvPr id="20" name="TextBox 19"/>
          <p:cNvSpPr txBox="1"/>
          <p:nvPr/>
        </p:nvSpPr>
        <p:spPr>
          <a:xfrm>
            <a:off x="3844442" y="2359152"/>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21" name="TextBox 20"/>
          <p:cNvSpPr txBox="1"/>
          <p:nvPr/>
        </p:nvSpPr>
        <p:spPr>
          <a:xfrm>
            <a:off x="4082186" y="2359152"/>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失敗例・注意点の節</a:t>
            </a:r>
          </a:p>
        </p:txBody>
      </p:sp>
      <p:sp>
        <p:nvSpPr>
          <p:cNvPr id="22" name="TextBox 21"/>
          <p:cNvSpPr txBox="1"/>
          <p:nvPr/>
        </p:nvSpPr>
        <p:spPr>
          <a:xfrm>
            <a:off x="7030516" y="2359152"/>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23" name="TextBox 22"/>
          <p:cNvSpPr txBox="1"/>
          <p:nvPr/>
        </p:nvSpPr>
        <p:spPr>
          <a:xfrm>
            <a:off x="7268260" y="2359152"/>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見出しが6〜12個</a:t>
            </a:r>
          </a:p>
        </p:txBody>
      </p:sp>
      <p:sp>
        <p:nvSpPr>
          <p:cNvPr id="24" name="TextBox 23"/>
          <p:cNvSpPr txBox="1"/>
          <p:nvPr/>
        </p:nvSpPr>
        <p:spPr>
          <a:xfrm>
            <a:off x="658368" y="2779776"/>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25" name="TextBox 24"/>
          <p:cNvSpPr txBox="1"/>
          <p:nvPr/>
        </p:nvSpPr>
        <p:spPr>
          <a:xfrm>
            <a:off x="896112" y="2779776"/>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全見出し直下がリード文</a:t>
            </a:r>
          </a:p>
        </p:txBody>
      </p:sp>
      <p:sp>
        <p:nvSpPr>
          <p:cNvPr id="26" name="TextBox 25"/>
          <p:cNvSpPr txBox="1"/>
          <p:nvPr/>
        </p:nvSpPr>
        <p:spPr>
          <a:xfrm>
            <a:off x="3844442" y="2779776"/>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27" name="TextBox 26"/>
          <p:cNvSpPr txBox="1"/>
          <p:nvPr/>
        </p:nvSpPr>
        <p:spPr>
          <a:xfrm>
            <a:off x="4082186" y="2779776"/>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FAQ 5問以上</a:t>
            </a:r>
          </a:p>
        </p:txBody>
      </p:sp>
      <p:sp>
        <p:nvSpPr>
          <p:cNvPr id="28" name="TextBox 27"/>
          <p:cNvSpPr txBox="1"/>
          <p:nvPr/>
        </p:nvSpPr>
        <p:spPr>
          <a:xfrm>
            <a:off x="7030516" y="2779776"/>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29" name="TextBox 28"/>
          <p:cNvSpPr txBox="1"/>
          <p:nvPr/>
        </p:nvSpPr>
        <p:spPr>
          <a:xfrm>
            <a:off x="7268260" y="2779776"/>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FAQ回答が40〜60字</a:t>
            </a:r>
          </a:p>
        </p:txBody>
      </p:sp>
      <p:sp>
        <p:nvSpPr>
          <p:cNvPr id="30" name="TextBox 29"/>
          <p:cNvSpPr txBox="1"/>
          <p:nvPr/>
        </p:nvSpPr>
        <p:spPr>
          <a:xfrm>
            <a:off x="658368" y="3200400"/>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31" name="TextBox 30"/>
          <p:cNvSpPr txBox="1"/>
          <p:nvPr/>
        </p:nvSpPr>
        <p:spPr>
          <a:xfrm>
            <a:off x="896112" y="3200400"/>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本文FAQと構造化データが一致</a:t>
            </a:r>
          </a:p>
        </p:txBody>
      </p:sp>
      <p:sp>
        <p:nvSpPr>
          <p:cNvPr id="32" name="TextBox 31"/>
          <p:cNvSpPr txBox="1"/>
          <p:nvPr/>
        </p:nvSpPr>
        <p:spPr>
          <a:xfrm>
            <a:off x="3844442" y="3200400"/>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33" name="TextBox 32"/>
          <p:cNvSpPr txBox="1"/>
          <p:nvPr/>
        </p:nvSpPr>
        <p:spPr>
          <a:xfrm>
            <a:off x="4082186" y="3200400"/>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内部リンク3本以上</a:t>
            </a:r>
          </a:p>
        </p:txBody>
      </p:sp>
      <p:sp>
        <p:nvSpPr>
          <p:cNvPr id="34" name="TextBox 33"/>
          <p:cNvSpPr txBox="1"/>
          <p:nvPr/>
        </p:nvSpPr>
        <p:spPr>
          <a:xfrm>
            <a:off x="7030516" y="3200400"/>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35" name="TextBox 34"/>
          <p:cNvSpPr txBox="1"/>
          <p:nvPr/>
        </p:nvSpPr>
        <p:spPr>
          <a:xfrm>
            <a:off x="7268260" y="3200400"/>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外部の出典2本以上</a:t>
            </a:r>
          </a:p>
        </p:txBody>
      </p:sp>
      <p:sp>
        <p:nvSpPr>
          <p:cNvPr id="36" name="TextBox 35"/>
          <p:cNvSpPr txBox="1"/>
          <p:nvPr/>
        </p:nvSpPr>
        <p:spPr>
          <a:xfrm>
            <a:off x="658368" y="3621024"/>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37" name="TextBox 36"/>
          <p:cNvSpPr txBox="1"/>
          <p:nvPr/>
        </p:nvSpPr>
        <p:spPr>
          <a:xfrm>
            <a:off x="896112" y="3621024"/>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自社の一次情報がある</a:t>
            </a:r>
          </a:p>
        </p:txBody>
      </p:sp>
      <p:sp>
        <p:nvSpPr>
          <p:cNvPr id="38" name="TextBox 37"/>
          <p:cNvSpPr txBox="1"/>
          <p:nvPr/>
        </p:nvSpPr>
        <p:spPr>
          <a:xfrm>
            <a:off x="3844442" y="3621024"/>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39" name="TextBox 38"/>
          <p:cNvSpPr txBox="1"/>
          <p:nvPr/>
        </p:nvSpPr>
        <p:spPr>
          <a:xfrm>
            <a:off x="4082186" y="3621024"/>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一人称の体験が2箇所以上</a:t>
            </a:r>
          </a:p>
        </p:txBody>
      </p:sp>
      <p:sp>
        <p:nvSpPr>
          <p:cNvPr id="40" name="TextBox 39"/>
          <p:cNvSpPr txBox="1"/>
          <p:nvPr/>
        </p:nvSpPr>
        <p:spPr>
          <a:xfrm>
            <a:off x="7030516" y="3621024"/>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41" name="TextBox 40"/>
          <p:cNvSpPr txBox="1"/>
          <p:nvPr/>
        </p:nvSpPr>
        <p:spPr>
          <a:xfrm>
            <a:off x="7268260" y="3621024"/>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「これにより」がゼロ</a:t>
            </a:r>
          </a:p>
        </p:txBody>
      </p:sp>
      <p:sp>
        <p:nvSpPr>
          <p:cNvPr id="42" name="TextBox 41"/>
          <p:cNvSpPr txBox="1"/>
          <p:nvPr/>
        </p:nvSpPr>
        <p:spPr>
          <a:xfrm>
            <a:off x="658368" y="4041648"/>
            <a:ext cx="201168" cy="256032"/>
          </a:xfrm>
          <a:prstGeom prst="rect">
            <a:avLst/>
          </a:prstGeom>
          <a:noFill/>
        </p:spPr>
        <p:txBody>
          <a:bodyPr wrap="square" anchor="t" lIns="0" rIns="0" tIns="0" bIns="0">
            <a:spAutoFit/>
          </a:bodyPr>
          <a:lstStyle/>
          <a:p>
            <a:pPr algn="l">
              <a:spcAft>
                <a:spcPts val="0"/>
              </a:spcAft>
            </a:pPr>
            <a:r>
              <a:rPr sz="1200" b="1">
                <a:solidFill>
                  <a:srgbClr val="0D9488"/>
                </a:solidFill>
                <a:latin typeface="游ゴシック"/>
                <a:ea typeface="游ゴシック"/>
              </a:rPr>
              <a:t>✓</a:t>
            </a:r>
          </a:p>
        </p:txBody>
      </p:sp>
      <p:sp>
        <p:nvSpPr>
          <p:cNvPr id="43" name="TextBox 42"/>
          <p:cNvSpPr txBox="1"/>
          <p:nvPr/>
        </p:nvSpPr>
        <p:spPr>
          <a:xfrm>
            <a:off x="896112" y="4041648"/>
            <a:ext cx="2728874" cy="274320"/>
          </a:xfrm>
          <a:prstGeom prst="rect">
            <a:avLst/>
          </a:prstGeom>
          <a:noFill/>
        </p:spPr>
        <p:txBody>
          <a:bodyPr wrap="square" anchor="t" lIns="0" rIns="0" tIns="0" bIns="0">
            <a:spAutoFit/>
          </a:bodyPr>
          <a:lstStyle/>
          <a:p>
            <a:pPr algn="l">
              <a:spcAft>
                <a:spcPts val="0"/>
              </a:spcAft>
            </a:pPr>
            <a:r>
              <a:rPr sz="1200" b="0">
                <a:solidFill>
                  <a:srgbClr val="1A2233"/>
                </a:solidFill>
                <a:latin typeface="游ゴシック"/>
                <a:ea typeface="游ゴシック"/>
              </a:rPr>
              <a:t>「重要です」が3回以下</a:t>
            </a:r>
          </a:p>
        </p:txBody>
      </p:sp>
      <p:sp>
        <p:nvSpPr>
          <p:cNvPr id="44" name="Rectangle 43"/>
          <p:cNvSpPr/>
          <p:nvPr/>
        </p:nvSpPr>
        <p:spPr>
          <a:xfrm>
            <a:off x="658368" y="4700016"/>
            <a:ext cx="9375343" cy="86868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14400" y="4873752"/>
            <a:ext cx="8863279" cy="548640"/>
          </a:xfrm>
          <a:prstGeom prst="rect">
            <a:avLst/>
          </a:prstGeom>
          <a:noFill/>
        </p:spPr>
        <p:txBody>
          <a:bodyPr wrap="square" anchor="t" lIns="0" rIns="0" tIns="0" bIns="0">
            <a:spAutoFit/>
          </a:bodyPr>
          <a:lstStyle/>
          <a:p>
            <a:pPr algn="l">
              <a:lnSpc>
                <a:spcPct val="150000"/>
              </a:lnSpc>
              <a:spcAft>
                <a:spcPts val="0"/>
              </a:spcAft>
            </a:pPr>
            <a:r>
              <a:rPr sz="1200" b="0">
                <a:solidFill>
                  <a:srgbClr val="1A2233"/>
                </a:solidFill>
                <a:latin typeface="游ゴシック"/>
                <a:ea typeface="游ゴシック"/>
              </a:rPr>
              <a:t>このほかに、公開は止めないが後で直す警告が2項目あります（段落が200字以内・長すぎる文の割合）。警告つきで公開された記事は、日次の監査で順次直します。</a:t>
            </a:r>
          </a:p>
        </p:txBody>
      </p:sp>
      <p:sp>
        <p:nvSpPr>
          <p:cNvPr id="46" name="Rectangle 45"/>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14</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効かなかった記事を、毎週自動で直します</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「対策した」と「効果があった」は別物です。直した日の前後で同じ日数を比べ、効いたかどうかを数字で判定します。</a:t>
            </a:r>
          </a:p>
        </p:txBody>
      </p:sp>
      <p:sp>
        <p:nvSpPr>
          <p:cNvPr id="6" name="Rectangle 5"/>
          <p:cNvSpPr/>
          <p:nvPr/>
        </p:nvSpPr>
        <p:spPr>
          <a:xfrm>
            <a:off x="658368" y="1517904"/>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1591056"/>
            <a:ext cx="2629722"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数字の状態</a:t>
            </a:r>
          </a:p>
        </p:txBody>
      </p:sp>
      <p:sp>
        <p:nvSpPr>
          <p:cNvPr id="8" name="TextBox 7"/>
          <p:cNvSpPr txBox="1"/>
          <p:nvPr/>
        </p:nvSpPr>
        <p:spPr>
          <a:xfrm>
            <a:off x="3598986" y="1591056"/>
            <a:ext cx="1317174"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判定</a:t>
            </a:r>
          </a:p>
        </p:txBody>
      </p:sp>
      <p:sp>
        <p:nvSpPr>
          <p:cNvPr id="9" name="TextBox 8"/>
          <p:cNvSpPr txBox="1"/>
          <p:nvPr/>
        </p:nvSpPr>
        <p:spPr>
          <a:xfrm>
            <a:off x="5099040" y="1591056"/>
            <a:ext cx="4879805"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やること</a:t>
            </a:r>
          </a:p>
        </p:txBody>
      </p:sp>
      <p:sp>
        <p:nvSpPr>
          <p:cNvPr id="10" name="Rectangle 9"/>
          <p:cNvSpPr/>
          <p:nvPr/>
        </p:nvSpPr>
        <p:spPr>
          <a:xfrm>
            <a:off x="658368" y="245059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947672"/>
            <a:ext cx="2593146" cy="493776"/>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表示20回以上 / クリック0 / 20位以内</a:t>
            </a:r>
          </a:p>
        </p:txBody>
      </p:sp>
      <p:sp>
        <p:nvSpPr>
          <p:cNvPr id="12" name="TextBox 11"/>
          <p:cNvSpPr txBox="1"/>
          <p:nvPr/>
        </p:nvSpPr>
        <p:spPr>
          <a:xfrm>
            <a:off x="3598986" y="1947672"/>
            <a:ext cx="1280598" cy="493776"/>
          </a:xfrm>
          <a:prstGeom prst="rect">
            <a:avLst/>
          </a:prstGeom>
          <a:noFill/>
        </p:spPr>
        <p:txBody>
          <a:bodyPr wrap="square" anchor="t" lIns="0" rIns="0" tIns="0" bIns="0">
            <a:spAutoFit/>
          </a:bodyPr>
          <a:lstStyle/>
          <a:p>
            <a:pPr algn="l">
              <a:lnSpc>
                <a:spcPct val="130000"/>
              </a:lnSpc>
              <a:spcAft>
                <a:spcPts val="0"/>
              </a:spcAft>
            </a:pPr>
            <a:r>
              <a:rPr sz="1200" b="1">
                <a:solidFill>
                  <a:srgbClr val="B42318"/>
                </a:solidFill>
                <a:latin typeface="游ゴシック"/>
                <a:ea typeface="游ゴシック"/>
              </a:rPr>
              <a:t>タイトルの問題</a:t>
            </a:r>
          </a:p>
        </p:txBody>
      </p:sp>
      <p:sp>
        <p:nvSpPr>
          <p:cNvPr id="13" name="TextBox 12"/>
          <p:cNvSpPr txBox="1"/>
          <p:nvPr/>
        </p:nvSpPr>
        <p:spPr>
          <a:xfrm>
            <a:off x="5099040" y="1947672"/>
            <a:ext cx="4843229" cy="493776"/>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人が直します。検索結果には出せないもの（失敗例・自社の実測）をタイトルに置く</a:t>
            </a:r>
          </a:p>
        </p:txBody>
      </p:sp>
      <p:sp>
        <p:nvSpPr>
          <p:cNvPr id="14" name="Rectangle 13"/>
          <p:cNvSpPr/>
          <p:nvPr/>
        </p:nvSpPr>
        <p:spPr>
          <a:xfrm>
            <a:off x="658368" y="2450592"/>
            <a:ext cx="9375343"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303580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86384" y="2532888"/>
            <a:ext cx="2593146" cy="493776"/>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表示20回以上 / 21位以下</a:t>
            </a:r>
          </a:p>
        </p:txBody>
      </p:sp>
      <p:sp>
        <p:nvSpPr>
          <p:cNvPr id="17" name="TextBox 16"/>
          <p:cNvSpPr txBox="1"/>
          <p:nvPr/>
        </p:nvSpPr>
        <p:spPr>
          <a:xfrm>
            <a:off x="3598986" y="2532888"/>
            <a:ext cx="1280598" cy="493776"/>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順位が足りない</a:t>
            </a:r>
          </a:p>
        </p:txBody>
      </p:sp>
      <p:sp>
        <p:nvSpPr>
          <p:cNvPr id="18" name="TextBox 17"/>
          <p:cNvSpPr txBox="1"/>
          <p:nvPr/>
        </p:nvSpPr>
        <p:spPr>
          <a:xfrm>
            <a:off x="5099040" y="2532888"/>
            <a:ext cx="4843229" cy="493776"/>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機械が直します。関連記事から内部リンクを送って押し上げる</a:t>
            </a:r>
          </a:p>
        </p:txBody>
      </p:sp>
      <p:sp>
        <p:nvSpPr>
          <p:cNvPr id="19" name="Rectangle 18"/>
          <p:cNvSpPr/>
          <p:nvPr/>
        </p:nvSpPr>
        <p:spPr>
          <a:xfrm>
            <a:off x="658368" y="362102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86384" y="3118104"/>
            <a:ext cx="2593146" cy="493776"/>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表示が0.7倍未満に減少</a:t>
            </a:r>
          </a:p>
        </p:txBody>
      </p:sp>
      <p:sp>
        <p:nvSpPr>
          <p:cNvPr id="21" name="TextBox 20"/>
          <p:cNvSpPr txBox="1"/>
          <p:nvPr/>
        </p:nvSpPr>
        <p:spPr>
          <a:xfrm>
            <a:off x="3598986" y="3118104"/>
            <a:ext cx="1280598" cy="493776"/>
          </a:xfrm>
          <a:prstGeom prst="rect">
            <a:avLst/>
          </a:prstGeom>
          <a:noFill/>
        </p:spPr>
        <p:txBody>
          <a:bodyPr wrap="square" anchor="t" lIns="0" rIns="0" tIns="0" bIns="0">
            <a:spAutoFit/>
          </a:bodyPr>
          <a:lstStyle/>
          <a:p>
            <a:pPr algn="l">
              <a:lnSpc>
                <a:spcPct val="130000"/>
              </a:lnSpc>
              <a:spcAft>
                <a:spcPts val="0"/>
              </a:spcAft>
            </a:pPr>
            <a:r>
              <a:rPr sz="1200" b="1">
                <a:solidFill>
                  <a:srgbClr val="B42318"/>
                </a:solidFill>
                <a:latin typeface="游ゴシック"/>
                <a:ea typeface="游ゴシック"/>
              </a:rPr>
              <a:t>意図とのずれ</a:t>
            </a:r>
          </a:p>
        </p:txBody>
      </p:sp>
      <p:sp>
        <p:nvSpPr>
          <p:cNvPr id="22" name="TextBox 21"/>
          <p:cNvSpPr txBox="1"/>
          <p:nvPr/>
        </p:nvSpPr>
        <p:spPr>
          <a:xfrm>
            <a:off x="5099040" y="3118104"/>
            <a:ext cx="4843229" cy="493776"/>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人が直します。直した内容が検索意図とずれていないかを見直す</a:t>
            </a:r>
          </a:p>
        </p:txBody>
      </p:sp>
      <p:sp>
        <p:nvSpPr>
          <p:cNvPr id="23" name="Rectangle 22"/>
          <p:cNvSpPr/>
          <p:nvPr/>
        </p:nvSpPr>
        <p:spPr>
          <a:xfrm>
            <a:off x="658368" y="3858768"/>
            <a:ext cx="9375343" cy="11887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3858768"/>
            <a:ext cx="38100" cy="11887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32688" y="4032504"/>
            <a:ext cx="8826703"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自動化するもの・しないものを分けています</a:t>
            </a:r>
          </a:p>
        </p:txBody>
      </p:sp>
      <p:sp>
        <p:nvSpPr>
          <p:cNvPr id="26" name="TextBox 25"/>
          <p:cNvSpPr txBox="1"/>
          <p:nvPr/>
        </p:nvSpPr>
        <p:spPr>
          <a:xfrm>
            <a:off x="932688" y="4379975"/>
            <a:ext cx="8826703" cy="566928"/>
          </a:xfrm>
          <a:prstGeom prst="rect">
            <a:avLst/>
          </a:prstGeom>
          <a:noFill/>
        </p:spPr>
        <p:txBody>
          <a:bodyPr wrap="square" anchor="t" lIns="0" rIns="0" tIns="0" bIns="0">
            <a:spAutoFit/>
          </a:bodyPr>
          <a:lstStyle/>
          <a:p>
            <a:pPr algn="l">
              <a:lnSpc>
                <a:spcPct val="150000"/>
              </a:lnSpc>
              <a:spcAft>
                <a:spcPts val="0"/>
              </a:spcAft>
            </a:pPr>
            <a:r>
              <a:rPr sz="1200" b="0">
                <a:solidFill>
                  <a:srgbClr val="1A2233"/>
                </a:solidFill>
                <a:latin typeface="游ゴシック"/>
                <a:ea typeface="游ゴシック"/>
              </a:rPr>
              <a:t>自動で当てるのは内部リンクだけです。足しても記事の主張が変わらず、外しても害が小さいからです。タイトルの書き換えと検索意図の見直しは自動化しません。文章の判断が要り、機械に任せると主張のずれた記事が量産されます。</a:t>
            </a:r>
          </a:p>
        </p:txBody>
      </p:sp>
      <p:sp>
        <p:nvSpPr>
          <p:cNvPr id="27" name="Rectangle 2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15</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自動修正を、そのままにしません</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自動化でいちばん危ないのは、1本ずつは正しいのに積み上がると記事が壊れることです。当てる側は1本しか見ていないため、これを検知できません。</a:t>
            </a:r>
          </a:p>
        </p:txBody>
      </p:sp>
      <p:sp>
        <p:nvSpPr>
          <p:cNvPr id="6" name="Rectangle 5"/>
          <p:cNvSpPr/>
          <p:nvPr/>
        </p:nvSpPr>
        <p:spPr>
          <a:xfrm>
            <a:off x="658368" y="1517904"/>
            <a:ext cx="3291840" cy="1417320"/>
          </a:xfrm>
          <a:prstGeom prst="rect">
            <a:avLst/>
          </a:prstGeom>
          <a:solidFill>
            <a:srgbClr val="FCEFED"/>
          </a:solidFill>
          <a:ln w="12700">
            <a:solidFill>
              <a:srgbClr val="F0C8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6112" y="1682496"/>
            <a:ext cx="2834640" cy="457200"/>
          </a:xfrm>
          <a:prstGeom prst="rect">
            <a:avLst/>
          </a:prstGeom>
          <a:noFill/>
        </p:spPr>
        <p:txBody>
          <a:bodyPr wrap="square" anchor="t" lIns="0" rIns="0" tIns="0" bIns="0">
            <a:spAutoFit/>
          </a:bodyPr>
          <a:lstStyle/>
          <a:p>
            <a:pPr algn="l">
              <a:spcAft>
                <a:spcPts val="0"/>
              </a:spcAft>
            </a:pPr>
            <a:r>
              <a:rPr sz="3400" b="1">
                <a:solidFill>
                  <a:srgbClr val="B42318"/>
                </a:solidFill>
                <a:latin typeface="游ゴシック"/>
                <a:ea typeface="游ゴシック"/>
              </a:rPr>
              <a:t>41.5%</a:t>
            </a:r>
          </a:p>
        </p:txBody>
      </p:sp>
      <p:sp>
        <p:nvSpPr>
          <p:cNvPr id="8" name="TextBox 7"/>
          <p:cNvSpPr txBox="1"/>
          <p:nvPr/>
        </p:nvSpPr>
        <p:spPr>
          <a:xfrm>
            <a:off x="896112" y="2249424"/>
            <a:ext cx="2834640" cy="594360"/>
          </a:xfrm>
          <a:prstGeom prst="rect">
            <a:avLst/>
          </a:prstGeom>
          <a:noFill/>
        </p:spPr>
        <p:txBody>
          <a:bodyPr wrap="square" anchor="t" lIns="0" rIns="0" tIns="0" bIns="0">
            <a:spAutoFit/>
          </a:bodyPr>
          <a:lstStyle/>
          <a:p>
            <a:pPr algn="l">
              <a:lnSpc>
                <a:spcPct val="140000"/>
              </a:lnSpc>
              <a:spcAft>
                <a:spcPts val="0"/>
              </a:spcAft>
            </a:pPr>
            <a:r>
              <a:rPr sz="1100" b="0">
                <a:solidFill>
                  <a:srgbClr val="1A2233"/>
                </a:solidFill>
                <a:latin typeface="游ゴシック"/>
                <a:ea typeface="游ゴシック"/>
              </a:rPr>
              <a:t>当社サイトの内部リンク文970本のうち403本が、まったく同じ一文になっていました</a:t>
            </a:r>
          </a:p>
        </p:txBody>
      </p:sp>
      <p:sp>
        <p:nvSpPr>
          <p:cNvPr id="9" name="TextBox 8"/>
          <p:cNvSpPr txBox="1"/>
          <p:nvPr/>
        </p:nvSpPr>
        <p:spPr>
          <a:xfrm>
            <a:off x="4270248" y="1627632"/>
            <a:ext cx="5763463" cy="1325880"/>
          </a:xfrm>
          <a:prstGeom prst="rect">
            <a:avLst/>
          </a:prstGeom>
          <a:noFill/>
        </p:spPr>
        <p:txBody>
          <a:bodyPr wrap="square" anchor="t" lIns="0" rIns="0" tIns="0" bIns="0">
            <a:spAutoFit/>
          </a:bodyPr>
          <a:lstStyle/>
          <a:p>
            <a:pPr algn="l">
              <a:lnSpc>
                <a:spcPct val="165000"/>
              </a:lnSpc>
              <a:spcAft>
                <a:spcPts val="0"/>
              </a:spcAft>
            </a:pPr>
            <a:r>
              <a:rPr sz="1300" b="0">
                <a:solidFill>
                  <a:srgbClr val="1A2233"/>
                </a:solidFill>
                <a:latin typeface="游ゴシック"/>
                <a:ea typeface="游ゴシック"/>
              </a:rPr>
              <a:t>1記事に11本も同じ言い回しが並んだものがありました。1本ずつは基準内でも、サイト全体で見れば機械生成の痕跡になります。検索エンジンが嫌う状態です。</a:t>
            </a:r>
          </a:p>
          <a:p>
            <a:pPr algn="l">
              <a:lnSpc>
                <a:spcPct val="165000"/>
              </a:lnSpc>
              <a:spcAft>
                <a:spcPts val="0"/>
              </a:spcAft>
            </a:pPr>
            <a:r>
              <a:rPr sz="1300" b="0">
                <a:solidFill>
                  <a:srgbClr val="1A2233"/>
                </a:solidFill>
                <a:latin typeface="游ゴシック"/>
                <a:ea typeface="游ゴシック"/>
              </a:rPr>
              <a:t>見直しの工程を入れ、41.5% から 12.1% まで是正しました。</a:t>
            </a:r>
          </a:p>
        </p:txBody>
      </p:sp>
      <p:sp>
        <p:nvSpPr>
          <p:cNvPr id="10" name="Rectangle 9"/>
          <p:cNvSpPr/>
          <p:nvPr/>
        </p:nvSpPr>
        <p:spPr>
          <a:xfrm>
            <a:off x="658368" y="3145536"/>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3218688"/>
            <a:ext cx="2629722"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見るもの</a:t>
            </a:r>
          </a:p>
        </p:txBody>
      </p:sp>
      <p:sp>
        <p:nvSpPr>
          <p:cNvPr id="12" name="TextBox 11"/>
          <p:cNvSpPr txBox="1"/>
          <p:nvPr/>
        </p:nvSpPr>
        <p:spPr>
          <a:xfrm>
            <a:off x="3598986" y="3218688"/>
            <a:ext cx="1129668"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基準</a:t>
            </a:r>
          </a:p>
        </p:txBody>
      </p:sp>
      <p:sp>
        <p:nvSpPr>
          <p:cNvPr id="13" name="TextBox 12"/>
          <p:cNvSpPr txBox="1"/>
          <p:nvPr/>
        </p:nvSpPr>
        <p:spPr>
          <a:xfrm>
            <a:off x="4911534" y="3218688"/>
            <a:ext cx="5067312"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超えたときの処理</a:t>
            </a:r>
          </a:p>
        </p:txBody>
      </p:sp>
      <p:sp>
        <p:nvSpPr>
          <p:cNvPr id="14" name="Rectangle 13"/>
          <p:cNvSpPr/>
          <p:nvPr/>
        </p:nvSpPr>
        <p:spPr>
          <a:xfrm>
            <a:off x="658368" y="395020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3575304"/>
            <a:ext cx="2593146"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1記事のリンクだけの段落</a:t>
            </a:r>
          </a:p>
        </p:txBody>
      </p:sp>
      <p:sp>
        <p:nvSpPr>
          <p:cNvPr id="16" name="TextBox 15"/>
          <p:cNvSpPr txBox="1"/>
          <p:nvPr/>
        </p:nvSpPr>
        <p:spPr>
          <a:xfrm>
            <a:off x="3598986" y="3575304"/>
            <a:ext cx="1093092" cy="365760"/>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4本まで</a:t>
            </a:r>
          </a:p>
        </p:txBody>
      </p:sp>
      <p:sp>
        <p:nvSpPr>
          <p:cNvPr id="17" name="TextBox 16"/>
          <p:cNvSpPr txBox="1"/>
          <p:nvPr/>
        </p:nvSpPr>
        <p:spPr>
          <a:xfrm>
            <a:off x="4911534" y="3575304"/>
            <a:ext cx="5030736"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後ろから外す。ただし送り先の被リンクが下限を割るものは残す</a:t>
            </a:r>
          </a:p>
        </p:txBody>
      </p:sp>
      <p:sp>
        <p:nvSpPr>
          <p:cNvPr id="18" name="Rectangle 17"/>
          <p:cNvSpPr/>
          <p:nvPr/>
        </p:nvSpPr>
        <p:spPr>
          <a:xfrm>
            <a:off x="658368" y="3950208"/>
            <a:ext cx="9375343"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440740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86384" y="4032504"/>
            <a:ext cx="2593146"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1記事の同じ言い回し</a:t>
            </a:r>
          </a:p>
        </p:txBody>
      </p:sp>
      <p:sp>
        <p:nvSpPr>
          <p:cNvPr id="21" name="TextBox 20"/>
          <p:cNvSpPr txBox="1"/>
          <p:nvPr/>
        </p:nvSpPr>
        <p:spPr>
          <a:xfrm>
            <a:off x="3598986" y="4032504"/>
            <a:ext cx="1093092" cy="365760"/>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2本まで</a:t>
            </a:r>
          </a:p>
        </p:txBody>
      </p:sp>
      <p:sp>
        <p:nvSpPr>
          <p:cNvPr id="22" name="TextBox 21"/>
          <p:cNvSpPr txBox="1"/>
          <p:nvPr/>
        </p:nvSpPr>
        <p:spPr>
          <a:xfrm>
            <a:off x="4911534" y="4032504"/>
            <a:ext cx="5030736"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別の言い回しに振り直す（リンクは残す）</a:t>
            </a:r>
          </a:p>
        </p:txBody>
      </p:sp>
      <p:sp>
        <p:nvSpPr>
          <p:cNvPr id="23" name="Rectangle 22"/>
          <p:cNvSpPr/>
          <p:nvPr/>
        </p:nvSpPr>
        <p:spPr>
          <a:xfrm>
            <a:off x="658368" y="486460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4489704"/>
            <a:ext cx="2593146"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サイト全体の同じ言い回し</a:t>
            </a:r>
          </a:p>
        </p:txBody>
      </p:sp>
      <p:sp>
        <p:nvSpPr>
          <p:cNvPr id="25" name="TextBox 24"/>
          <p:cNvSpPr txBox="1"/>
          <p:nvPr/>
        </p:nvSpPr>
        <p:spPr>
          <a:xfrm>
            <a:off x="3598986" y="4489704"/>
            <a:ext cx="1093092" cy="365760"/>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12%まで</a:t>
            </a:r>
          </a:p>
        </p:txBody>
      </p:sp>
      <p:sp>
        <p:nvSpPr>
          <p:cNvPr id="26" name="TextBox 25"/>
          <p:cNvSpPr txBox="1"/>
          <p:nvPr/>
        </p:nvSpPr>
        <p:spPr>
          <a:xfrm>
            <a:off x="4911534" y="4489704"/>
            <a:ext cx="5030736" cy="365760"/>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同上。8種類の型に散らす</a:t>
            </a:r>
          </a:p>
        </p:txBody>
      </p:sp>
      <p:sp>
        <p:nvSpPr>
          <p:cNvPr id="27" name="Rectangle 2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書き込む前に、タグの対応・問い合わせ導線の数・本文の減り幅を修正前後で比較し、1つでも崩れていればその記事は書き換えません。</a:t>
            </a:r>
          </a:p>
        </p:txBody>
      </p:sp>
      <p:sp>
        <p:nvSpPr>
          <p:cNvPr id="29" name="TextBox 28"/>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16</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公開したあとの運用</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公開して終わりではありません。毎日・毎週・毎月の運用が自動で回り続けます。</a:t>
            </a:r>
          </a:p>
        </p:txBody>
      </p:sp>
      <p:sp>
        <p:nvSpPr>
          <p:cNvPr id="6" name="Rectangle 5"/>
          <p:cNvSpPr/>
          <p:nvPr/>
        </p:nvSpPr>
        <p:spPr>
          <a:xfrm>
            <a:off x="658368" y="1517904"/>
            <a:ext cx="1371600" cy="566928"/>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673352"/>
            <a:ext cx="1371600" cy="274320"/>
          </a:xfrm>
          <a:prstGeom prst="rect">
            <a:avLst/>
          </a:prstGeom>
          <a:noFill/>
        </p:spPr>
        <p:txBody>
          <a:bodyPr wrap="square" anchor="t" lIns="0" rIns="0" tIns="0" bIns="0">
            <a:spAutoFit/>
          </a:bodyPr>
          <a:lstStyle/>
          <a:p>
            <a:pPr algn="ctr">
              <a:spcAft>
                <a:spcPts val="0"/>
              </a:spcAft>
            </a:pPr>
            <a:r>
              <a:rPr sz="1500" b="1">
                <a:solidFill>
                  <a:srgbClr val="FFFFFF"/>
                </a:solidFill>
                <a:latin typeface="游ゴシック"/>
                <a:ea typeface="游ゴシック"/>
              </a:rPr>
              <a:t>毎日</a:t>
            </a:r>
          </a:p>
        </p:txBody>
      </p:sp>
      <p:sp>
        <p:nvSpPr>
          <p:cNvPr id="8" name="TextBox 7"/>
          <p:cNvSpPr txBox="1"/>
          <p:nvPr/>
        </p:nvSpPr>
        <p:spPr>
          <a:xfrm>
            <a:off x="2286000" y="1609344"/>
            <a:ext cx="7747711" cy="530352"/>
          </a:xfrm>
          <a:prstGeom prst="rect">
            <a:avLst/>
          </a:prstGeom>
          <a:noFill/>
        </p:spPr>
        <p:txBody>
          <a:bodyPr wrap="square" anchor="t" lIns="0" rIns="0" tIns="0" bIns="0">
            <a:spAutoFit/>
          </a:bodyPr>
          <a:lstStyle/>
          <a:p>
            <a:pPr algn="l">
              <a:lnSpc>
                <a:spcPct val="145000"/>
              </a:lnSpc>
              <a:spcAft>
                <a:spcPts val="0"/>
              </a:spcAft>
            </a:pPr>
            <a:r>
              <a:rPr sz="1250" b="0">
                <a:solidFill>
                  <a:srgbClr val="1A2233"/>
                </a:solidFill>
                <a:latin typeface="游ゴシック"/>
                <a:ea typeface="游ゴシック"/>
              </a:rPr>
              <a:t>記事の生成・採点・公開・検索エンジンへの通知・KPIの集計</a:t>
            </a:r>
          </a:p>
        </p:txBody>
      </p:sp>
      <p:sp>
        <p:nvSpPr>
          <p:cNvPr id="9" name="Rectangle 8"/>
          <p:cNvSpPr/>
          <p:nvPr/>
        </p:nvSpPr>
        <p:spPr>
          <a:xfrm>
            <a:off x="658368" y="2267712"/>
            <a:ext cx="1371600" cy="566928"/>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423160"/>
            <a:ext cx="1371600" cy="274320"/>
          </a:xfrm>
          <a:prstGeom prst="rect">
            <a:avLst/>
          </a:prstGeom>
          <a:noFill/>
        </p:spPr>
        <p:txBody>
          <a:bodyPr wrap="square" anchor="t" lIns="0" rIns="0" tIns="0" bIns="0">
            <a:spAutoFit/>
          </a:bodyPr>
          <a:lstStyle/>
          <a:p>
            <a:pPr algn="ctr">
              <a:spcAft>
                <a:spcPts val="0"/>
              </a:spcAft>
            </a:pPr>
            <a:r>
              <a:rPr sz="1500" b="1">
                <a:solidFill>
                  <a:srgbClr val="FFFFFF"/>
                </a:solidFill>
                <a:latin typeface="游ゴシック"/>
                <a:ea typeface="游ゴシック"/>
              </a:rPr>
              <a:t>毎週</a:t>
            </a:r>
          </a:p>
        </p:txBody>
      </p:sp>
      <p:sp>
        <p:nvSpPr>
          <p:cNvPr id="11" name="TextBox 10"/>
          <p:cNvSpPr txBox="1"/>
          <p:nvPr/>
        </p:nvSpPr>
        <p:spPr>
          <a:xfrm>
            <a:off x="2286000" y="2359152"/>
            <a:ext cx="7747711" cy="530352"/>
          </a:xfrm>
          <a:prstGeom prst="rect">
            <a:avLst/>
          </a:prstGeom>
          <a:noFill/>
        </p:spPr>
        <p:txBody>
          <a:bodyPr wrap="square" anchor="t" lIns="0" rIns="0" tIns="0" bIns="0">
            <a:spAutoFit/>
          </a:bodyPr>
          <a:lstStyle/>
          <a:p>
            <a:pPr algn="l">
              <a:lnSpc>
                <a:spcPct val="145000"/>
              </a:lnSpc>
              <a:spcAft>
                <a:spcPts val="0"/>
              </a:spcAft>
            </a:pPr>
            <a:r>
              <a:rPr sz="1250" b="0">
                <a:solidFill>
                  <a:srgbClr val="1A2233"/>
                </a:solidFill>
                <a:latin typeface="游ゴシック"/>
                <a:ea typeface="游ゴシック"/>
              </a:rPr>
              <a:t>既存記事のリライト、重複記事の検出と統合、内部リンクの最適化、古くなった情報の更新</a:t>
            </a:r>
          </a:p>
        </p:txBody>
      </p:sp>
      <p:sp>
        <p:nvSpPr>
          <p:cNvPr id="12" name="Rectangle 11"/>
          <p:cNvSpPr/>
          <p:nvPr/>
        </p:nvSpPr>
        <p:spPr>
          <a:xfrm>
            <a:off x="658368" y="3017520"/>
            <a:ext cx="1371600" cy="566928"/>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3172968"/>
            <a:ext cx="1371600" cy="274320"/>
          </a:xfrm>
          <a:prstGeom prst="rect">
            <a:avLst/>
          </a:prstGeom>
          <a:noFill/>
        </p:spPr>
        <p:txBody>
          <a:bodyPr wrap="square" anchor="t" lIns="0" rIns="0" tIns="0" bIns="0">
            <a:spAutoFit/>
          </a:bodyPr>
          <a:lstStyle/>
          <a:p>
            <a:pPr algn="ctr">
              <a:spcAft>
                <a:spcPts val="0"/>
              </a:spcAft>
            </a:pPr>
            <a:r>
              <a:rPr sz="1500" b="1">
                <a:solidFill>
                  <a:srgbClr val="FFFFFF"/>
                </a:solidFill>
                <a:latin typeface="游ゴシック"/>
                <a:ea typeface="游ゴシック"/>
              </a:rPr>
              <a:t>毎月</a:t>
            </a:r>
          </a:p>
        </p:txBody>
      </p:sp>
      <p:sp>
        <p:nvSpPr>
          <p:cNvPr id="14" name="TextBox 13"/>
          <p:cNvSpPr txBox="1"/>
          <p:nvPr/>
        </p:nvSpPr>
        <p:spPr>
          <a:xfrm>
            <a:off x="2286000" y="3108960"/>
            <a:ext cx="7747711" cy="530352"/>
          </a:xfrm>
          <a:prstGeom prst="rect">
            <a:avLst/>
          </a:prstGeom>
          <a:noFill/>
        </p:spPr>
        <p:txBody>
          <a:bodyPr wrap="square" anchor="t" lIns="0" rIns="0" tIns="0" bIns="0">
            <a:spAutoFit/>
          </a:bodyPr>
          <a:lstStyle/>
          <a:p>
            <a:pPr algn="l">
              <a:lnSpc>
                <a:spcPct val="145000"/>
              </a:lnSpc>
              <a:spcAft>
                <a:spcPts val="0"/>
              </a:spcAft>
            </a:pPr>
            <a:r>
              <a:rPr sz="1250" b="0">
                <a:solidFill>
                  <a:srgbClr val="1A2233"/>
                </a:solidFill>
                <a:latin typeface="游ゴシック"/>
                <a:ea typeface="游ゴシック"/>
              </a:rPr>
              <a:t>17ページの月次レポートを自動発行。次month の改善指示まで含む</a:t>
            </a:r>
          </a:p>
        </p:txBody>
      </p:sp>
      <p:sp>
        <p:nvSpPr>
          <p:cNvPr id="15" name="Rectangle 14"/>
          <p:cNvSpPr/>
          <p:nvPr/>
        </p:nvSpPr>
        <p:spPr>
          <a:xfrm>
            <a:off x="658368" y="3767328"/>
            <a:ext cx="1371600" cy="566928"/>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3922776"/>
            <a:ext cx="1371600" cy="274320"/>
          </a:xfrm>
          <a:prstGeom prst="rect">
            <a:avLst/>
          </a:prstGeom>
          <a:noFill/>
        </p:spPr>
        <p:txBody>
          <a:bodyPr wrap="square" anchor="t" lIns="0" rIns="0" tIns="0" bIns="0">
            <a:spAutoFit/>
          </a:bodyPr>
          <a:lstStyle/>
          <a:p>
            <a:pPr algn="ctr">
              <a:spcAft>
                <a:spcPts val="0"/>
              </a:spcAft>
            </a:pPr>
            <a:r>
              <a:rPr sz="1500" b="1">
                <a:solidFill>
                  <a:srgbClr val="FFFFFF"/>
                </a:solidFill>
                <a:latin typeface="游ゴシック"/>
                <a:ea typeface="游ゴシック"/>
              </a:rPr>
              <a:t>随時</a:t>
            </a:r>
          </a:p>
        </p:txBody>
      </p:sp>
      <p:sp>
        <p:nvSpPr>
          <p:cNvPr id="17" name="TextBox 16"/>
          <p:cNvSpPr txBox="1"/>
          <p:nvPr/>
        </p:nvSpPr>
        <p:spPr>
          <a:xfrm>
            <a:off x="2286000" y="3858768"/>
            <a:ext cx="7747711" cy="530352"/>
          </a:xfrm>
          <a:prstGeom prst="rect">
            <a:avLst/>
          </a:prstGeom>
          <a:noFill/>
        </p:spPr>
        <p:txBody>
          <a:bodyPr wrap="square" anchor="t" lIns="0" rIns="0" tIns="0" bIns="0">
            <a:spAutoFit/>
          </a:bodyPr>
          <a:lstStyle/>
          <a:p>
            <a:pPr algn="l">
              <a:lnSpc>
                <a:spcPct val="145000"/>
              </a:lnSpc>
              <a:spcAft>
                <a:spcPts val="0"/>
              </a:spcAft>
            </a:pPr>
            <a:r>
              <a:rPr sz="1250" b="0">
                <a:solidFill>
                  <a:srgbClr val="1A2233"/>
                </a:solidFill>
                <a:latin typeface="游ゴシック"/>
                <a:ea typeface="游ゴシック"/>
              </a:rPr>
              <a:t>問い合わせの台帳記録と通知、メール購読者への週刊配信</a:t>
            </a:r>
          </a:p>
        </p:txBody>
      </p:sp>
      <p:sp>
        <p:nvSpPr>
          <p:cNvPr id="18" name="Rectangle 17"/>
          <p:cNvSpPr/>
          <p:nvPr/>
        </p:nvSpPr>
        <p:spPr>
          <a:xfrm>
            <a:off x="658368" y="4663440"/>
            <a:ext cx="9375343" cy="98755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4846320"/>
            <a:ext cx="8863279" cy="640080"/>
          </a:xfrm>
          <a:prstGeom prst="rect">
            <a:avLst/>
          </a:prstGeom>
          <a:noFill/>
        </p:spPr>
        <p:txBody>
          <a:bodyPr wrap="square" anchor="t" lIns="0" rIns="0" tIns="0" bIns="0">
            <a:spAutoFit/>
          </a:bodyPr>
          <a:lstStyle/>
          <a:p>
            <a:pPr algn="l">
              <a:lnSpc>
                <a:spcPct val="150000"/>
              </a:lnSpc>
              <a:spcAft>
                <a:spcPts val="0"/>
              </a:spcAft>
            </a:pPr>
            <a:r>
              <a:rPr sz="1200" b="0">
                <a:solidFill>
                  <a:srgbClr val="1A2233"/>
                </a:solidFill>
                <a:latin typeface="游ゴシック"/>
                <a:ea typeface="游ゴシック"/>
              </a:rPr>
              <a:t>1日の公開は時間を分けます。同じドメインへ短時間にまとめて投入すると、機械的な生成とみなされる可能性があるためです。月の上限本数も、人が気をつけるのではなく配信の入口で機械的に止めています。</a:t>
            </a:r>
          </a:p>
        </p:txBody>
      </p:sp>
      <p:sp>
        <p:nvSpPr>
          <p:cNvPr id="20" name="Rectangle 1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17</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月次レポート（サイト再構成の指示つき）</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数字を並べるだけのレポートではありません。「どの記事のどこを、どう変えるか」まで書いて毎月お渡しします。</a:t>
            </a:r>
          </a:p>
        </p:txBody>
      </p:sp>
      <p:sp>
        <p:nvSpPr>
          <p:cNvPr id="6" name="TextBox 5"/>
          <p:cNvSpPr txBox="1"/>
          <p:nvPr/>
        </p:nvSpPr>
        <p:spPr>
          <a:xfrm>
            <a:off x="658368" y="1517904"/>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7" name="TextBox 6"/>
          <p:cNvSpPr txBox="1"/>
          <p:nvPr/>
        </p:nvSpPr>
        <p:spPr>
          <a:xfrm>
            <a:off x="877824" y="1517904"/>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今月を3行でまとめた要約</a:t>
            </a:r>
          </a:p>
        </p:txBody>
      </p:sp>
      <p:sp>
        <p:nvSpPr>
          <p:cNvPr id="8" name="TextBox 7"/>
          <p:cNvSpPr txBox="1"/>
          <p:nvPr/>
        </p:nvSpPr>
        <p:spPr>
          <a:xfrm>
            <a:off x="658368" y="1901952"/>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9" name="TextBox 8"/>
          <p:cNvSpPr txBox="1"/>
          <p:nvPr/>
        </p:nvSpPr>
        <p:spPr>
          <a:xfrm>
            <a:off x="877824" y="1901952"/>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主要4指標の評価（良好／標準／要改善の判定と、その判定基準）</a:t>
            </a:r>
          </a:p>
        </p:txBody>
      </p:sp>
      <p:sp>
        <p:nvSpPr>
          <p:cNvPr id="10" name="TextBox 9"/>
          <p:cNvSpPr txBox="1"/>
          <p:nvPr/>
        </p:nvSpPr>
        <p:spPr>
          <a:xfrm>
            <a:off x="658368" y="2286000"/>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11" name="TextBox 10"/>
          <p:cNvSpPr txBox="1"/>
          <p:nvPr/>
        </p:nvSpPr>
        <p:spPr>
          <a:xfrm>
            <a:off x="877824" y="2286000"/>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6ヶ月トレンドのグラフ（セッション・クリック・表示回数・順位）</a:t>
            </a:r>
          </a:p>
        </p:txBody>
      </p:sp>
      <p:sp>
        <p:nvSpPr>
          <p:cNvPr id="12" name="TextBox 11"/>
          <p:cNvSpPr txBox="1"/>
          <p:nvPr/>
        </p:nvSpPr>
        <p:spPr>
          <a:xfrm>
            <a:off x="658368" y="2670048"/>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13" name="TextBox 12"/>
          <p:cNvSpPr txBox="1"/>
          <p:nvPr/>
        </p:nvSpPr>
        <p:spPr>
          <a:xfrm>
            <a:off x="877824" y="2670048"/>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検索キーワード別の実績と、伸ばすべきキーワードの特定</a:t>
            </a:r>
          </a:p>
        </p:txBody>
      </p:sp>
      <p:sp>
        <p:nvSpPr>
          <p:cNvPr id="14" name="TextBox 13"/>
          <p:cNvSpPr txBox="1"/>
          <p:nvPr/>
        </p:nvSpPr>
        <p:spPr>
          <a:xfrm>
            <a:off x="658368" y="3054096"/>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15" name="TextBox 14"/>
          <p:cNvSpPr txBox="1"/>
          <p:nvPr/>
        </p:nvSpPr>
        <p:spPr>
          <a:xfrm>
            <a:off x="877824" y="3054096"/>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記事別の成績一覧（どの記事が効いていて、どれがテコ入れ対象か）</a:t>
            </a:r>
          </a:p>
        </p:txBody>
      </p:sp>
      <p:sp>
        <p:nvSpPr>
          <p:cNvPr id="16" name="TextBox 15"/>
          <p:cNvSpPr txBox="1"/>
          <p:nvPr/>
        </p:nvSpPr>
        <p:spPr>
          <a:xfrm>
            <a:off x="658368" y="3438144"/>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17" name="TextBox 16"/>
          <p:cNvSpPr txBox="1"/>
          <p:nvPr/>
        </p:nvSpPr>
        <p:spPr>
          <a:xfrm>
            <a:off x="877824" y="3438144"/>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流入構造の分析（自然検索・直接・SNSの比率、スマホ比率、日別推移）</a:t>
            </a:r>
          </a:p>
        </p:txBody>
      </p:sp>
      <p:sp>
        <p:nvSpPr>
          <p:cNvPr id="18" name="TextBox 17"/>
          <p:cNvSpPr txBox="1"/>
          <p:nvPr/>
        </p:nvSpPr>
        <p:spPr>
          <a:xfrm>
            <a:off x="658368" y="3822192"/>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19" name="TextBox 18"/>
          <p:cNvSpPr txBox="1"/>
          <p:nvPr/>
        </p:nvSpPr>
        <p:spPr>
          <a:xfrm>
            <a:off x="877824" y="3822192"/>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AI検索からの流入分析（ChatGPT・Perplexity・Gemini別の内訳）</a:t>
            </a:r>
          </a:p>
        </p:txBody>
      </p:sp>
      <p:sp>
        <p:nvSpPr>
          <p:cNvPr id="20" name="TextBox 19"/>
          <p:cNvSpPr txBox="1"/>
          <p:nvPr/>
        </p:nvSpPr>
        <p:spPr>
          <a:xfrm>
            <a:off x="5437479" y="1517904"/>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21" name="TextBox 20"/>
          <p:cNvSpPr txBox="1"/>
          <p:nvPr/>
        </p:nvSpPr>
        <p:spPr>
          <a:xfrm>
            <a:off x="5656935" y="1517904"/>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投資対効果（同じ流入を広告で買った場合の金額換算）</a:t>
            </a:r>
          </a:p>
        </p:txBody>
      </p:sp>
      <p:sp>
        <p:nvSpPr>
          <p:cNvPr id="22" name="TextBox 21"/>
          <p:cNvSpPr txBox="1"/>
          <p:nvPr/>
        </p:nvSpPr>
        <p:spPr>
          <a:xfrm>
            <a:off x="5437479" y="1901952"/>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23" name="TextBox 22"/>
          <p:cNvSpPr txBox="1"/>
          <p:nvPr/>
        </p:nvSpPr>
        <p:spPr>
          <a:xfrm>
            <a:off x="5656935" y="1901952"/>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LPのどこで離脱しているかの分析（セクション別の到達率）</a:t>
            </a:r>
          </a:p>
        </p:txBody>
      </p:sp>
      <p:sp>
        <p:nvSpPr>
          <p:cNvPr id="24" name="TextBox 23"/>
          <p:cNvSpPr txBox="1"/>
          <p:nvPr/>
        </p:nvSpPr>
        <p:spPr>
          <a:xfrm>
            <a:off x="5437479" y="2286000"/>
            <a:ext cx="182880" cy="237744"/>
          </a:xfrm>
          <a:prstGeom prst="rect">
            <a:avLst/>
          </a:prstGeom>
          <a:noFill/>
        </p:spPr>
        <p:txBody>
          <a:bodyPr wrap="square" anchor="t" lIns="0" rIns="0" tIns="0" bIns="0">
            <a:spAutoFit/>
          </a:bodyPr>
          <a:lstStyle/>
          <a:p>
            <a:pPr algn="l">
              <a:spcAft>
                <a:spcPts val="0"/>
              </a:spcAft>
            </a:pPr>
            <a:r>
              <a:rPr sz="1100" b="1">
                <a:solidFill>
                  <a:srgbClr val="B7922E"/>
                </a:solidFill>
                <a:latin typeface="游ゴシック"/>
                <a:ea typeface="游ゴシック"/>
              </a:rPr>
              <a:t>▸</a:t>
            </a:r>
          </a:p>
        </p:txBody>
      </p:sp>
      <p:sp>
        <p:nvSpPr>
          <p:cNvPr id="25" name="TextBox 24"/>
          <p:cNvSpPr txBox="1"/>
          <p:nvPr/>
        </p:nvSpPr>
        <p:spPr>
          <a:xfrm>
            <a:off x="5656935" y="2286000"/>
            <a:ext cx="4358487" cy="292608"/>
          </a:xfrm>
          <a:prstGeom prst="rect">
            <a:avLst/>
          </a:prstGeom>
          <a:noFill/>
        </p:spPr>
        <p:txBody>
          <a:bodyPr wrap="square" anchor="t" lIns="0" rIns="0" tIns="0" bIns="0">
            <a:spAutoFit/>
          </a:bodyPr>
          <a:lstStyle/>
          <a:p>
            <a:pPr algn="l">
              <a:lnSpc>
                <a:spcPct val="135000"/>
              </a:lnSpc>
              <a:spcAft>
                <a:spcPts val="0"/>
              </a:spcAft>
            </a:pPr>
            <a:r>
              <a:rPr sz="1150" b="1">
                <a:solidFill>
                  <a:srgbClr val="0B2447"/>
                </a:solidFill>
                <a:latin typeface="游ゴシック"/>
                <a:ea typeface="游ゴシック"/>
              </a:rPr>
              <a:t>サイト全体監査 — 記事ごとに「どこを・どう変えるか」の具体的な修正指示</a:t>
            </a:r>
          </a:p>
        </p:txBody>
      </p:sp>
      <p:sp>
        <p:nvSpPr>
          <p:cNvPr id="26" name="TextBox 25"/>
          <p:cNvSpPr txBox="1"/>
          <p:nvPr/>
        </p:nvSpPr>
        <p:spPr>
          <a:xfrm>
            <a:off x="5437479" y="2670048"/>
            <a:ext cx="182880" cy="237744"/>
          </a:xfrm>
          <a:prstGeom prst="rect">
            <a:avLst/>
          </a:prstGeom>
          <a:noFill/>
        </p:spPr>
        <p:txBody>
          <a:bodyPr wrap="square" anchor="t" lIns="0" rIns="0" tIns="0" bIns="0">
            <a:spAutoFit/>
          </a:bodyPr>
          <a:lstStyle/>
          <a:p>
            <a:pPr algn="l">
              <a:spcAft>
                <a:spcPts val="0"/>
              </a:spcAft>
            </a:pPr>
            <a:r>
              <a:rPr sz="1100" b="1">
                <a:solidFill>
                  <a:srgbClr val="B7922E"/>
                </a:solidFill>
                <a:latin typeface="游ゴシック"/>
                <a:ea typeface="游ゴシック"/>
              </a:rPr>
              <a:t>▸</a:t>
            </a:r>
          </a:p>
        </p:txBody>
      </p:sp>
      <p:sp>
        <p:nvSpPr>
          <p:cNvPr id="27" name="TextBox 26"/>
          <p:cNvSpPr txBox="1"/>
          <p:nvPr/>
        </p:nvSpPr>
        <p:spPr>
          <a:xfrm>
            <a:off x="5656935" y="2670048"/>
            <a:ext cx="4358487" cy="292608"/>
          </a:xfrm>
          <a:prstGeom prst="rect">
            <a:avLst/>
          </a:prstGeom>
          <a:noFill/>
        </p:spPr>
        <p:txBody>
          <a:bodyPr wrap="square" anchor="t" lIns="0" rIns="0" tIns="0" bIns="0">
            <a:spAutoFit/>
          </a:bodyPr>
          <a:lstStyle/>
          <a:p>
            <a:pPr algn="l">
              <a:lnSpc>
                <a:spcPct val="135000"/>
              </a:lnSpc>
              <a:spcAft>
                <a:spcPts val="0"/>
              </a:spcAft>
            </a:pPr>
            <a:r>
              <a:rPr sz="1150" b="1">
                <a:solidFill>
                  <a:srgbClr val="0B2447"/>
                </a:solidFill>
                <a:latin typeface="游ゴシック"/>
                <a:ea typeface="游ゴシック"/>
              </a:rPr>
              <a:t>サイト構造・導線の変更指示（カテゴリ設計・CTA配置・見出しの改善）</a:t>
            </a:r>
          </a:p>
        </p:txBody>
      </p:sp>
      <p:sp>
        <p:nvSpPr>
          <p:cNvPr id="28" name="TextBox 27"/>
          <p:cNvSpPr txBox="1"/>
          <p:nvPr/>
        </p:nvSpPr>
        <p:spPr>
          <a:xfrm>
            <a:off x="5437479" y="3054096"/>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29" name="TextBox 28"/>
          <p:cNvSpPr txBox="1"/>
          <p:nvPr/>
        </p:nvSpPr>
        <p:spPr>
          <a:xfrm>
            <a:off x="5656935" y="3054096"/>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前月に立てた目標に対する達成率</a:t>
            </a:r>
          </a:p>
        </p:txBody>
      </p:sp>
      <p:sp>
        <p:nvSpPr>
          <p:cNvPr id="30" name="TextBox 29"/>
          <p:cNvSpPr txBox="1"/>
          <p:nvPr/>
        </p:nvSpPr>
        <p:spPr>
          <a:xfrm>
            <a:off x="5437479" y="3438144"/>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31" name="TextBox 30"/>
          <p:cNvSpPr txBox="1"/>
          <p:nvPr/>
        </p:nvSpPr>
        <p:spPr>
          <a:xfrm>
            <a:off x="5656935" y="3438144"/>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来月のKPI目標と、週単位の実行スケジュール</a:t>
            </a:r>
          </a:p>
        </p:txBody>
      </p:sp>
      <p:sp>
        <p:nvSpPr>
          <p:cNvPr id="32" name="TextBox 31"/>
          <p:cNvSpPr txBox="1"/>
          <p:nvPr/>
        </p:nvSpPr>
        <p:spPr>
          <a:xfrm>
            <a:off x="5437479" y="3822192"/>
            <a:ext cx="182880" cy="237744"/>
          </a:xfrm>
          <a:prstGeom prst="rect">
            <a:avLst/>
          </a:prstGeom>
          <a:noFill/>
        </p:spPr>
        <p:txBody>
          <a:bodyPr wrap="square" anchor="t" lIns="0" rIns="0" tIns="0" bIns="0">
            <a:spAutoFit/>
          </a:bodyPr>
          <a:lstStyle/>
          <a:p>
            <a:pPr algn="l">
              <a:spcAft>
                <a:spcPts val="0"/>
              </a:spcAft>
            </a:pPr>
            <a:r>
              <a:rPr sz="1100" b="1">
                <a:solidFill>
                  <a:srgbClr val="0D9488"/>
                </a:solidFill>
                <a:latin typeface="游ゴシック"/>
                <a:ea typeface="游ゴシック"/>
              </a:rPr>
              <a:t>▸</a:t>
            </a:r>
          </a:p>
        </p:txBody>
      </p:sp>
      <p:sp>
        <p:nvSpPr>
          <p:cNvPr id="33" name="TextBox 32"/>
          <p:cNvSpPr txBox="1"/>
          <p:nvPr/>
        </p:nvSpPr>
        <p:spPr>
          <a:xfrm>
            <a:off x="5656935" y="3822192"/>
            <a:ext cx="4358487" cy="292608"/>
          </a:xfrm>
          <a:prstGeom prst="rect">
            <a:avLst/>
          </a:prstGeom>
          <a:noFill/>
        </p:spPr>
        <p:txBody>
          <a:bodyPr wrap="square" anchor="t" lIns="0" rIns="0" tIns="0" bIns="0">
            <a:spAutoFit/>
          </a:bodyPr>
          <a:lstStyle/>
          <a:p>
            <a:pPr algn="l">
              <a:lnSpc>
                <a:spcPct val="135000"/>
              </a:lnSpc>
              <a:spcAft>
                <a:spcPts val="0"/>
              </a:spcAft>
            </a:pPr>
            <a:r>
              <a:rPr sz="1150" b="0">
                <a:solidFill>
                  <a:srgbClr val="1A2233"/>
                </a:solidFill>
                <a:latin typeface="游ゴシック"/>
                <a:ea typeface="游ゴシック"/>
              </a:rPr>
              <a:t>リスクと前提条件（数字を正しく読むための注記）</a:t>
            </a:r>
          </a:p>
        </p:txBody>
      </p:sp>
      <p:sp>
        <p:nvSpPr>
          <p:cNvPr id="34" name="Rectangle 33"/>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金色の項目は、他社のレポートにはあまり含まれない改善指示のパートです。</a:t>
            </a:r>
          </a:p>
        </p:txBody>
      </p:sp>
      <p:sp>
        <p:nvSpPr>
          <p:cNvPr id="36" name="TextBox 35"/>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18</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この仕組みは、当社自身が使っています</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提案のために作ったものではありません。当社が自社の3サイトで毎日動かしている仕組みを、そのままご提供します。</a:t>
            </a:r>
          </a:p>
        </p:txBody>
      </p:sp>
      <p:sp>
        <p:nvSpPr>
          <p:cNvPr id="6" name="Rectangle 5"/>
          <p:cNvSpPr/>
          <p:nvPr/>
        </p:nvSpPr>
        <p:spPr>
          <a:xfrm>
            <a:off x="658368" y="1517904"/>
            <a:ext cx="2991002" cy="11887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1517904"/>
            <a:ext cx="38100"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77824" y="167335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運用中のサイト</a:t>
            </a:r>
          </a:p>
        </p:txBody>
      </p:sp>
      <p:sp>
        <p:nvSpPr>
          <p:cNvPr id="9" name="TextBox 8"/>
          <p:cNvSpPr txBox="1"/>
          <p:nvPr/>
        </p:nvSpPr>
        <p:spPr>
          <a:xfrm>
            <a:off x="877824" y="190195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3サイト</a:t>
            </a:r>
          </a:p>
        </p:txBody>
      </p:sp>
      <p:sp>
        <p:nvSpPr>
          <p:cNvPr id="10" name="TextBox 9"/>
          <p:cNvSpPr txBox="1"/>
          <p:nvPr/>
        </p:nvSpPr>
        <p:spPr>
          <a:xfrm>
            <a:off x="877824" y="230428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AI集客・経理BPO・補助金支援の3領域</a:t>
            </a:r>
          </a:p>
        </p:txBody>
      </p:sp>
      <p:sp>
        <p:nvSpPr>
          <p:cNvPr id="11" name="Rectangle 10"/>
          <p:cNvSpPr/>
          <p:nvPr/>
        </p:nvSpPr>
        <p:spPr>
          <a:xfrm>
            <a:off x="3850538" y="1517904"/>
            <a:ext cx="2991002" cy="11887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850538" y="1517904"/>
            <a:ext cx="38100"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069994" y="167335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公開済みの記事</a:t>
            </a:r>
          </a:p>
        </p:txBody>
      </p:sp>
      <p:sp>
        <p:nvSpPr>
          <p:cNvPr id="14" name="TextBox 13"/>
          <p:cNvSpPr txBox="1"/>
          <p:nvPr/>
        </p:nvSpPr>
        <p:spPr>
          <a:xfrm>
            <a:off x="4069994" y="190195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317本</a:t>
            </a:r>
          </a:p>
        </p:txBody>
      </p:sp>
      <p:sp>
        <p:nvSpPr>
          <p:cNvPr id="15" name="TextBox 14"/>
          <p:cNvSpPr txBox="1"/>
          <p:nvPr/>
        </p:nvSpPr>
        <p:spPr>
          <a:xfrm>
            <a:off x="4069994" y="230428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すべて品質基準を満たしたもののみ</a:t>
            </a:r>
          </a:p>
        </p:txBody>
      </p:sp>
      <p:sp>
        <p:nvSpPr>
          <p:cNvPr id="16" name="Rectangle 15"/>
          <p:cNvSpPr/>
          <p:nvPr/>
        </p:nvSpPr>
        <p:spPr>
          <a:xfrm>
            <a:off x="7042708" y="1517904"/>
            <a:ext cx="2991002" cy="118872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042708" y="1517904"/>
            <a:ext cx="38100"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262164" y="1673352"/>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1日の公開数</a:t>
            </a:r>
          </a:p>
        </p:txBody>
      </p:sp>
      <p:sp>
        <p:nvSpPr>
          <p:cNvPr id="19" name="TextBox 18"/>
          <p:cNvSpPr txBox="1"/>
          <p:nvPr/>
        </p:nvSpPr>
        <p:spPr>
          <a:xfrm>
            <a:off x="7262164" y="1901952"/>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6本</a:t>
            </a:r>
          </a:p>
        </p:txBody>
      </p:sp>
      <p:sp>
        <p:nvSpPr>
          <p:cNvPr id="20" name="TextBox 19"/>
          <p:cNvSpPr txBox="1"/>
          <p:nvPr/>
        </p:nvSpPr>
        <p:spPr>
          <a:xfrm>
            <a:off x="7262164" y="2304288"/>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3サイト×2本を時間を分けて公開</a:t>
            </a:r>
          </a:p>
        </p:txBody>
      </p:sp>
      <p:sp>
        <p:nvSpPr>
          <p:cNvPr id="21" name="TextBox 20"/>
          <p:cNvSpPr txBox="1"/>
          <p:nvPr/>
        </p:nvSpPr>
        <p:spPr>
          <a:xfrm>
            <a:off x="658368" y="3090672"/>
            <a:ext cx="9375343" cy="274320"/>
          </a:xfrm>
          <a:prstGeom prst="rect">
            <a:avLst/>
          </a:prstGeom>
          <a:noFill/>
        </p:spPr>
        <p:txBody>
          <a:bodyPr wrap="square" anchor="t" lIns="0" rIns="0" tIns="0" bIns="0">
            <a:spAutoFit/>
          </a:bodyPr>
          <a:lstStyle/>
          <a:p>
            <a:pPr algn="l">
              <a:spcAft>
                <a:spcPts val="0"/>
              </a:spcAft>
            </a:pPr>
            <a:r>
              <a:rPr sz="1500" b="1">
                <a:solidFill>
                  <a:srgbClr val="0B2447"/>
                </a:solidFill>
                <a:latin typeface="游ゴシック"/>
                <a:ea typeface="游ゴシック"/>
              </a:rPr>
              <a:t>運用の中で分かったこと</a:t>
            </a:r>
          </a:p>
        </p:txBody>
      </p:sp>
      <p:sp>
        <p:nvSpPr>
          <p:cNvPr id="22" name="Oval 21"/>
          <p:cNvSpPr/>
          <p:nvPr/>
        </p:nvSpPr>
        <p:spPr>
          <a:xfrm>
            <a:off x="676656" y="3575304"/>
            <a:ext cx="63500" cy="635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8" y="3465576"/>
            <a:ext cx="9192463" cy="365760"/>
          </a:xfrm>
          <a:prstGeom prst="rect">
            <a:avLst/>
          </a:prstGeom>
          <a:noFill/>
        </p:spPr>
        <p:txBody>
          <a:bodyPr wrap="square" lIns="0" rIns="0" tIns="0" bIns="0">
            <a:spAutoFit/>
          </a:bodyPr>
          <a:lstStyle/>
          <a:p>
            <a:pPr>
              <a:lnSpc>
                <a:spcPct val="145000"/>
              </a:lnSpc>
            </a:pPr>
            <a:r>
              <a:rPr sz="1300" b="1">
                <a:solidFill>
                  <a:srgbClr val="0B2447"/>
                </a:solidFill>
                <a:latin typeface="游ゴシック"/>
                <a:ea typeface="游ゴシック"/>
              </a:rPr>
              <a:t>同じ順位でも、検索語によってクリック率が約2.7倍違いました。</a:t>
            </a:r>
            <a:r>
              <a:rPr sz="1300" b="0">
                <a:solidFill>
                  <a:srgbClr val="1A2233"/>
                </a:solidFill>
                <a:latin typeface="游ゴシック"/>
                <a:ea typeface="游ゴシック"/>
              </a:rPr>
              <a:t>　6〜10位という同じ順位帯で、一方のサイトは1.04%、もう一方は2.80%（28日間の実測）。差は順位ではなく検索語の性質にありました。本サービスでは、この性質を機械で判定してから書きます。</a:t>
            </a:r>
          </a:p>
        </p:txBody>
      </p:sp>
      <p:sp>
        <p:nvSpPr>
          <p:cNvPr id="24" name="Oval 23"/>
          <p:cNvSpPr/>
          <p:nvPr/>
        </p:nvSpPr>
        <p:spPr>
          <a:xfrm>
            <a:off x="676656" y="4535424"/>
            <a:ext cx="63500" cy="635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41248" y="4425696"/>
            <a:ext cx="9192463" cy="365760"/>
          </a:xfrm>
          <a:prstGeom prst="rect">
            <a:avLst/>
          </a:prstGeom>
          <a:noFill/>
        </p:spPr>
        <p:txBody>
          <a:bodyPr wrap="square" lIns="0" rIns="0" tIns="0" bIns="0">
            <a:spAutoFit/>
          </a:bodyPr>
          <a:lstStyle/>
          <a:p>
            <a:pPr>
              <a:lnSpc>
                <a:spcPct val="145000"/>
              </a:lnSpc>
            </a:pPr>
            <a:r>
              <a:rPr sz="1300" b="1">
                <a:solidFill>
                  <a:srgbClr val="0B2447"/>
                </a:solidFill>
                <a:latin typeface="游ゴシック"/>
                <a:ea typeface="游ゴシック"/>
              </a:rPr>
              <a:t>内部リンクが不足した記事は、そもそも検索結果に出ていませんでした。</a:t>
            </a:r>
            <a:r>
              <a:rPr sz="1300" b="0">
                <a:solidFill>
                  <a:srgbClr val="1A2233"/>
                </a:solidFill>
                <a:latin typeface="游ゴシック"/>
                <a:ea typeface="游ゴシック"/>
              </a:rPr>
              <a:t>　90日間で一度も表示されなかった記事は、被リンクが平均3.7〜4.6本。表示されている記事は5.9〜8.8本でした。基準を引き上げて補充しています。</a:t>
            </a:r>
          </a:p>
        </p:txBody>
      </p:sp>
      <p:sp>
        <p:nvSpPr>
          <p:cNvPr id="26" name="Rectangle 25"/>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いずれも当社運用サイトでの実測値です。成果は業種・競合状況により異なり、同じ数値をお約束するものではありません。</a:t>
            </a:r>
          </a:p>
        </p:txBody>
      </p:sp>
      <p:sp>
        <p:nvSpPr>
          <p:cNvPr id="28" name="TextBox 27"/>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19</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実際に動いている記録 ― 2026年9月14日</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以下は当社の運用サイトで、その日に実際に走った処理の記録です。時刻は日本時間。</a:t>
            </a:r>
          </a:p>
        </p:txBody>
      </p:sp>
      <p:sp>
        <p:nvSpPr>
          <p:cNvPr id="6" name="Rectangle 5"/>
          <p:cNvSpPr/>
          <p:nvPr/>
        </p:nvSpPr>
        <p:spPr>
          <a:xfrm>
            <a:off x="658368" y="1517904"/>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1591056"/>
            <a:ext cx="660900"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時刻</a:t>
            </a:r>
          </a:p>
        </p:txBody>
      </p:sp>
      <p:sp>
        <p:nvSpPr>
          <p:cNvPr id="8" name="TextBox 7"/>
          <p:cNvSpPr txBox="1"/>
          <p:nvPr/>
        </p:nvSpPr>
        <p:spPr>
          <a:xfrm>
            <a:off x="1630164" y="1591056"/>
            <a:ext cx="2254709"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処理</a:t>
            </a:r>
          </a:p>
        </p:txBody>
      </p:sp>
      <p:sp>
        <p:nvSpPr>
          <p:cNvPr id="9" name="TextBox 8"/>
          <p:cNvSpPr txBox="1"/>
          <p:nvPr/>
        </p:nvSpPr>
        <p:spPr>
          <a:xfrm>
            <a:off x="4067753" y="1591056"/>
            <a:ext cx="942161"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結果</a:t>
            </a:r>
          </a:p>
        </p:txBody>
      </p:sp>
      <p:sp>
        <p:nvSpPr>
          <p:cNvPr id="10" name="TextBox 9"/>
          <p:cNvSpPr txBox="1"/>
          <p:nvPr/>
        </p:nvSpPr>
        <p:spPr>
          <a:xfrm>
            <a:off x="5192794" y="1591056"/>
            <a:ext cx="4786051"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内容</a:t>
            </a:r>
          </a:p>
        </p:txBody>
      </p:sp>
      <p:sp>
        <p:nvSpPr>
          <p:cNvPr id="11" name="Rectangle 10"/>
          <p:cNvSpPr/>
          <p:nvPr/>
        </p:nvSpPr>
        <p:spPr>
          <a:xfrm>
            <a:off x="658368" y="224942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1947672"/>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11:38</a:t>
            </a:r>
          </a:p>
        </p:txBody>
      </p:sp>
      <p:sp>
        <p:nvSpPr>
          <p:cNvPr id="13" name="TextBox 12"/>
          <p:cNvSpPr txBox="1"/>
          <p:nvPr/>
        </p:nvSpPr>
        <p:spPr>
          <a:xfrm>
            <a:off x="1630164" y="1947672"/>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自動修復</a:t>
            </a:r>
          </a:p>
        </p:txBody>
      </p:sp>
      <p:sp>
        <p:nvSpPr>
          <p:cNvPr id="14" name="TextBox 13"/>
          <p:cNvSpPr txBox="1"/>
          <p:nvPr/>
        </p:nvSpPr>
        <p:spPr>
          <a:xfrm>
            <a:off x="4067753" y="1947672"/>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B6B84"/>
                </a:solidFill>
                <a:latin typeface="游ゴシック"/>
                <a:ea typeface="游ゴシック"/>
              </a:rPr>
              <a:t>skipped</a:t>
            </a:r>
          </a:p>
        </p:txBody>
      </p:sp>
      <p:sp>
        <p:nvSpPr>
          <p:cNvPr id="15" name="TextBox 14"/>
          <p:cNvSpPr txBox="1"/>
          <p:nvPr/>
        </p:nvSpPr>
        <p:spPr>
          <a:xfrm>
            <a:off x="5192794" y="1947672"/>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直すものなし</a:t>
            </a:r>
          </a:p>
        </p:txBody>
      </p:sp>
      <p:sp>
        <p:nvSpPr>
          <p:cNvPr id="16" name="Rectangle 15"/>
          <p:cNvSpPr/>
          <p:nvPr/>
        </p:nvSpPr>
        <p:spPr>
          <a:xfrm>
            <a:off x="658368" y="2249424"/>
            <a:ext cx="9375343"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58368" y="26334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2331720"/>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11:17</a:t>
            </a:r>
          </a:p>
        </p:txBody>
      </p:sp>
      <p:sp>
        <p:nvSpPr>
          <p:cNvPr id="19" name="TextBox 18"/>
          <p:cNvSpPr txBox="1"/>
          <p:nvPr/>
        </p:nvSpPr>
        <p:spPr>
          <a:xfrm>
            <a:off x="1630164" y="2331720"/>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記事パイプライン</a:t>
            </a:r>
          </a:p>
        </p:txBody>
      </p:sp>
      <p:sp>
        <p:nvSpPr>
          <p:cNvPr id="20" name="TextBox 19"/>
          <p:cNvSpPr txBox="1"/>
          <p:nvPr/>
        </p:nvSpPr>
        <p:spPr>
          <a:xfrm>
            <a:off x="4067753" y="2331720"/>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FC585"/>
                </a:solidFill>
                <a:latin typeface="游ゴシック"/>
                <a:ea typeface="游ゴシック"/>
              </a:rPr>
              <a:t>success</a:t>
            </a:r>
          </a:p>
        </p:txBody>
      </p:sp>
      <p:sp>
        <p:nvSpPr>
          <p:cNvPr id="21" name="TextBox 20"/>
          <p:cNvSpPr txBox="1"/>
          <p:nvPr/>
        </p:nvSpPr>
        <p:spPr>
          <a:xfrm>
            <a:off x="5192794" y="2331720"/>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補助金サイト 1本公開</a:t>
            </a:r>
          </a:p>
        </p:txBody>
      </p:sp>
      <p:sp>
        <p:nvSpPr>
          <p:cNvPr id="22" name="Rectangle 21"/>
          <p:cNvSpPr/>
          <p:nvPr/>
        </p:nvSpPr>
        <p:spPr>
          <a:xfrm>
            <a:off x="658368" y="3017520"/>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86384" y="2715768"/>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10:47</a:t>
            </a:r>
          </a:p>
        </p:txBody>
      </p:sp>
      <p:sp>
        <p:nvSpPr>
          <p:cNvPr id="24" name="TextBox 23"/>
          <p:cNvSpPr txBox="1"/>
          <p:nvPr/>
        </p:nvSpPr>
        <p:spPr>
          <a:xfrm>
            <a:off x="1630164" y="2715768"/>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サイトへ配信</a:t>
            </a:r>
          </a:p>
        </p:txBody>
      </p:sp>
      <p:sp>
        <p:nvSpPr>
          <p:cNvPr id="25" name="TextBox 24"/>
          <p:cNvSpPr txBox="1"/>
          <p:nvPr/>
        </p:nvSpPr>
        <p:spPr>
          <a:xfrm>
            <a:off x="4067753" y="2715768"/>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FC585"/>
                </a:solidFill>
                <a:latin typeface="游ゴシック"/>
                <a:ea typeface="游ゴシック"/>
              </a:rPr>
              <a:t>success</a:t>
            </a:r>
          </a:p>
        </p:txBody>
      </p:sp>
      <p:sp>
        <p:nvSpPr>
          <p:cNvPr id="26" name="TextBox 25"/>
          <p:cNvSpPr txBox="1"/>
          <p:nvPr/>
        </p:nvSpPr>
        <p:spPr>
          <a:xfrm>
            <a:off x="5192794" y="2715768"/>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Cloudflareへデプロイ</a:t>
            </a:r>
          </a:p>
        </p:txBody>
      </p:sp>
      <p:sp>
        <p:nvSpPr>
          <p:cNvPr id="27" name="Rectangle 26"/>
          <p:cNvSpPr/>
          <p:nvPr/>
        </p:nvSpPr>
        <p:spPr>
          <a:xfrm>
            <a:off x="658368" y="3017520"/>
            <a:ext cx="9375343"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340156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86384" y="3099816"/>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09:04</a:t>
            </a:r>
          </a:p>
        </p:txBody>
      </p:sp>
      <p:sp>
        <p:nvSpPr>
          <p:cNvPr id="30" name="TextBox 29"/>
          <p:cNvSpPr txBox="1"/>
          <p:nvPr/>
        </p:nvSpPr>
        <p:spPr>
          <a:xfrm>
            <a:off x="1630164" y="3099816"/>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自動修復</a:t>
            </a:r>
          </a:p>
        </p:txBody>
      </p:sp>
      <p:sp>
        <p:nvSpPr>
          <p:cNvPr id="31" name="TextBox 30"/>
          <p:cNvSpPr txBox="1"/>
          <p:nvPr/>
        </p:nvSpPr>
        <p:spPr>
          <a:xfrm>
            <a:off x="4067753" y="3099816"/>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B6B84"/>
                </a:solidFill>
                <a:latin typeface="游ゴシック"/>
                <a:ea typeface="游ゴシック"/>
              </a:rPr>
              <a:t>skipped</a:t>
            </a:r>
          </a:p>
        </p:txBody>
      </p:sp>
      <p:sp>
        <p:nvSpPr>
          <p:cNvPr id="32" name="TextBox 31"/>
          <p:cNvSpPr txBox="1"/>
          <p:nvPr/>
        </p:nvSpPr>
        <p:spPr>
          <a:xfrm>
            <a:off x="5192794" y="3099816"/>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直すものなし</a:t>
            </a:r>
          </a:p>
        </p:txBody>
      </p:sp>
      <p:sp>
        <p:nvSpPr>
          <p:cNvPr id="33" name="Rectangle 32"/>
          <p:cNvSpPr/>
          <p:nvPr/>
        </p:nvSpPr>
        <p:spPr>
          <a:xfrm>
            <a:off x="658368" y="3785616"/>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6384" y="3483864"/>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08:45</a:t>
            </a:r>
          </a:p>
        </p:txBody>
      </p:sp>
      <p:sp>
        <p:nvSpPr>
          <p:cNvPr id="35" name="TextBox 34"/>
          <p:cNvSpPr txBox="1"/>
          <p:nvPr/>
        </p:nvSpPr>
        <p:spPr>
          <a:xfrm>
            <a:off x="1630164" y="3483864"/>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記事パイプライン</a:t>
            </a:r>
          </a:p>
        </p:txBody>
      </p:sp>
      <p:sp>
        <p:nvSpPr>
          <p:cNvPr id="36" name="TextBox 35"/>
          <p:cNvSpPr txBox="1"/>
          <p:nvPr/>
        </p:nvSpPr>
        <p:spPr>
          <a:xfrm>
            <a:off x="4067753" y="3483864"/>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FC585"/>
                </a:solidFill>
                <a:latin typeface="游ゴシック"/>
                <a:ea typeface="游ゴシック"/>
              </a:rPr>
              <a:t>success</a:t>
            </a:r>
          </a:p>
        </p:txBody>
      </p:sp>
      <p:sp>
        <p:nvSpPr>
          <p:cNvPr id="37" name="TextBox 36"/>
          <p:cNvSpPr txBox="1"/>
          <p:nvPr/>
        </p:nvSpPr>
        <p:spPr>
          <a:xfrm>
            <a:off x="5192794" y="3483864"/>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コーポレート 1本公開</a:t>
            </a:r>
          </a:p>
        </p:txBody>
      </p:sp>
      <p:sp>
        <p:nvSpPr>
          <p:cNvPr id="38" name="Rectangle 37"/>
          <p:cNvSpPr/>
          <p:nvPr/>
        </p:nvSpPr>
        <p:spPr>
          <a:xfrm>
            <a:off x="658368" y="3785616"/>
            <a:ext cx="9375343"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58368" y="416966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86384" y="3867912"/>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06:26</a:t>
            </a:r>
          </a:p>
        </p:txBody>
      </p:sp>
      <p:sp>
        <p:nvSpPr>
          <p:cNvPr id="41" name="TextBox 40"/>
          <p:cNvSpPr txBox="1"/>
          <p:nvPr/>
        </p:nvSpPr>
        <p:spPr>
          <a:xfrm>
            <a:off x="1630164" y="3867912"/>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週次の最適化</a:t>
            </a:r>
          </a:p>
        </p:txBody>
      </p:sp>
      <p:sp>
        <p:nvSpPr>
          <p:cNvPr id="42" name="TextBox 41"/>
          <p:cNvSpPr txBox="1"/>
          <p:nvPr/>
        </p:nvSpPr>
        <p:spPr>
          <a:xfrm>
            <a:off x="4067753" y="3867912"/>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FC585"/>
                </a:solidFill>
                <a:latin typeface="游ゴシック"/>
                <a:ea typeface="游ゴシック"/>
              </a:rPr>
              <a:t>success</a:t>
            </a:r>
          </a:p>
        </p:txBody>
      </p:sp>
      <p:sp>
        <p:nvSpPr>
          <p:cNvPr id="43" name="TextBox 42"/>
          <p:cNvSpPr txBox="1"/>
          <p:nvPr/>
        </p:nvSpPr>
        <p:spPr>
          <a:xfrm>
            <a:off x="5192794" y="3867912"/>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リライト・内部リンク・見直し</a:t>
            </a:r>
          </a:p>
        </p:txBody>
      </p:sp>
      <p:sp>
        <p:nvSpPr>
          <p:cNvPr id="44" name="Rectangle 43"/>
          <p:cNvSpPr/>
          <p:nvPr/>
        </p:nvSpPr>
        <p:spPr>
          <a:xfrm>
            <a:off x="658368" y="455371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86384" y="4251960"/>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05:39</a:t>
            </a:r>
          </a:p>
        </p:txBody>
      </p:sp>
      <p:sp>
        <p:nvSpPr>
          <p:cNvPr id="46" name="TextBox 45"/>
          <p:cNvSpPr txBox="1"/>
          <p:nvPr/>
        </p:nvSpPr>
        <p:spPr>
          <a:xfrm>
            <a:off x="1630164" y="4251960"/>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記事パイプライン</a:t>
            </a:r>
          </a:p>
        </p:txBody>
      </p:sp>
      <p:sp>
        <p:nvSpPr>
          <p:cNvPr id="47" name="TextBox 46"/>
          <p:cNvSpPr txBox="1"/>
          <p:nvPr/>
        </p:nvSpPr>
        <p:spPr>
          <a:xfrm>
            <a:off x="4067753" y="4251960"/>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FC585"/>
                </a:solidFill>
                <a:latin typeface="游ゴシック"/>
                <a:ea typeface="游ゴシック"/>
              </a:rPr>
              <a:t>success</a:t>
            </a:r>
          </a:p>
        </p:txBody>
      </p:sp>
      <p:sp>
        <p:nvSpPr>
          <p:cNvPr id="48" name="TextBox 47"/>
          <p:cNvSpPr txBox="1"/>
          <p:nvPr/>
        </p:nvSpPr>
        <p:spPr>
          <a:xfrm>
            <a:off x="5192794" y="4251960"/>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AI集客ラボ 1本公開</a:t>
            </a:r>
          </a:p>
        </p:txBody>
      </p:sp>
      <p:sp>
        <p:nvSpPr>
          <p:cNvPr id="49" name="Rectangle 48"/>
          <p:cNvSpPr/>
          <p:nvPr/>
        </p:nvSpPr>
        <p:spPr>
          <a:xfrm>
            <a:off x="658368" y="4553712"/>
            <a:ext cx="9375343"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658368" y="4937760"/>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86384" y="4636008"/>
            <a:ext cx="624324"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02:56</a:t>
            </a:r>
          </a:p>
        </p:txBody>
      </p:sp>
      <p:sp>
        <p:nvSpPr>
          <p:cNvPr id="52" name="TextBox 51"/>
          <p:cNvSpPr txBox="1"/>
          <p:nvPr/>
        </p:nvSpPr>
        <p:spPr>
          <a:xfrm>
            <a:off x="1630164" y="4636008"/>
            <a:ext cx="2218133"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週刊ダイジェスト配信</a:t>
            </a:r>
          </a:p>
        </p:txBody>
      </p:sp>
      <p:sp>
        <p:nvSpPr>
          <p:cNvPr id="53" name="TextBox 52"/>
          <p:cNvSpPr txBox="1"/>
          <p:nvPr/>
        </p:nvSpPr>
        <p:spPr>
          <a:xfrm>
            <a:off x="4067753" y="4636008"/>
            <a:ext cx="905585" cy="292608"/>
          </a:xfrm>
          <a:prstGeom prst="rect">
            <a:avLst/>
          </a:prstGeom>
          <a:noFill/>
        </p:spPr>
        <p:txBody>
          <a:bodyPr wrap="square" anchor="t" lIns="0" rIns="0" tIns="0" bIns="0">
            <a:spAutoFit/>
          </a:bodyPr>
          <a:lstStyle/>
          <a:p>
            <a:pPr algn="l">
              <a:lnSpc>
                <a:spcPct val="130000"/>
              </a:lnSpc>
              <a:spcAft>
                <a:spcPts val="0"/>
              </a:spcAft>
            </a:pPr>
            <a:r>
              <a:rPr sz="1200" b="1">
                <a:solidFill>
                  <a:srgbClr val="5FC585"/>
                </a:solidFill>
                <a:latin typeface="游ゴシック"/>
                <a:ea typeface="游ゴシック"/>
              </a:rPr>
              <a:t>success</a:t>
            </a:r>
          </a:p>
        </p:txBody>
      </p:sp>
      <p:sp>
        <p:nvSpPr>
          <p:cNvPr id="54" name="TextBox 53"/>
          <p:cNvSpPr txBox="1"/>
          <p:nvPr/>
        </p:nvSpPr>
        <p:spPr>
          <a:xfrm>
            <a:off x="5192794" y="4636008"/>
            <a:ext cx="4749475" cy="292608"/>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購読者へメール送信</a:t>
            </a:r>
          </a:p>
        </p:txBody>
      </p:sp>
      <p:sp>
        <p:nvSpPr>
          <p:cNvPr id="55" name="Rectangle 54"/>
          <p:cNvSpPr/>
          <p:nvPr/>
        </p:nvSpPr>
        <p:spPr>
          <a:xfrm>
            <a:off x="658368" y="5120640"/>
            <a:ext cx="9375343" cy="84124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914400" y="5285232"/>
            <a:ext cx="8863279" cy="548640"/>
          </a:xfrm>
          <a:prstGeom prst="rect">
            <a:avLst/>
          </a:prstGeom>
          <a:noFill/>
        </p:spPr>
        <p:txBody>
          <a:bodyPr wrap="square" anchor="t" lIns="0" rIns="0" tIns="0" bIns="0">
            <a:spAutoFit/>
          </a:bodyPr>
          <a:lstStyle/>
          <a:p>
            <a:pPr algn="l">
              <a:lnSpc>
                <a:spcPct val="150000"/>
              </a:lnSpc>
              <a:spcAft>
                <a:spcPts val="0"/>
              </a:spcAft>
            </a:pPr>
            <a:r>
              <a:rPr sz="1200" b="0">
                <a:solidFill>
                  <a:srgbClr val="1A2233"/>
                </a:solidFill>
                <a:latin typeface="游ゴシック"/>
                <a:ea typeface="游ゴシック"/>
              </a:rPr>
              <a:t>「自動修復」が skipped になっているのは、直すものが無かったという意味です。壊れていれば自動で直し、直せなければ通知が飛びます。人がログを見に行く必要はありません。</a:t>
            </a:r>
          </a:p>
        </p:txBody>
      </p:sp>
      <p:sp>
        <p:nvSpPr>
          <p:cNvPr id="57" name="Rectangle 5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GitHub Actions の実行履歴より。人の操作は一切入っていません。</a:t>
            </a:r>
          </a:p>
        </p:txBody>
      </p:sp>
      <p:sp>
        <p:nvSpPr>
          <p:cNvPr id="59" name="TextBox 58"/>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20</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エージェントが実際に出した判断</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画面の出力をそのまま載せています。どれも人が介在せず、条件だけで判定したものです。</a:t>
            </a:r>
          </a:p>
        </p:txBody>
      </p:sp>
      <p:sp>
        <p:nvSpPr>
          <p:cNvPr id="6" name="Rectangle 5"/>
          <p:cNvSpPr/>
          <p:nvPr/>
        </p:nvSpPr>
        <p:spPr>
          <a:xfrm>
            <a:off x="658368" y="1517904"/>
            <a:ext cx="4550511" cy="1828800"/>
          </a:xfrm>
          <a:prstGeom prst="rect">
            <a:avLst/>
          </a:prstGeom>
          <a:solidFill>
            <a:srgbClr val="0E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59536" y="1627632"/>
            <a:ext cx="4148175" cy="182880"/>
          </a:xfrm>
          <a:prstGeom prst="rect">
            <a:avLst/>
          </a:prstGeom>
          <a:noFill/>
        </p:spPr>
        <p:txBody>
          <a:bodyPr wrap="square" anchor="t" lIns="0" rIns="0" tIns="0" bIns="0">
            <a:spAutoFit/>
          </a:bodyPr>
          <a:lstStyle/>
          <a:p>
            <a:pPr algn="l">
              <a:spcAft>
                <a:spcPts val="0"/>
              </a:spcAft>
            </a:pPr>
            <a:r>
              <a:rPr sz="850" b="0">
                <a:solidFill>
                  <a:srgbClr val="7288A3"/>
                </a:solidFill>
                <a:latin typeface="ＭＳ ゴシック"/>
                <a:ea typeface="ＭＳ ゴシック"/>
              </a:rPr>
              <a:t>① 書く前 ― この語で書いてよいか</a:t>
            </a:r>
          </a:p>
        </p:txBody>
      </p:sp>
      <p:sp>
        <p:nvSpPr>
          <p:cNvPr id="8" name="TextBox 7"/>
          <p:cNvSpPr txBox="1"/>
          <p:nvPr/>
        </p:nvSpPr>
        <p:spPr>
          <a:xfrm>
            <a:off x="859536" y="1865376"/>
            <a:ext cx="4184751"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kw_guard.py "社労士 AI導入補助金"</a:t>
            </a:r>
          </a:p>
        </p:txBody>
      </p:sp>
      <p:sp>
        <p:nvSpPr>
          <p:cNvPr id="9" name="TextBox 8"/>
          <p:cNvSpPr txBox="1"/>
          <p:nvPr/>
        </p:nvSpPr>
        <p:spPr>
          <a:xfrm>
            <a:off x="859536" y="2046351"/>
            <a:ext cx="4184751"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a:r>
          </a:p>
        </p:txBody>
      </p:sp>
      <p:sp>
        <p:nvSpPr>
          <p:cNvPr id="10" name="TextBox 9"/>
          <p:cNvSpPr txBox="1"/>
          <p:nvPr/>
        </p:nvSpPr>
        <p:spPr>
          <a:xfrm>
            <a:off x="859536" y="2227326"/>
            <a:ext cx="4184751" cy="173736"/>
          </a:xfrm>
          <a:prstGeom prst="rect">
            <a:avLst/>
          </a:prstGeom>
          <a:noFill/>
        </p:spPr>
        <p:txBody>
          <a:bodyPr wrap="square" anchor="t" lIns="0" rIns="0" tIns="0" bIns="0">
            <a:spAutoFit/>
          </a:bodyPr>
          <a:lstStyle/>
          <a:p>
            <a:pPr algn="l">
              <a:spcAft>
                <a:spcPts val="0"/>
              </a:spcAft>
            </a:pPr>
            <a:r>
              <a:rPr sz="950" b="0">
                <a:solidFill>
                  <a:srgbClr val="7288A3"/>
                </a:solidFill>
                <a:latin typeface="ＭＳ ゴシック"/>
                <a:ea typeface="ＭＳ ゴシック"/>
              </a:rPr>
              <a:t>■ 食い合い審査（補助金サイト）</a:t>
            </a:r>
          </a:p>
        </p:txBody>
      </p:sp>
      <p:sp>
        <p:nvSpPr>
          <p:cNvPr id="11" name="TextBox 10"/>
          <p:cNvSpPr txBox="1"/>
          <p:nvPr/>
        </p:nvSpPr>
        <p:spPr>
          <a:xfrm>
            <a:off x="859536" y="2408301"/>
            <a:ext cx="4184751" cy="173736"/>
          </a:xfrm>
          <a:prstGeom prst="rect">
            <a:avLst/>
          </a:prstGeom>
          <a:noFill/>
        </p:spPr>
        <p:txBody>
          <a:bodyPr wrap="square" anchor="t" lIns="0" rIns="0" tIns="0" bIns="0">
            <a:spAutoFit/>
          </a:bodyPr>
          <a:lstStyle/>
          <a:p>
            <a:pPr algn="l">
              <a:spcAft>
                <a:spcPts val="0"/>
              </a:spcAft>
            </a:pPr>
            <a:r>
              <a:rPr sz="950" b="0">
                <a:solidFill>
                  <a:srgbClr val="5FC585"/>
                </a:solidFill>
                <a:latin typeface="ＭＳ ゴシック"/>
                <a:ea typeface="ＭＳ ゴシック"/>
              </a:rPr>
              <a:t>   ぶつかる既存記事はありません</a:t>
            </a:r>
          </a:p>
        </p:txBody>
      </p:sp>
      <p:sp>
        <p:nvSpPr>
          <p:cNvPr id="12" name="TextBox 11"/>
          <p:cNvSpPr txBox="1"/>
          <p:nvPr/>
        </p:nvSpPr>
        <p:spPr>
          <a:xfrm>
            <a:off x="859536" y="2589276"/>
            <a:ext cx="4184751" cy="173736"/>
          </a:xfrm>
          <a:prstGeom prst="rect">
            <a:avLst/>
          </a:prstGeom>
          <a:noFill/>
        </p:spPr>
        <p:txBody>
          <a:bodyPr wrap="square" anchor="t" lIns="0" rIns="0" tIns="0" bIns="0">
            <a:spAutoFit/>
          </a:bodyPr>
          <a:lstStyle/>
          <a:p>
            <a:pPr algn="l">
              <a:spcAft>
                <a:spcPts val="0"/>
              </a:spcAft>
            </a:pPr>
            <a:r>
              <a:rPr sz="950" b="0">
                <a:solidFill>
                  <a:srgbClr val="E8C26A"/>
                </a:solidFill>
                <a:latin typeface="ＭＳ ゴシック"/>
                <a:ea typeface="ＭＳ ゴシック"/>
              </a:rPr>
              <a:t>   判定: 着手可</a:t>
            </a:r>
          </a:p>
        </p:txBody>
      </p:sp>
      <p:sp>
        <p:nvSpPr>
          <p:cNvPr id="13" name="TextBox 12"/>
          <p:cNvSpPr txBox="1"/>
          <p:nvPr/>
        </p:nvSpPr>
        <p:spPr>
          <a:xfrm>
            <a:off x="859536" y="2770251"/>
            <a:ext cx="4184751"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a:r>
          </a:p>
        </p:txBody>
      </p:sp>
      <p:sp>
        <p:nvSpPr>
          <p:cNvPr id="14" name="TextBox 13"/>
          <p:cNvSpPr txBox="1"/>
          <p:nvPr/>
        </p:nvSpPr>
        <p:spPr>
          <a:xfrm>
            <a:off x="859536" y="2951226"/>
            <a:ext cx="4184751" cy="173736"/>
          </a:xfrm>
          <a:prstGeom prst="rect">
            <a:avLst/>
          </a:prstGeom>
          <a:noFill/>
        </p:spPr>
        <p:txBody>
          <a:bodyPr wrap="square" anchor="t" lIns="0" rIns="0" tIns="0" bIns="0">
            <a:spAutoFit/>
          </a:bodyPr>
          <a:lstStyle/>
          <a:p>
            <a:pPr algn="l">
              <a:spcAft>
                <a:spcPts val="0"/>
              </a:spcAft>
            </a:pPr>
            <a:r>
              <a:rPr sz="950" b="0">
                <a:solidFill>
                  <a:srgbClr val="7288A3"/>
                </a:solidFill>
                <a:latin typeface="ＭＳ ゴシック"/>
                <a:ea typeface="ＭＳ ゴシック"/>
              </a:rPr>
              <a:t>■ 開かないと済まない語か</a:t>
            </a:r>
          </a:p>
        </p:txBody>
      </p:sp>
      <p:sp>
        <p:nvSpPr>
          <p:cNvPr id="15" name="TextBox 14"/>
          <p:cNvSpPr txBox="1"/>
          <p:nvPr/>
        </p:nvSpPr>
        <p:spPr>
          <a:xfrm>
            <a:off x="859536" y="3132201"/>
            <a:ext cx="4184751" cy="173736"/>
          </a:xfrm>
          <a:prstGeom prst="rect">
            <a:avLst/>
          </a:prstGeom>
          <a:noFill/>
        </p:spPr>
        <p:txBody>
          <a:bodyPr wrap="square" anchor="t" lIns="0" rIns="0" tIns="0" bIns="0">
            <a:spAutoFit/>
          </a:bodyPr>
          <a:lstStyle/>
          <a:p>
            <a:pPr algn="l">
              <a:spcAft>
                <a:spcPts val="0"/>
              </a:spcAft>
            </a:pPr>
            <a:r>
              <a:rPr sz="950" b="0">
                <a:solidFill>
                  <a:srgbClr val="E8C26A"/>
                </a:solidFill>
                <a:latin typeface="ＭＳ ゴシック"/>
                <a:ea typeface="ＭＳ ゴシック"/>
              </a:rPr>
              <a:t>   [強] 3点（費用/いくら/内訳）</a:t>
            </a:r>
          </a:p>
        </p:txBody>
      </p:sp>
      <p:sp>
        <p:nvSpPr>
          <p:cNvPr id="16" name="Rectangle 15"/>
          <p:cNvSpPr/>
          <p:nvPr/>
        </p:nvSpPr>
        <p:spPr>
          <a:xfrm>
            <a:off x="5483199" y="1517904"/>
            <a:ext cx="4550511" cy="1828800"/>
          </a:xfrm>
          <a:prstGeom prst="rect">
            <a:avLst/>
          </a:prstGeom>
          <a:solidFill>
            <a:srgbClr val="0E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84367" y="1627632"/>
            <a:ext cx="4148175" cy="182880"/>
          </a:xfrm>
          <a:prstGeom prst="rect">
            <a:avLst/>
          </a:prstGeom>
          <a:noFill/>
        </p:spPr>
        <p:txBody>
          <a:bodyPr wrap="square" anchor="t" lIns="0" rIns="0" tIns="0" bIns="0">
            <a:spAutoFit/>
          </a:bodyPr>
          <a:lstStyle/>
          <a:p>
            <a:pPr algn="l">
              <a:spcAft>
                <a:spcPts val="0"/>
              </a:spcAft>
            </a:pPr>
            <a:r>
              <a:rPr sz="850" b="0">
                <a:solidFill>
                  <a:srgbClr val="7288A3"/>
                </a:solidFill>
                <a:latin typeface="ＭＳ ゴシック"/>
                <a:ea typeface="ＭＳ ゴシック"/>
              </a:rPr>
              <a:t>② 書いた後 ― 基準を満たしているか</a:t>
            </a:r>
          </a:p>
        </p:txBody>
      </p:sp>
      <p:sp>
        <p:nvSpPr>
          <p:cNvPr id="18" name="TextBox 17"/>
          <p:cNvSpPr txBox="1"/>
          <p:nvPr/>
        </p:nvSpPr>
        <p:spPr>
          <a:xfrm>
            <a:off x="5684367" y="1865376"/>
            <a:ext cx="4184751"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score_check.py nougyou-shoki-hiyou</a:t>
            </a:r>
          </a:p>
        </p:txBody>
      </p:sp>
      <p:sp>
        <p:nvSpPr>
          <p:cNvPr id="19" name="TextBox 18"/>
          <p:cNvSpPr txBox="1"/>
          <p:nvPr/>
        </p:nvSpPr>
        <p:spPr>
          <a:xfrm>
            <a:off x="5684367" y="2046351"/>
            <a:ext cx="4184751"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a:r>
          </a:p>
        </p:txBody>
      </p:sp>
      <p:sp>
        <p:nvSpPr>
          <p:cNvPr id="20" name="TextBox 19"/>
          <p:cNvSpPr txBox="1"/>
          <p:nvPr/>
        </p:nvSpPr>
        <p:spPr>
          <a:xfrm>
            <a:off x="5684367" y="2227326"/>
            <a:ext cx="4184751" cy="173736"/>
          </a:xfrm>
          <a:prstGeom prst="rect">
            <a:avLst/>
          </a:prstGeom>
          <a:noFill/>
        </p:spPr>
        <p:txBody>
          <a:bodyPr wrap="square" anchor="t" lIns="0" rIns="0" tIns="0" bIns="0">
            <a:spAutoFit/>
          </a:bodyPr>
          <a:lstStyle/>
          <a:p>
            <a:pPr algn="l">
              <a:spcAft>
                <a:spcPts val="0"/>
              </a:spcAft>
            </a:pPr>
            <a:r>
              <a:rPr sz="950" b="0">
                <a:solidFill>
                  <a:srgbClr val="F09084"/>
                </a:solidFill>
                <a:latin typeface="ＭＳ ゴシック"/>
                <a:ea typeface="ＭＳ ゴシック"/>
              </a:rPr>
              <a:t>FAIL | 本文5,000字以上  | 4,784字</a:t>
            </a:r>
          </a:p>
        </p:txBody>
      </p:sp>
      <p:sp>
        <p:nvSpPr>
          <p:cNvPr id="21" name="TextBox 20"/>
          <p:cNvSpPr txBox="1"/>
          <p:nvPr/>
        </p:nvSpPr>
        <p:spPr>
          <a:xfrm>
            <a:off x="5684367" y="2408301"/>
            <a:ext cx="4184751" cy="173736"/>
          </a:xfrm>
          <a:prstGeom prst="rect">
            <a:avLst/>
          </a:prstGeom>
          <a:noFill/>
        </p:spPr>
        <p:txBody>
          <a:bodyPr wrap="square" anchor="t" lIns="0" rIns="0" tIns="0" bIns="0">
            <a:spAutoFit/>
          </a:bodyPr>
          <a:lstStyle/>
          <a:p>
            <a:pPr algn="l">
              <a:spcAft>
                <a:spcPts val="0"/>
              </a:spcAft>
            </a:pPr>
            <a:r>
              <a:rPr sz="950" b="0">
                <a:solidFill>
                  <a:srgbClr val="5FC585"/>
                </a:solidFill>
                <a:latin typeface="ＭＳ ゴシック"/>
                <a:ea typeface="ＭＳ ゴシック"/>
              </a:rPr>
              <a:t>PASS | 冒頭が断言型     | 172字</a:t>
            </a:r>
          </a:p>
        </p:txBody>
      </p:sp>
      <p:sp>
        <p:nvSpPr>
          <p:cNvPr id="22" name="TextBox 21"/>
          <p:cNvSpPr txBox="1"/>
          <p:nvPr/>
        </p:nvSpPr>
        <p:spPr>
          <a:xfrm>
            <a:off x="5684367" y="2589276"/>
            <a:ext cx="4184751" cy="173736"/>
          </a:xfrm>
          <a:prstGeom prst="rect">
            <a:avLst/>
          </a:prstGeom>
          <a:noFill/>
        </p:spPr>
        <p:txBody>
          <a:bodyPr wrap="square" anchor="t" lIns="0" rIns="0" tIns="0" bIns="0">
            <a:spAutoFit/>
          </a:bodyPr>
          <a:lstStyle/>
          <a:p>
            <a:pPr algn="l">
              <a:spcAft>
                <a:spcPts val="0"/>
              </a:spcAft>
            </a:pPr>
            <a:r>
              <a:rPr sz="950" b="0">
                <a:solidFill>
                  <a:srgbClr val="5FC585"/>
                </a:solidFill>
                <a:latin typeface="ＭＳ ゴシック"/>
                <a:ea typeface="ＭＳ ゴシック"/>
              </a:rPr>
              <a:t>PASS | FAQ 5問以上      | 6問</a:t>
            </a:r>
          </a:p>
        </p:txBody>
      </p:sp>
      <p:sp>
        <p:nvSpPr>
          <p:cNvPr id="23" name="TextBox 22"/>
          <p:cNvSpPr txBox="1"/>
          <p:nvPr/>
        </p:nvSpPr>
        <p:spPr>
          <a:xfrm>
            <a:off x="5684367" y="2770251"/>
            <a:ext cx="4184751" cy="173736"/>
          </a:xfrm>
          <a:prstGeom prst="rect">
            <a:avLst/>
          </a:prstGeom>
          <a:noFill/>
        </p:spPr>
        <p:txBody>
          <a:bodyPr wrap="square" anchor="t" lIns="0" rIns="0" tIns="0" bIns="0">
            <a:spAutoFit/>
          </a:bodyPr>
          <a:lstStyle/>
          <a:p>
            <a:pPr algn="l">
              <a:spcAft>
                <a:spcPts val="0"/>
              </a:spcAft>
            </a:pPr>
            <a:r>
              <a:rPr sz="950" b="0">
                <a:solidFill>
                  <a:srgbClr val="5FC585"/>
                </a:solidFill>
                <a:latin typeface="ＭＳ ゴシック"/>
                <a:ea typeface="ＭＳ ゴシック"/>
              </a:rPr>
              <a:t>PASS | 内部リンク3本以上 | 8本</a:t>
            </a:r>
          </a:p>
        </p:txBody>
      </p:sp>
      <p:sp>
        <p:nvSpPr>
          <p:cNvPr id="24" name="TextBox 23"/>
          <p:cNvSpPr txBox="1"/>
          <p:nvPr/>
        </p:nvSpPr>
        <p:spPr>
          <a:xfrm>
            <a:off x="5684367" y="2951226"/>
            <a:ext cx="4184751" cy="173736"/>
          </a:xfrm>
          <a:prstGeom prst="rect">
            <a:avLst/>
          </a:prstGeom>
          <a:noFill/>
        </p:spPr>
        <p:txBody>
          <a:bodyPr wrap="square" anchor="t" lIns="0" rIns="0" tIns="0" bIns="0">
            <a:spAutoFit/>
          </a:bodyPr>
          <a:lstStyle/>
          <a:p>
            <a:pPr algn="l">
              <a:spcAft>
                <a:spcPts val="0"/>
              </a:spcAft>
            </a:pPr>
            <a:r>
              <a:rPr sz="950" b="0">
                <a:solidFill>
                  <a:srgbClr val="7288A3"/>
                </a:solidFill>
                <a:latin typeface="ＭＳ ゴシック"/>
                <a:ea typeface="ＭＳ ゴシック"/>
              </a:rPr>
              <a:t>...</a:t>
            </a:r>
          </a:p>
        </p:txBody>
      </p:sp>
      <p:sp>
        <p:nvSpPr>
          <p:cNvPr id="25" name="TextBox 24"/>
          <p:cNvSpPr txBox="1"/>
          <p:nvPr/>
        </p:nvSpPr>
        <p:spPr>
          <a:xfrm>
            <a:off x="5684367" y="3132201"/>
            <a:ext cx="4184751" cy="173736"/>
          </a:xfrm>
          <a:prstGeom prst="rect">
            <a:avLst/>
          </a:prstGeom>
          <a:noFill/>
        </p:spPr>
        <p:txBody>
          <a:bodyPr wrap="square" anchor="t" lIns="0" rIns="0" tIns="0" bIns="0">
            <a:spAutoFit/>
          </a:bodyPr>
          <a:lstStyle/>
          <a:p>
            <a:pPr algn="l">
              <a:spcAft>
                <a:spcPts val="0"/>
              </a:spcAft>
            </a:pPr>
            <a:r>
              <a:rPr sz="950" b="0">
                <a:solidFill>
                  <a:srgbClr val="E8C26A"/>
                </a:solidFill>
                <a:latin typeface="ＭＳ ゴシック"/>
                <a:ea typeface="ＭＳ ゴシック"/>
              </a:rPr>
              <a:t>機械採点: 18/19 → 修正してから再検査</a:t>
            </a:r>
          </a:p>
        </p:txBody>
      </p:sp>
      <p:sp>
        <p:nvSpPr>
          <p:cNvPr id="26" name="Rectangle 25"/>
          <p:cNvSpPr/>
          <p:nvPr/>
        </p:nvSpPr>
        <p:spPr>
          <a:xfrm>
            <a:off x="658368" y="3566160"/>
            <a:ext cx="9375343" cy="1783080"/>
          </a:xfrm>
          <a:prstGeom prst="rect">
            <a:avLst/>
          </a:prstGeom>
          <a:solidFill>
            <a:srgbClr val="0E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59536" y="3675888"/>
            <a:ext cx="8973007" cy="182880"/>
          </a:xfrm>
          <a:prstGeom prst="rect">
            <a:avLst/>
          </a:prstGeom>
          <a:noFill/>
        </p:spPr>
        <p:txBody>
          <a:bodyPr wrap="square" anchor="t" lIns="0" rIns="0" tIns="0" bIns="0">
            <a:spAutoFit/>
          </a:bodyPr>
          <a:lstStyle/>
          <a:p>
            <a:pPr algn="l">
              <a:spcAft>
                <a:spcPts val="0"/>
              </a:spcAft>
            </a:pPr>
            <a:r>
              <a:rPr sz="850" b="0">
                <a:solidFill>
                  <a:srgbClr val="7288A3"/>
                </a:solidFill>
                <a:latin typeface="ＭＳ ゴシック"/>
                <a:ea typeface="ＭＳ ゴシック"/>
              </a:rPr>
              <a:t>③ 公開の後 ― 効いたか、次に何をするか</a:t>
            </a:r>
          </a:p>
        </p:txBody>
      </p:sp>
      <p:sp>
        <p:nvSpPr>
          <p:cNvPr id="28" name="TextBox 27"/>
          <p:cNvSpPr txBox="1"/>
          <p:nvPr/>
        </p:nvSpPr>
        <p:spPr>
          <a:xfrm>
            <a:off x="859536" y="3913632"/>
            <a:ext cx="9009583"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auto_improve.py</a:t>
            </a:r>
          </a:p>
        </p:txBody>
      </p:sp>
      <p:sp>
        <p:nvSpPr>
          <p:cNvPr id="29" name="TextBox 28"/>
          <p:cNvSpPr txBox="1"/>
          <p:nvPr/>
        </p:nvSpPr>
        <p:spPr>
          <a:xfrm>
            <a:off x="859536" y="4094607"/>
            <a:ext cx="9009583"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a:r>
          </a:p>
        </p:txBody>
      </p:sp>
      <p:sp>
        <p:nvSpPr>
          <p:cNvPr id="30" name="TextBox 29"/>
          <p:cNvSpPr txBox="1"/>
          <p:nvPr/>
        </p:nvSpPr>
        <p:spPr>
          <a:xfrm>
            <a:off x="859536" y="4275582"/>
            <a:ext cx="9009583" cy="173736"/>
          </a:xfrm>
          <a:prstGeom prst="rect">
            <a:avLst/>
          </a:prstGeom>
          <a:noFill/>
        </p:spPr>
        <p:txBody>
          <a:bodyPr wrap="square" anchor="t" lIns="0" rIns="0" tIns="0" bIns="0">
            <a:spAutoFit/>
          </a:bodyPr>
          <a:lstStyle/>
          <a:p>
            <a:pPr algn="l">
              <a:spcAft>
                <a:spcPts val="0"/>
              </a:spcAft>
            </a:pPr>
            <a:r>
              <a:rPr sz="950" b="0">
                <a:solidFill>
                  <a:srgbClr val="7288A3"/>
                </a:solidFill>
                <a:latin typeface="ＭＳ ゴシック"/>
                <a:ea typeface="ＭＳ ゴシック"/>
              </a:rPr>
              <a:t>■ 効果測定から出たやること: 31件</a:t>
            </a:r>
          </a:p>
        </p:txBody>
      </p:sp>
      <p:sp>
        <p:nvSpPr>
          <p:cNvPr id="31" name="TextBox 30"/>
          <p:cNvSpPr txBox="1"/>
          <p:nvPr/>
        </p:nvSpPr>
        <p:spPr>
          <a:xfrm>
            <a:off x="859536" y="4456557"/>
            <a:ext cx="9009583" cy="173736"/>
          </a:xfrm>
          <a:prstGeom prst="rect">
            <a:avLst/>
          </a:prstGeom>
          <a:noFill/>
        </p:spPr>
        <p:txBody>
          <a:bodyPr wrap="square" anchor="t" lIns="0" rIns="0" tIns="0" bIns="0">
            <a:spAutoFit/>
          </a:bodyPr>
          <a:lstStyle/>
          <a:p>
            <a:pPr algn="l">
              <a:spcAft>
                <a:spcPts val="0"/>
              </a:spcAft>
            </a:pPr>
            <a:r>
              <a:rPr sz="950" b="0">
                <a:solidFill>
                  <a:srgbClr val="5FC585"/>
                </a:solidFill>
                <a:latin typeface="ＭＳ ゴシック"/>
                <a:ea typeface="ＭＳ ゴシック"/>
              </a:rPr>
              <a:t>   内部リンクを足す（自動）        4件</a:t>
            </a:r>
          </a:p>
        </p:txBody>
      </p:sp>
      <p:sp>
        <p:nvSpPr>
          <p:cNvPr id="32" name="TextBox 31"/>
          <p:cNvSpPr txBox="1"/>
          <p:nvPr/>
        </p:nvSpPr>
        <p:spPr>
          <a:xfrm>
            <a:off x="859536" y="4637532"/>
            <a:ext cx="9009583" cy="173736"/>
          </a:xfrm>
          <a:prstGeom prst="rect">
            <a:avLst/>
          </a:prstGeom>
          <a:noFill/>
        </p:spPr>
        <p:txBody>
          <a:bodyPr wrap="square" anchor="t" lIns="0" rIns="0" tIns="0" bIns="0">
            <a:spAutoFit/>
          </a:bodyPr>
          <a:lstStyle/>
          <a:p>
            <a:pPr algn="l">
              <a:spcAft>
                <a:spcPts val="0"/>
              </a:spcAft>
            </a:pPr>
            <a:r>
              <a:rPr sz="950" b="0">
                <a:solidFill>
                  <a:srgbClr val="E8C26A"/>
                </a:solidFill>
                <a:latin typeface="ＭＳ ゴシック"/>
                <a:ea typeface="ＭＳ ゴシック"/>
              </a:rPr>
              <a:t>   タイトルを直す（人が判断）      3件</a:t>
            </a:r>
          </a:p>
        </p:txBody>
      </p:sp>
      <p:sp>
        <p:nvSpPr>
          <p:cNvPr id="33" name="TextBox 32"/>
          <p:cNvSpPr txBox="1"/>
          <p:nvPr/>
        </p:nvSpPr>
        <p:spPr>
          <a:xfrm>
            <a:off x="859536" y="4818507"/>
            <a:ext cx="9009583" cy="173736"/>
          </a:xfrm>
          <a:prstGeom prst="rect">
            <a:avLst/>
          </a:prstGeom>
          <a:noFill/>
        </p:spPr>
        <p:txBody>
          <a:bodyPr wrap="square" anchor="t" lIns="0" rIns="0" tIns="0" bIns="0">
            <a:spAutoFit/>
          </a:bodyPr>
          <a:lstStyle/>
          <a:p>
            <a:pPr algn="l">
              <a:spcAft>
                <a:spcPts val="0"/>
              </a:spcAft>
            </a:pPr>
            <a:r>
              <a:rPr sz="950" b="0">
                <a:solidFill>
                  <a:srgbClr val="E8C26A"/>
                </a:solidFill>
                <a:latin typeface="ＭＳ ゴシック"/>
                <a:ea typeface="ＭＳ ゴシック"/>
              </a:rPr>
              <a:t>   検索意図を見直す（人が判断）   24件</a:t>
            </a:r>
          </a:p>
        </p:txBody>
      </p:sp>
      <p:sp>
        <p:nvSpPr>
          <p:cNvPr id="34" name="TextBox 33"/>
          <p:cNvSpPr txBox="1"/>
          <p:nvPr/>
        </p:nvSpPr>
        <p:spPr>
          <a:xfrm>
            <a:off x="859536" y="4999482"/>
            <a:ext cx="9009583" cy="173736"/>
          </a:xfrm>
          <a:prstGeom prst="rect">
            <a:avLst/>
          </a:prstGeom>
          <a:noFill/>
        </p:spPr>
        <p:txBody>
          <a:bodyPr wrap="square" anchor="t" lIns="0" rIns="0" tIns="0" bIns="0">
            <a:spAutoFit/>
          </a:bodyPr>
          <a:lstStyle/>
          <a:p>
            <a:pPr algn="l">
              <a:spcAft>
                <a:spcPts val="0"/>
              </a:spcAft>
            </a:pPr>
            <a:r>
              <a:rPr sz="950" b="0">
                <a:solidFill>
                  <a:srgbClr val="D7E2EF"/>
                </a:solidFill>
                <a:latin typeface="ＭＳ ゴシック"/>
                <a:ea typeface="ＭＳ ゴシック"/>
              </a:rPr>
              <a:t/>
            </a:r>
          </a:p>
        </p:txBody>
      </p:sp>
      <p:sp>
        <p:nvSpPr>
          <p:cNvPr id="35" name="TextBox 34"/>
          <p:cNvSpPr txBox="1"/>
          <p:nvPr/>
        </p:nvSpPr>
        <p:spPr>
          <a:xfrm>
            <a:off x="859536" y="5180457"/>
            <a:ext cx="9009583" cy="173736"/>
          </a:xfrm>
          <a:prstGeom prst="rect">
            <a:avLst/>
          </a:prstGeom>
          <a:noFill/>
        </p:spPr>
        <p:txBody>
          <a:bodyPr wrap="square" anchor="t" lIns="0" rIns="0" tIns="0" bIns="0">
            <a:spAutoFit/>
          </a:bodyPr>
          <a:lstStyle/>
          <a:p>
            <a:pPr algn="l">
              <a:spcAft>
                <a:spcPts val="0"/>
              </a:spcAft>
            </a:pPr>
            <a:r>
              <a:rPr sz="950" b="0">
                <a:solidFill>
                  <a:srgbClr val="7288A3"/>
                </a:solidFill>
                <a:latin typeface="ＭＳ ゴシック"/>
                <a:ea typeface="ＭＳ ゴシック"/>
              </a:rPr>
              <a:t>   [review] backoffice-gyomu-kaizen       表示が10から1へ減少</a:t>
            </a:r>
          </a:p>
        </p:txBody>
      </p:sp>
      <p:sp>
        <p:nvSpPr>
          <p:cNvPr id="36" name="TextBox 35"/>
          <p:cNvSpPr txBox="1"/>
          <p:nvPr/>
        </p:nvSpPr>
        <p:spPr>
          <a:xfrm>
            <a:off x="859536" y="5361432"/>
            <a:ext cx="9009583" cy="173736"/>
          </a:xfrm>
          <a:prstGeom prst="rect">
            <a:avLst/>
          </a:prstGeom>
          <a:noFill/>
        </p:spPr>
        <p:txBody>
          <a:bodyPr wrap="square" anchor="t" lIns="0" rIns="0" tIns="0" bIns="0">
            <a:spAutoFit/>
          </a:bodyPr>
          <a:lstStyle/>
          <a:p>
            <a:pPr algn="l">
              <a:spcAft>
                <a:spcPts val="0"/>
              </a:spcAft>
            </a:pPr>
            <a:r>
              <a:rPr sz="950" b="0">
                <a:solidFill>
                  <a:srgbClr val="7288A3"/>
                </a:solidFill>
                <a:latin typeface="ＭＳ ゴシック"/>
                <a:ea typeface="ＭＳ ゴシック"/>
              </a:rPr>
              <a:t>        → 直した内容が検索意図とずれていないか見直す</a:t>
            </a:r>
          </a:p>
        </p:txBody>
      </p:sp>
      <p:sp>
        <p:nvSpPr>
          <p:cNvPr id="37" name="Rectangle 3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②は実際に基準を満たさず差し戻された記録です。この記事は加筆して19/19にしてから公開しました。</a:t>
            </a:r>
          </a:p>
        </p:txBody>
      </p:sp>
      <p:sp>
        <p:nvSpPr>
          <p:cNvPr id="39" name="TextBox 38"/>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21</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止まらずに積み上がっています</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直近11日間に新しく公開された記事です。3サイト合計、すべて品質基準を満たしたもののみ。</a:t>
            </a:r>
          </a:p>
        </p:txBody>
      </p:sp>
      <p:sp>
        <p:nvSpPr>
          <p:cNvPr id="6" name="Rectangle 5"/>
          <p:cNvSpPr/>
          <p:nvPr/>
        </p:nvSpPr>
        <p:spPr>
          <a:xfrm>
            <a:off x="1042416" y="3877056"/>
            <a:ext cx="8991295" cy="9525"/>
          </a:xfrm>
          <a:prstGeom prst="rect">
            <a:avLst/>
          </a:prstGeom>
          <a:solidFill>
            <a:srgbClr val="5B6B8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3785616"/>
            <a:ext cx="310896" cy="182880"/>
          </a:xfrm>
          <a:prstGeom prst="rect">
            <a:avLst/>
          </a:prstGeom>
          <a:noFill/>
        </p:spPr>
        <p:txBody>
          <a:bodyPr wrap="square" anchor="t" lIns="0" rIns="0" tIns="0" bIns="0">
            <a:spAutoFit/>
          </a:bodyPr>
          <a:lstStyle/>
          <a:p>
            <a:pPr algn="r">
              <a:spcAft>
                <a:spcPts val="0"/>
              </a:spcAft>
            </a:pPr>
            <a:r>
              <a:rPr sz="900" b="0">
                <a:solidFill>
                  <a:srgbClr val="5B6B84"/>
                </a:solidFill>
                <a:latin typeface="游ゴシック"/>
                <a:ea typeface="游ゴシック"/>
              </a:rPr>
              <a:t>0</a:t>
            </a:r>
          </a:p>
        </p:txBody>
      </p:sp>
      <p:sp>
        <p:nvSpPr>
          <p:cNvPr id="8" name="Rectangle 7"/>
          <p:cNvSpPr/>
          <p:nvPr/>
        </p:nvSpPr>
        <p:spPr>
          <a:xfrm>
            <a:off x="1042416" y="3176016"/>
            <a:ext cx="8991295"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3084576"/>
            <a:ext cx="310896" cy="182880"/>
          </a:xfrm>
          <a:prstGeom prst="rect">
            <a:avLst/>
          </a:prstGeom>
          <a:noFill/>
        </p:spPr>
        <p:txBody>
          <a:bodyPr wrap="square" anchor="t" lIns="0" rIns="0" tIns="0" bIns="0">
            <a:spAutoFit/>
          </a:bodyPr>
          <a:lstStyle/>
          <a:p>
            <a:pPr algn="r">
              <a:spcAft>
                <a:spcPts val="0"/>
              </a:spcAft>
            </a:pPr>
            <a:r>
              <a:rPr sz="900" b="0">
                <a:solidFill>
                  <a:srgbClr val="5B6B84"/>
                </a:solidFill>
                <a:latin typeface="游ゴシック"/>
                <a:ea typeface="游ゴシック"/>
              </a:rPr>
              <a:t>4</a:t>
            </a:r>
          </a:p>
        </p:txBody>
      </p:sp>
      <p:sp>
        <p:nvSpPr>
          <p:cNvPr id="10" name="Rectangle 9"/>
          <p:cNvSpPr/>
          <p:nvPr/>
        </p:nvSpPr>
        <p:spPr>
          <a:xfrm>
            <a:off x="1042416" y="2474976"/>
            <a:ext cx="8991295"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2383536"/>
            <a:ext cx="310896" cy="182880"/>
          </a:xfrm>
          <a:prstGeom prst="rect">
            <a:avLst/>
          </a:prstGeom>
          <a:noFill/>
        </p:spPr>
        <p:txBody>
          <a:bodyPr wrap="square" anchor="t" lIns="0" rIns="0" tIns="0" bIns="0">
            <a:spAutoFit/>
          </a:bodyPr>
          <a:lstStyle/>
          <a:p>
            <a:pPr algn="r">
              <a:spcAft>
                <a:spcPts val="0"/>
              </a:spcAft>
            </a:pPr>
            <a:r>
              <a:rPr sz="900" b="0">
                <a:solidFill>
                  <a:srgbClr val="5B6B84"/>
                </a:solidFill>
                <a:latin typeface="游ゴシック"/>
                <a:ea typeface="游ゴシック"/>
              </a:rPr>
              <a:t>8</a:t>
            </a:r>
          </a:p>
        </p:txBody>
      </p:sp>
      <p:sp>
        <p:nvSpPr>
          <p:cNvPr id="12" name="Rectangle 11"/>
          <p:cNvSpPr/>
          <p:nvPr/>
        </p:nvSpPr>
        <p:spPr>
          <a:xfrm>
            <a:off x="1042416" y="1773936"/>
            <a:ext cx="8991295"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1682496"/>
            <a:ext cx="310896" cy="182880"/>
          </a:xfrm>
          <a:prstGeom prst="rect">
            <a:avLst/>
          </a:prstGeom>
          <a:noFill/>
        </p:spPr>
        <p:txBody>
          <a:bodyPr wrap="square" anchor="t" lIns="0" rIns="0" tIns="0" bIns="0">
            <a:spAutoFit/>
          </a:bodyPr>
          <a:lstStyle/>
          <a:p>
            <a:pPr algn="r">
              <a:spcAft>
                <a:spcPts val="0"/>
              </a:spcAft>
            </a:pPr>
            <a:r>
              <a:rPr sz="900" b="0">
                <a:solidFill>
                  <a:srgbClr val="5B6B84"/>
                </a:solidFill>
                <a:latin typeface="游ゴシック"/>
                <a:ea typeface="游ゴシック"/>
              </a:rPr>
              <a:t>12</a:t>
            </a:r>
          </a:p>
        </p:txBody>
      </p:sp>
      <p:sp>
        <p:nvSpPr>
          <p:cNvPr id="14" name="Rectangle 13"/>
          <p:cNvSpPr/>
          <p:nvPr/>
        </p:nvSpPr>
        <p:spPr>
          <a:xfrm>
            <a:off x="1115568" y="3701796"/>
            <a:ext cx="622872" cy="175260"/>
          </a:xfrm>
          <a:prstGeom prst="rect">
            <a:avLst/>
          </a:prstGeom>
          <a:solidFill>
            <a:srgbClr val="8FB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15568" y="348234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1</a:t>
            </a:r>
          </a:p>
        </p:txBody>
      </p:sp>
      <p:sp>
        <p:nvSpPr>
          <p:cNvPr id="16" name="TextBox 15"/>
          <p:cNvSpPr txBox="1"/>
          <p:nvPr/>
        </p:nvSpPr>
        <p:spPr>
          <a:xfrm>
            <a:off x="1115568"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09/04</a:t>
            </a:r>
          </a:p>
        </p:txBody>
      </p:sp>
      <p:sp>
        <p:nvSpPr>
          <p:cNvPr id="17" name="Rectangle 16"/>
          <p:cNvSpPr/>
          <p:nvPr/>
        </p:nvSpPr>
        <p:spPr>
          <a:xfrm>
            <a:off x="1884744" y="3000756"/>
            <a:ext cx="622872" cy="876300"/>
          </a:xfrm>
          <a:prstGeom prst="rect">
            <a:avLst/>
          </a:prstGeom>
          <a:solidFill>
            <a:srgbClr val="8FB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84744" y="278130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5</a:t>
            </a:r>
          </a:p>
        </p:txBody>
      </p:sp>
      <p:sp>
        <p:nvSpPr>
          <p:cNvPr id="19" name="TextBox 18"/>
          <p:cNvSpPr txBox="1"/>
          <p:nvPr/>
        </p:nvSpPr>
        <p:spPr>
          <a:xfrm>
            <a:off x="1884744"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09/05</a:t>
            </a:r>
          </a:p>
        </p:txBody>
      </p:sp>
      <p:sp>
        <p:nvSpPr>
          <p:cNvPr id="20" name="Rectangle 19"/>
          <p:cNvSpPr/>
          <p:nvPr/>
        </p:nvSpPr>
        <p:spPr>
          <a:xfrm>
            <a:off x="2653920" y="2474976"/>
            <a:ext cx="622872" cy="14020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653920" y="225552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8</a:t>
            </a:r>
          </a:p>
        </p:txBody>
      </p:sp>
      <p:sp>
        <p:nvSpPr>
          <p:cNvPr id="22" name="TextBox 21"/>
          <p:cNvSpPr txBox="1"/>
          <p:nvPr/>
        </p:nvSpPr>
        <p:spPr>
          <a:xfrm>
            <a:off x="2653920"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09/06</a:t>
            </a:r>
          </a:p>
        </p:txBody>
      </p:sp>
      <p:sp>
        <p:nvSpPr>
          <p:cNvPr id="23" name="Rectangle 22"/>
          <p:cNvSpPr/>
          <p:nvPr/>
        </p:nvSpPr>
        <p:spPr>
          <a:xfrm>
            <a:off x="3423096" y="1949196"/>
            <a:ext cx="622872" cy="19278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423096" y="172974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11</a:t>
            </a:r>
          </a:p>
        </p:txBody>
      </p:sp>
      <p:sp>
        <p:nvSpPr>
          <p:cNvPr id="25" name="TextBox 24"/>
          <p:cNvSpPr txBox="1"/>
          <p:nvPr/>
        </p:nvSpPr>
        <p:spPr>
          <a:xfrm>
            <a:off x="3423096"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09/07</a:t>
            </a:r>
          </a:p>
        </p:txBody>
      </p:sp>
      <p:sp>
        <p:nvSpPr>
          <p:cNvPr id="26" name="Rectangle 25"/>
          <p:cNvSpPr/>
          <p:nvPr/>
        </p:nvSpPr>
        <p:spPr>
          <a:xfrm>
            <a:off x="4192272" y="1773936"/>
            <a:ext cx="622872" cy="21031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192272" y="155448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12</a:t>
            </a:r>
          </a:p>
        </p:txBody>
      </p:sp>
      <p:sp>
        <p:nvSpPr>
          <p:cNvPr id="28" name="TextBox 27"/>
          <p:cNvSpPr txBox="1"/>
          <p:nvPr/>
        </p:nvSpPr>
        <p:spPr>
          <a:xfrm>
            <a:off x="4192272"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09/08</a:t>
            </a:r>
          </a:p>
        </p:txBody>
      </p:sp>
      <p:sp>
        <p:nvSpPr>
          <p:cNvPr id="29" name="Rectangle 28"/>
          <p:cNvSpPr/>
          <p:nvPr/>
        </p:nvSpPr>
        <p:spPr>
          <a:xfrm>
            <a:off x="4961448" y="2474976"/>
            <a:ext cx="622872" cy="14020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961448" y="225552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8</a:t>
            </a:r>
          </a:p>
        </p:txBody>
      </p:sp>
      <p:sp>
        <p:nvSpPr>
          <p:cNvPr id="31" name="TextBox 30"/>
          <p:cNvSpPr txBox="1"/>
          <p:nvPr/>
        </p:nvSpPr>
        <p:spPr>
          <a:xfrm>
            <a:off x="4961448"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09/09</a:t>
            </a:r>
          </a:p>
        </p:txBody>
      </p:sp>
      <p:sp>
        <p:nvSpPr>
          <p:cNvPr id="32" name="Rectangle 31"/>
          <p:cNvSpPr/>
          <p:nvPr/>
        </p:nvSpPr>
        <p:spPr>
          <a:xfrm>
            <a:off x="5730624" y="2474976"/>
            <a:ext cx="622872" cy="14020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730624" y="225552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8</a:t>
            </a:r>
          </a:p>
        </p:txBody>
      </p:sp>
      <p:sp>
        <p:nvSpPr>
          <p:cNvPr id="34" name="TextBox 33"/>
          <p:cNvSpPr txBox="1"/>
          <p:nvPr/>
        </p:nvSpPr>
        <p:spPr>
          <a:xfrm>
            <a:off x="5730624"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09/10</a:t>
            </a:r>
          </a:p>
        </p:txBody>
      </p:sp>
      <p:sp>
        <p:nvSpPr>
          <p:cNvPr id="35" name="Rectangle 34"/>
          <p:cNvSpPr/>
          <p:nvPr/>
        </p:nvSpPr>
        <p:spPr>
          <a:xfrm>
            <a:off x="6499800" y="2299716"/>
            <a:ext cx="622872" cy="15773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99800" y="208026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9</a:t>
            </a:r>
          </a:p>
        </p:txBody>
      </p:sp>
      <p:sp>
        <p:nvSpPr>
          <p:cNvPr id="37" name="TextBox 36"/>
          <p:cNvSpPr txBox="1"/>
          <p:nvPr/>
        </p:nvSpPr>
        <p:spPr>
          <a:xfrm>
            <a:off x="6499800"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09/11</a:t>
            </a:r>
          </a:p>
        </p:txBody>
      </p:sp>
      <p:sp>
        <p:nvSpPr>
          <p:cNvPr id="38" name="Rectangle 37"/>
          <p:cNvSpPr/>
          <p:nvPr/>
        </p:nvSpPr>
        <p:spPr>
          <a:xfrm>
            <a:off x="7268976" y="2299716"/>
            <a:ext cx="622872" cy="15773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268976" y="208026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9</a:t>
            </a:r>
          </a:p>
        </p:txBody>
      </p:sp>
      <p:sp>
        <p:nvSpPr>
          <p:cNvPr id="40" name="TextBox 39"/>
          <p:cNvSpPr txBox="1"/>
          <p:nvPr/>
        </p:nvSpPr>
        <p:spPr>
          <a:xfrm>
            <a:off x="7268976"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09/12</a:t>
            </a:r>
          </a:p>
        </p:txBody>
      </p:sp>
      <p:sp>
        <p:nvSpPr>
          <p:cNvPr id="41" name="Rectangle 40"/>
          <p:cNvSpPr/>
          <p:nvPr/>
        </p:nvSpPr>
        <p:spPr>
          <a:xfrm>
            <a:off x="8038152" y="2825496"/>
            <a:ext cx="622872" cy="1051560"/>
          </a:xfrm>
          <a:prstGeom prst="rect">
            <a:avLst/>
          </a:prstGeom>
          <a:solidFill>
            <a:srgbClr val="8FB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38152" y="260604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6</a:t>
            </a:r>
          </a:p>
        </p:txBody>
      </p:sp>
      <p:sp>
        <p:nvSpPr>
          <p:cNvPr id="43" name="TextBox 42"/>
          <p:cNvSpPr txBox="1"/>
          <p:nvPr/>
        </p:nvSpPr>
        <p:spPr>
          <a:xfrm>
            <a:off x="8038152"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09/13</a:t>
            </a:r>
          </a:p>
        </p:txBody>
      </p:sp>
      <p:sp>
        <p:nvSpPr>
          <p:cNvPr id="44" name="Rectangle 43"/>
          <p:cNvSpPr/>
          <p:nvPr/>
        </p:nvSpPr>
        <p:spPr>
          <a:xfrm>
            <a:off x="8807328" y="3000756"/>
            <a:ext cx="622872" cy="876300"/>
          </a:xfrm>
          <a:prstGeom prst="rect">
            <a:avLst/>
          </a:prstGeom>
          <a:solidFill>
            <a:srgbClr val="8FB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807328" y="2781300"/>
            <a:ext cx="622872" cy="182880"/>
          </a:xfrm>
          <a:prstGeom prst="rect">
            <a:avLst/>
          </a:prstGeom>
          <a:noFill/>
        </p:spPr>
        <p:txBody>
          <a:bodyPr wrap="square" anchor="t" lIns="0" rIns="0" tIns="0" bIns="0">
            <a:spAutoFit/>
          </a:bodyPr>
          <a:lstStyle/>
          <a:p>
            <a:pPr algn="ctr">
              <a:spcAft>
                <a:spcPts val="0"/>
              </a:spcAft>
            </a:pPr>
            <a:r>
              <a:rPr sz="1000" b="1">
                <a:solidFill>
                  <a:srgbClr val="0B2447"/>
                </a:solidFill>
                <a:latin typeface="游ゴシック"/>
                <a:ea typeface="游ゴシック"/>
              </a:rPr>
              <a:t>5</a:t>
            </a:r>
          </a:p>
        </p:txBody>
      </p:sp>
      <p:sp>
        <p:nvSpPr>
          <p:cNvPr id="46" name="TextBox 45"/>
          <p:cNvSpPr txBox="1"/>
          <p:nvPr/>
        </p:nvSpPr>
        <p:spPr>
          <a:xfrm>
            <a:off x="8807328" y="3950208"/>
            <a:ext cx="622872" cy="182880"/>
          </a:xfrm>
          <a:prstGeom prst="rect">
            <a:avLst/>
          </a:prstGeom>
          <a:noFill/>
        </p:spPr>
        <p:txBody>
          <a:bodyPr wrap="square" anchor="t" lIns="0" rIns="0" tIns="0" bIns="0">
            <a:spAutoFit/>
          </a:bodyPr>
          <a:lstStyle/>
          <a:p>
            <a:pPr algn="ctr">
              <a:spcAft>
                <a:spcPts val="0"/>
              </a:spcAft>
            </a:pPr>
            <a:r>
              <a:rPr sz="950" b="0">
                <a:solidFill>
                  <a:srgbClr val="5B6B84"/>
                </a:solidFill>
                <a:latin typeface="游ゴシック"/>
                <a:ea typeface="游ゴシック"/>
              </a:rPr>
              <a:t>09/14</a:t>
            </a:r>
          </a:p>
        </p:txBody>
      </p:sp>
      <p:sp>
        <p:nvSpPr>
          <p:cNvPr id="47" name="Rectangle 46"/>
          <p:cNvSpPr/>
          <p:nvPr/>
        </p:nvSpPr>
        <p:spPr>
          <a:xfrm>
            <a:off x="658368" y="4297680"/>
            <a:ext cx="2991002" cy="105156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58368" y="4297680"/>
            <a:ext cx="38100" cy="10515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77824" y="4453128"/>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11日間の公開数</a:t>
            </a:r>
          </a:p>
        </p:txBody>
      </p:sp>
      <p:sp>
        <p:nvSpPr>
          <p:cNvPr id="50" name="TextBox 49"/>
          <p:cNvSpPr txBox="1"/>
          <p:nvPr/>
        </p:nvSpPr>
        <p:spPr>
          <a:xfrm>
            <a:off x="877824" y="4681728"/>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82本</a:t>
            </a:r>
          </a:p>
        </p:txBody>
      </p:sp>
      <p:sp>
        <p:nvSpPr>
          <p:cNvPr id="51" name="TextBox 50"/>
          <p:cNvSpPr txBox="1"/>
          <p:nvPr/>
        </p:nvSpPr>
        <p:spPr>
          <a:xfrm>
            <a:off x="877824" y="5084064"/>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1日あたり平均7.5本。3サイトに配分しています</a:t>
            </a:r>
          </a:p>
        </p:txBody>
      </p:sp>
      <p:sp>
        <p:nvSpPr>
          <p:cNvPr id="52" name="Rectangle 51"/>
          <p:cNvSpPr/>
          <p:nvPr/>
        </p:nvSpPr>
        <p:spPr>
          <a:xfrm>
            <a:off x="3850538" y="4297680"/>
            <a:ext cx="2991002" cy="105156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3850538" y="4297680"/>
            <a:ext cx="38100" cy="10515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069994" y="4453128"/>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差し戻された記事</a:t>
            </a:r>
          </a:p>
        </p:txBody>
      </p:sp>
      <p:sp>
        <p:nvSpPr>
          <p:cNvPr id="55" name="TextBox 54"/>
          <p:cNvSpPr txBox="1"/>
          <p:nvPr/>
        </p:nvSpPr>
        <p:spPr>
          <a:xfrm>
            <a:off x="4069994" y="4681728"/>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0本が未公開のまま</a:t>
            </a:r>
          </a:p>
        </p:txBody>
      </p:sp>
      <p:sp>
        <p:nvSpPr>
          <p:cNvPr id="56" name="TextBox 55"/>
          <p:cNvSpPr txBox="1"/>
          <p:nvPr/>
        </p:nvSpPr>
        <p:spPr>
          <a:xfrm>
            <a:off x="4069994" y="5084064"/>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基準に届かないものは加筆して通してから公開</a:t>
            </a:r>
          </a:p>
        </p:txBody>
      </p:sp>
      <p:sp>
        <p:nvSpPr>
          <p:cNvPr id="57" name="Rectangle 56"/>
          <p:cNvSpPr/>
          <p:nvPr/>
        </p:nvSpPr>
        <p:spPr>
          <a:xfrm>
            <a:off x="7042708" y="4297680"/>
            <a:ext cx="2991002" cy="105156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7042708" y="4297680"/>
            <a:ext cx="38100" cy="10515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262164" y="4453128"/>
            <a:ext cx="2625242"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人が書いた記事</a:t>
            </a:r>
          </a:p>
        </p:txBody>
      </p:sp>
      <p:sp>
        <p:nvSpPr>
          <p:cNvPr id="60" name="TextBox 59"/>
          <p:cNvSpPr txBox="1"/>
          <p:nvPr/>
        </p:nvSpPr>
        <p:spPr>
          <a:xfrm>
            <a:off x="7262164" y="4681728"/>
            <a:ext cx="2625242" cy="329184"/>
          </a:xfrm>
          <a:prstGeom prst="rect">
            <a:avLst/>
          </a:prstGeom>
          <a:noFill/>
        </p:spPr>
        <p:txBody>
          <a:bodyPr wrap="square" anchor="t" lIns="0" rIns="0" tIns="0" bIns="0">
            <a:spAutoFit/>
          </a:bodyPr>
          <a:lstStyle/>
          <a:p>
            <a:pPr algn="l">
              <a:spcAft>
                <a:spcPts val="0"/>
              </a:spcAft>
            </a:pPr>
            <a:r>
              <a:rPr sz="2000" b="1">
                <a:solidFill>
                  <a:srgbClr val="0B2447"/>
                </a:solidFill>
                <a:latin typeface="游ゴシック"/>
                <a:ea typeface="游ゴシック"/>
              </a:rPr>
              <a:t>0本</a:t>
            </a:r>
          </a:p>
        </p:txBody>
      </p:sp>
      <p:sp>
        <p:nvSpPr>
          <p:cNvPr id="61" name="TextBox 60"/>
          <p:cNvSpPr txBox="1"/>
          <p:nvPr/>
        </p:nvSpPr>
        <p:spPr>
          <a:xfrm>
            <a:off x="7262164" y="5084064"/>
            <a:ext cx="2625242" cy="402336"/>
          </a:xfrm>
          <a:prstGeom prst="rect">
            <a:avLst/>
          </a:prstGeom>
          <a:noFill/>
        </p:spPr>
        <p:txBody>
          <a:bodyPr wrap="square" anchor="t" lIns="0" rIns="0" tIns="0" bIns="0">
            <a:spAutoFit/>
          </a:bodyPr>
          <a:lstStyle/>
          <a:p>
            <a:pPr algn="l">
              <a:lnSpc>
                <a:spcPct val="135000"/>
              </a:lnSpc>
              <a:spcAft>
                <a:spcPts val="0"/>
              </a:spcAft>
            </a:pPr>
            <a:r>
              <a:rPr sz="1100" b="0">
                <a:solidFill>
                  <a:srgbClr val="1A2233"/>
                </a:solidFill>
                <a:latin typeface="游ゴシック"/>
                <a:ea typeface="游ゴシック"/>
              </a:rPr>
              <a:t>方向性の決定と最終判断のみ人が行います</a:t>
            </a:r>
          </a:p>
        </p:txBody>
      </p:sp>
      <p:sp>
        <p:nvSpPr>
          <p:cNvPr id="62" name="Rectangle 61"/>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当社運用サイトのコミット履歴より集計（2026/09/04〜09/14）。日ごとの本数は、公募や季節の事情でテーマを入れ替えるため上下します。</a:t>
            </a:r>
          </a:p>
        </p:txBody>
      </p:sp>
      <p:sp>
        <p:nvSpPr>
          <p:cNvPr id="64" name="TextBox 63"/>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512064"/>
            <a:ext cx="9375343" cy="182880"/>
          </a:xfrm>
          <a:prstGeom prst="rect">
            <a:avLst/>
          </a:prstGeom>
          <a:noFill/>
        </p:spPr>
        <p:txBody>
          <a:bodyPr wrap="square" anchor="t" lIns="0" rIns="0" tIns="0" bIns="0">
            <a:spAutoFit/>
          </a:bodyPr>
          <a:lstStyle/>
          <a:p>
            <a:pPr algn="l">
              <a:spcAft>
                <a:spcPts val="0"/>
              </a:spcAft>
            </a:pPr>
            <a:r>
              <a:rPr sz="950" b="1">
                <a:solidFill>
                  <a:srgbClr val="0D9488"/>
                </a:solidFill>
                <a:latin typeface="游ゴシック"/>
                <a:ea typeface="游ゴシック"/>
              </a:rPr>
              <a:t>優位点</a:t>
            </a:r>
          </a:p>
        </p:txBody>
      </p:sp>
      <p:sp>
        <p:nvSpPr>
          <p:cNvPr id="3" name="TextBox 2"/>
          <p:cNvSpPr txBox="1"/>
          <p:nvPr/>
        </p:nvSpPr>
        <p:spPr>
          <a:xfrm>
            <a:off x="658368" y="832104"/>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22</a:t>
            </a:r>
          </a:p>
        </p:txBody>
      </p:sp>
      <p:sp>
        <p:nvSpPr>
          <p:cNvPr id="4" name="TextBox 3"/>
          <p:cNvSpPr txBox="1"/>
          <p:nvPr/>
        </p:nvSpPr>
        <p:spPr>
          <a:xfrm>
            <a:off x="1170432" y="768096"/>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一般的なSEO支援と、何が違うのか</a:t>
            </a:r>
          </a:p>
        </p:txBody>
      </p:sp>
      <p:sp>
        <p:nvSpPr>
          <p:cNvPr id="5" name="Rectangle 4"/>
          <p:cNvSpPr/>
          <p:nvPr/>
        </p:nvSpPr>
        <p:spPr>
          <a:xfrm>
            <a:off x="658368" y="1225296"/>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「SEOコンサル」「記事制作代行」「AIライティングツール」と比べます。どれも一部は重なりますが、担う範囲が違います。</a:t>
            </a:r>
          </a:p>
        </p:txBody>
      </p:sp>
      <p:sp>
        <p:nvSpPr>
          <p:cNvPr id="7" name="Rectangle 6"/>
          <p:cNvSpPr/>
          <p:nvPr/>
        </p:nvSpPr>
        <p:spPr>
          <a:xfrm>
            <a:off x="658368" y="1737360"/>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810512"/>
            <a:ext cx="2442216"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
            </a:r>
          </a:p>
        </p:txBody>
      </p:sp>
      <p:sp>
        <p:nvSpPr>
          <p:cNvPr id="9" name="TextBox 8"/>
          <p:cNvSpPr txBox="1"/>
          <p:nvPr/>
        </p:nvSpPr>
        <p:spPr>
          <a:xfrm>
            <a:off x="3411480" y="1810512"/>
            <a:ext cx="1317174"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SEOコンサル</a:t>
            </a:r>
          </a:p>
        </p:txBody>
      </p:sp>
      <p:sp>
        <p:nvSpPr>
          <p:cNvPr id="10" name="TextBox 9"/>
          <p:cNvSpPr txBox="1"/>
          <p:nvPr/>
        </p:nvSpPr>
        <p:spPr>
          <a:xfrm>
            <a:off x="4911534" y="1810512"/>
            <a:ext cx="1317174"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記事制作代行</a:t>
            </a:r>
          </a:p>
        </p:txBody>
      </p:sp>
      <p:sp>
        <p:nvSpPr>
          <p:cNvPr id="11" name="TextBox 10"/>
          <p:cNvSpPr txBox="1"/>
          <p:nvPr/>
        </p:nvSpPr>
        <p:spPr>
          <a:xfrm>
            <a:off x="6411588" y="1810512"/>
            <a:ext cx="1129668"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AIツール</a:t>
            </a:r>
          </a:p>
        </p:txBody>
      </p:sp>
      <p:sp>
        <p:nvSpPr>
          <p:cNvPr id="12" name="TextBox 11"/>
          <p:cNvSpPr txBox="1"/>
          <p:nvPr/>
        </p:nvSpPr>
        <p:spPr>
          <a:xfrm>
            <a:off x="7724136" y="1810512"/>
            <a:ext cx="2254709" cy="228600"/>
          </a:xfrm>
          <a:prstGeom prst="rect">
            <a:avLst/>
          </a:prstGeom>
          <a:noFill/>
        </p:spPr>
        <p:txBody>
          <a:bodyPr wrap="square" anchor="t" lIns="0" rIns="0" tIns="0" bIns="0">
            <a:spAutoFit/>
          </a:bodyPr>
          <a:lstStyle/>
          <a:p>
            <a:pPr algn="l">
              <a:spcAft>
                <a:spcPts val="0"/>
              </a:spcAft>
            </a:pPr>
            <a:r>
              <a:rPr sz="1050" b="1">
                <a:solidFill>
                  <a:srgbClr val="FFFFFF"/>
                </a:solidFill>
                <a:latin typeface="游ゴシック"/>
                <a:ea typeface="游ゴシック"/>
              </a:rPr>
              <a:t>本サービス</a:t>
            </a:r>
          </a:p>
        </p:txBody>
      </p:sp>
      <p:sp>
        <p:nvSpPr>
          <p:cNvPr id="13" name="Rectangle 12"/>
          <p:cNvSpPr/>
          <p:nvPr/>
        </p:nvSpPr>
        <p:spPr>
          <a:xfrm>
            <a:off x="658368" y="2414016"/>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2167128"/>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助言・戦略</a:t>
            </a:r>
          </a:p>
        </p:txBody>
      </p:sp>
      <p:sp>
        <p:nvSpPr>
          <p:cNvPr id="15" name="TextBox 14"/>
          <p:cNvSpPr txBox="1"/>
          <p:nvPr/>
        </p:nvSpPr>
        <p:spPr>
          <a:xfrm>
            <a:off x="3411480" y="2167128"/>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16" name="TextBox 15"/>
          <p:cNvSpPr txBox="1"/>
          <p:nvPr/>
        </p:nvSpPr>
        <p:spPr>
          <a:xfrm>
            <a:off x="4911534" y="2167128"/>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17" name="TextBox 16"/>
          <p:cNvSpPr txBox="1"/>
          <p:nvPr/>
        </p:nvSpPr>
        <p:spPr>
          <a:xfrm>
            <a:off x="6411588" y="2167128"/>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18" name="TextBox 17"/>
          <p:cNvSpPr txBox="1"/>
          <p:nvPr/>
        </p:nvSpPr>
        <p:spPr>
          <a:xfrm>
            <a:off x="7724136" y="2167128"/>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19" name="Rectangle 18"/>
          <p:cNvSpPr/>
          <p:nvPr/>
        </p:nvSpPr>
        <p:spPr>
          <a:xfrm>
            <a:off x="658368" y="2414016"/>
            <a:ext cx="9375343" cy="3291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2743200"/>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6384" y="2496312"/>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記事の執筆</a:t>
            </a:r>
          </a:p>
        </p:txBody>
      </p:sp>
      <p:sp>
        <p:nvSpPr>
          <p:cNvPr id="22" name="TextBox 21"/>
          <p:cNvSpPr txBox="1"/>
          <p:nvPr/>
        </p:nvSpPr>
        <p:spPr>
          <a:xfrm>
            <a:off x="3411480" y="2496312"/>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23" name="TextBox 22"/>
          <p:cNvSpPr txBox="1"/>
          <p:nvPr/>
        </p:nvSpPr>
        <p:spPr>
          <a:xfrm>
            <a:off x="4911534" y="2496312"/>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24" name="TextBox 23"/>
          <p:cNvSpPr txBox="1"/>
          <p:nvPr/>
        </p:nvSpPr>
        <p:spPr>
          <a:xfrm>
            <a:off x="6411588" y="2496312"/>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25" name="TextBox 24"/>
          <p:cNvSpPr txBox="1"/>
          <p:nvPr/>
        </p:nvSpPr>
        <p:spPr>
          <a:xfrm>
            <a:off x="7724136" y="2496312"/>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26" name="Rectangle 25"/>
          <p:cNvSpPr/>
          <p:nvPr/>
        </p:nvSpPr>
        <p:spPr>
          <a:xfrm>
            <a:off x="658368" y="307238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86384" y="2825496"/>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図解の作成</a:t>
            </a:r>
          </a:p>
        </p:txBody>
      </p:sp>
      <p:sp>
        <p:nvSpPr>
          <p:cNvPr id="28" name="TextBox 27"/>
          <p:cNvSpPr txBox="1"/>
          <p:nvPr/>
        </p:nvSpPr>
        <p:spPr>
          <a:xfrm>
            <a:off x="3411480" y="2825496"/>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29" name="TextBox 28"/>
          <p:cNvSpPr txBox="1"/>
          <p:nvPr/>
        </p:nvSpPr>
        <p:spPr>
          <a:xfrm>
            <a:off x="4911534" y="2825496"/>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30" name="TextBox 29"/>
          <p:cNvSpPr txBox="1"/>
          <p:nvPr/>
        </p:nvSpPr>
        <p:spPr>
          <a:xfrm>
            <a:off x="6411588" y="2825496"/>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31" name="TextBox 30"/>
          <p:cNvSpPr txBox="1"/>
          <p:nvPr/>
        </p:nvSpPr>
        <p:spPr>
          <a:xfrm>
            <a:off x="7724136" y="2825496"/>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32" name="Rectangle 31"/>
          <p:cNvSpPr/>
          <p:nvPr/>
        </p:nvSpPr>
        <p:spPr>
          <a:xfrm>
            <a:off x="658368" y="3072384"/>
            <a:ext cx="9375343" cy="3291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340156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6384" y="3154680"/>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公開作業</a:t>
            </a:r>
          </a:p>
        </p:txBody>
      </p:sp>
      <p:sp>
        <p:nvSpPr>
          <p:cNvPr id="35" name="TextBox 34"/>
          <p:cNvSpPr txBox="1"/>
          <p:nvPr/>
        </p:nvSpPr>
        <p:spPr>
          <a:xfrm>
            <a:off x="3411480" y="3154680"/>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36" name="TextBox 35"/>
          <p:cNvSpPr txBox="1"/>
          <p:nvPr/>
        </p:nvSpPr>
        <p:spPr>
          <a:xfrm>
            <a:off x="4911534" y="3154680"/>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37" name="TextBox 36"/>
          <p:cNvSpPr txBox="1"/>
          <p:nvPr/>
        </p:nvSpPr>
        <p:spPr>
          <a:xfrm>
            <a:off x="6411588" y="3154680"/>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38" name="TextBox 37"/>
          <p:cNvSpPr txBox="1"/>
          <p:nvPr/>
        </p:nvSpPr>
        <p:spPr>
          <a:xfrm>
            <a:off x="7724136" y="3154680"/>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39" name="Rectangle 38"/>
          <p:cNvSpPr/>
          <p:nvPr/>
        </p:nvSpPr>
        <p:spPr>
          <a:xfrm>
            <a:off x="658368" y="37307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86384" y="3483864"/>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AI検索への対応</a:t>
            </a:r>
          </a:p>
        </p:txBody>
      </p:sp>
      <p:sp>
        <p:nvSpPr>
          <p:cNvPr id="41" name="TextBox 40"/>
          <p:cNvSpPr txBox="1"/>
          <p:nvPr/>
        </p:nvSpPr>
        <p:spPr>
          <a:xfrm>
            <a:off x="3411480" y="3483864"/>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42" name="TextBox 41"/>
          <p:cNvSpPr txBox="1"/>
          <p:nvPr/>
        </p:nvSpPr>
        <p:spPr>
          <a:xfrm>
            <a:off x="4911534" y="3483864"/>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43" name="TextBox 42"/>
          <p:cNvSpPr txBox="1"/>
          <p:nvPr/>
        </p:nvSpPr>
        <p:spPr>
          <a:xfrm>
            <a:off x="6411588" y="3483864"/>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44" name="TextBox 43"/>
          <p:cNvSpPr txBox="1"/>
          <p:nvPr/>
        </p:nvSpPr>
        <p:spPr>
          <a:xfrm>
            <a:off x="7724136" y="3483864"/>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45" name="Rectangle 44"/>
          <p:cNvSpPr/>
          <p:nvPr/>
        </p:nvSpPr>
        <p:spPr>
          <a:xfrm>
            <a:off x="658368" y="3730752"/>
            <a:ext cx="9375343" cy="3291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58368" y="4059936"/>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86384" y="3813048"/>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食い合いの機械判定</a:t>
            </a:r>
          </a:p>
        </p:txBody>
      </p:sp>
      <p:sp>
        <p:nvSpPr>
          <p:cNvPr id="48" name="TextBox 47"/>
          <p:cNvSpPr txBox="1"/>
          <p:nvPr/>
        </p:nvSpPr>
        <p:spPr>
          <a:xfrm>
            <a:off x="3411480" y="3813048"/>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49" name="TextBox 48"/>
          <p:cNvSpPr txBox="1"/>
          <p:nvPr/>
        </p:nvSpPr>
        <p:spPr>
          <a:xfrm>
            <a:off x="4911534" y="3813048"/>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50" name="TextBox 49"/>
          <p:cNvSpPr txBox="1"/>
          <p:nvPr/>
        </p:nvSpPr>
        <p:spPr>
          <a:xfrm>
            <a:off x="6411588" y="3813048"/>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51" name="TextBox 50"/>
          <p:cNvSpPr txBox="1"/>
          <p:nvPr/>
        </p:nvSpPr>
        <p:spPr>
          <a:xfrm>
            <a:off x="7724136" y="3813048"/>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52" name="Rectangle 51"/>
          <p:cNvSpPr/>
          <p:nvPr/>
        </p:nvSpPr>
        <p:spPr>
          <a:xfrm>
            <a:off x="658368" y="4389120"/>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86384" y="4142232"/>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品質の物理ガード</a:t>
            </a:r>
          </a:p>
        </p:txBody>
      </p:sp>
      <p:sp>
        <p:nvSpPr>
          <p:cNvPr id="54" name="TextBox 53"/>
          <p:cNvSpPr txBox="1"/>
          <p:nvPr/>
        </p:nvSpPr>
        <p:spPr>
          <a:xfrm>
            <a:off x="3411480" y="4142232"/>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55" name="TextBox 54"/>
          <p:cNvSpPr txBox="1"/>
          <p:nvPr/>
        </p:nvSpPr>
        <p:spPr>
          <a:xfrm>
            <a:off x="4911534" y="4142232"/>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56" name="TextBox 55"/>
          <p:cNvSpPr txBox="1"/>
          <p:nvPr/>
        </p:nvSpPr>
        <p:spPr>
          <a:xfrm>
            <a:off x="6411588" y="4142232"/>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57" name="TextBox 56"/>
          <p:cNvSpPr txBox="1"/>
          <p:nvPr/>
        </p:nvSpPr>
        <p:spPr>
          <a:xfrm>
            <a:off x="7724136" y="4142232"/>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58" name="Rectangle 57"/>
          <p:cNvSpPr/>
          <p:nvPr/>
        </p:nvSpPr>
        <p:spPr>
          <a:xfrm>
            <a:off x="658368" y="4389120"/>
            <a:ext cx="9375343" cy="3291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58368" y="471830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86384" y="4471416"/>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公開後の効果測定</a:t>
            </a:r>
          </a:p>
        </p:txBody>
      </p:sp>
      <p:sp>
        <p:nvSpPr>
          <p:cNvPr id="61" name="TextBox 60"/>
          <p:cNvSpPr txBox="1"/>
          <p:nvPr/>
        </p:nvSpPr>
        <p:spPr>
          <a:xfrm>
            <a:off x="3411480" y="4471416"/>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62" name="TextBox 61"/>
          <p:cNvSpPr txBox="1"/>
          <p:nvPr/>
        </p:nvSpPr>
        <p:spPr>
          <a:xfrm>
            <a:off x="4911534" y="4471416"/>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63" name="TextBox 62"/>
          <p:cNvSpPr txBox="1"/>
          <p:nvPr/>
        </p:nvSpPr>
        <p:spPr>
          <a:xfrm>
            <a:off x="6411588" y="4471416"/>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64" name="TextBox 63"/>
          <p:cNvSpPr txBox="1"/>
          <p:nvPr/>
        </p:nvSpPr>
        <p:spPr>
          <a:xfrm>
            <a:off x="7724136" y="4471416"/>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65" name="Rectangle 64"/>
          <p:cNvSpPr/>
          <p:nvPr/>
        </p:nvSpPr>
        <p:spPr>
          <a:xfrm>
            <a:off x="658368" y="504748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786384" y="4800600"/>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効かない記事の自動改善</a:t>
            </a:r>
          </a:p>
        </p:txBody>
      </p:sp>
      <p:sp>
        <p:nvSpPr>
          <p:cNvPr id="67" name="TextBox 66"/>
          <p:cNvSpPr txBox="1"/>
          <p:nvPr/>
        </p:nvSpPr>
        <p:spPr>
          <a:xfrm>
            <a:off x="3411480" y="4800600"/>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68" name="TextBox 67"/>
          <p:cNvSpPr txBox="1"/>
          <p:nvPr/>
        </p:nvSpPr>
        <p:spPr>
          <a:xfrm>
            <a:off x="4911534" y="4800600"/>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69" name="TextBox 68"/>
          <p:cNvSpPr txBox="1"/>
          <p:nvPr/>
        </p:nvSpPr>
        <p:spPr>
          <a:xfrm>
            <a:off x="6411588" y="4800600"/>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a:t>
            </a:r>
          </a:p>
        </p:txBody>
      </p:sp>
      <p:sp>
        <p:nvSpPr>
          <p:cNvPr id="70" name="TextBox 69"/>
          <p:cNvSpPr txBox="1"/>
          <p:nvPr/>
        </p:nvSpPr>
        <p:spPr>
          <a:xfrm>
            <a:off x="7724136" y="4800600"/>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a:t>
            </a:r>
          </a:p>
        </p:txBody>
      </p:sp>
      <p:sp>
        <p:nvSpPr>
          <p:cNvPr id="71" name="Rectangle 70"/>
          <p:cNvSpPr/>
          <p:nvPr/>
        </p:nvSpPr>
        <p:spPr>
          <a:xfrm>
            <a:off x="658368" y="5047488"/>
            <a:ext cx="9375343" cy="3291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658368" y="537667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786384" y="5129784"/>
            <a:ext cx="2405640"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自社に残る作業</a:t>
            </a:r>
          </a:p>
        </p:txBody>
      </p:sp>
      <p:sp>
        <p:nvSpPr>
          <p:cNvPr id="74" name="TextBox 73"/>
          <p:cNvSpPr txBox="1"/>
          <p:nvPr/>
        </p:nvSpPr>
        <p:spPr>
          <a:xfrm>
            <a:off x="3411480" y="5129784"/>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多い</a:t>
            </a:r>
          </a:p>
        </p:txBody>
      </p:sp>
      <p:sp>
        <p:nvSpPr>
          <p:cNvPr id="75" name="TextBox 74"/>
          <p:cNvSpPr txBox="1"/>
          <p:nvPr/>
        </p:nvSpPr>
        <p:spPr>
          <a:xfrm>
            <a:off x="4911534" y="5129784"/>
            <a:ext cx="1280598"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中</a:t>
            </a:r>
          </a:p>
        </p:txBody>
      </p:sp>
      <p:sp>
        <p:nvSpPr>
          <p:cNvPr id="76" name="TextBox 75"/>
          <p:cNvSpPr txBox="1"/>
          <p:nvPr/>
        </p:nvSpPr>
        <p:spPr>
          <a:xfrm>
            <a:off x="6411588" y="5129784"/>
            <a:ext cx="1093092" cy="237744"/>
          </a:xfrm>
          <a:prstGeom prst="rect">
            <a:avLst/>
          </a:prstGeom>
          <a:noFill/>
        </p:spPr>
        <p:txBody>
          <a:bodyPr wrap="square" anchor="t" lIns="0" rIns="0" tIns="0" bIns="0">
            <a:spAutoFit/>
          </a:bodyPr>
          <a:lstStyle/>
          <a:p>
            <a:pPr algn="l">
              <a:lnSpc>
                <a:spcPct val="130000"/>
              </a:lnSpc>
              <a:spcAft>
                <a:spcPts val="0"/>
              </a:spcAft>
            </a:pPr>
            <a:r>
              <a:rPr sz="1100" b="0">
                <a:solidFill>
                  <a:srgbClr val="1A2233"/>
                </a:solidFill>
                <a:latin typeface="游ゴシック"/>
                <a:ea typeface="游ゴシック"/>
              </a:rPr>
              <a:t>多い</a:t>
            </a:r>
          </a:p>
        </p:txBody>
      </p:sp>
      <p:sp>
        <p:nvSpPr>
          <p:cNvPr id="77" name="TextBox 76"/>
          <p:cNvSpPr txBox="1"/>
          <p:nvPr/>
        </p:nvSpPr>
        <p:spPr>
          <a:xfrm>
            <a:off x="7724136" y="5129784"/>
            <a:ext cx="2218133" cy="237744"/>
          </a:xfrm>
          <a:prstGeom prst="rect">
            <a:avLst/>
          </a:prstGeom>
          <a:noFill/>
        </p:spPr>
        <p:txBody>
          <a:bodyPr wrap="square" anchor="t" lIns="0" rIns="0" tIns="0" bIns="0">
            <a:spAutoFit/>
          </a:bodyPr>
          <a:lstStyle/>
          <a:p>
            <a:pPr algn="l">
              <a:lnSpc>
                <a:spcPct val="130000"/>
              </a:lnSpc>
              <a:spcAft>
                <a:spcPts val="0"/>
              </a:spcAft>
            </a:pPr>
            <a:r>
              <a:rPr sz="1100" b="1">
                <a:solidFill>
                  <a:srgbClr val="2563EB"/>
                </a:solidFill>
                <a:latin typeface="游ゴシック"/>
                <a:ea typeface="游ゴシック"/>
              </a:rPr>
              <a:t>ほぼ無し</a:t>
            </a:r>
          </a:p>
        </p:txBody>
      </p:sp>
      <p:sp>
        <p:nvSpPr>
          <p:cNvPr id="78" name="Rectangle 77"/>
          <p:cNvSpPr/>
          <p:nvPr/>
        </p:nvSpPr>
        <p:spPr>
          <a:xfrm>
            <a:off x="658368" y="5559552"/>
            <a:ext cx="9375343" cy="841248"/>
          </a:xfrm>
          <a:prstGeom prst="rect">
            <a:avLst/>
          </a:prstGeom>
          <a:solidFill>
            <a:srgbClr val="EBF2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914400" y="5705856"/>
            <a:ext cx="8863279" cy="594360"/>
          </a:xfrm>
          <a:prstGeom prst="rect">
            <a:avLst/>
          </a:prstGeom>
          <a:noFill/>
        </p:spPr>
        <p:txBody>
          <a:bodyPr wrap="square" anchor="t" lIns="0" rIns="0" tIns="0" bIns="0">
            <a:spAutoFit/>
          </a:bodyPr>
          <a:lstStyle/>
          <a:p>
            <a:pPr algn="l">
              <a:lnSpc>
                <a:spcPct val="150000"/>
              </a:lnSpc>
              <a:spcAft>
                <a:spcPts val="0"/>
              </a:spcAft>
            </a:pPr>
            <a:r>
              <a:rPr sz="1200" b="1">
                <a:solidFill>
                  <a:srgbClr val="0B2447"/>
                </a:solidFill>
                <a:latin typeface="游ゴシック"/>
                <a:ea typeface="游ゴシック"/>
              </a:rPr>
              <a:t>いちばんの違いは、下の4行です。食い合いの判定・品質の物理ガード・効果測定・自動改善は、助言でもツールでも代われません。仕組みとして組み込んで初めて回ります。</a:t>
            </a:r>
          </a:p>
        </p:txBody>
      </p:sp>
      <p:sp>
        <p:nvSpPr>
          <p:cNvPr id="80" name="Rectangle 7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◎=標準で含む ○=含むことが多い △=会社による ×=含まないことが多い。一般的なサービス内容にもとづく比較であり、個別の事業者を指すものではありません。</a:t>
            </a:r>
          </a:p>
        </p:txBody>
      </p:sp>
      <p:sp>
        <p:nvSpPr>
          <p:cNvPr id="82" name="TextBox 81"/>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23</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料金</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サイト構築の初期費用と、記事60本＋レポート＋改善作業を含む月額費用です。</a:t>
            </a:r>
          </a:p>
        </p:txBody>
      </p:sp>
      <p:sp>
        <p:nvSpPr>
          <p:cNvPr id="6" name="TextBox 5"/>
          <p:cNvSpPr txBox="1"/>
          <p:nvPr/>
        </p:nvSpPr>
        <p:spPr>
          <a:xfrm>
            <a:off x="658368" y="1517904"/>
            <a:ext cx="9375343"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初期費用（サイト構築）</a:t>
            </a:r>
          </a:p>
        </p:txBody>
      </p:sp>
      <p:sp>
        <p:nvSpPr>
          <p:cNvPr id="7" name="Rectangle 6"/>
          <p:cNvSpPr/>
          <p:nvPr/>
        </p:nvSpPr>
        <p:spPr>
          <a:xfrm>
            <a:off x="658368" y="1938528"/>
            <a:ext cx="4577943" cy="932688"/>
          </a:xfrm>
          <a:prstGeom prst="rect">
            <a:avLst/>
          </a:prstGeom>
          <a:solidFill>
            <a:srgbClr val="EBF2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96112" y="2066544"/>
            <a:ext cx="4120743"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1サイト目</a:t>
            </a:r>
          </a:p>
        </p:txBody>
      </p:sp>
      <p:sp>
        <p:nvSpPr>
          <p:cNvPr id="9" name="TextBox 8"/>
          <p:cNvSpPr txBox="1"/>
          <p:nvPr/>
        </p:nvSpPr>
        <p:spPr>
          <a:xfrm>
            <a:off x="896112" y="2286000"/>
            <a:ext cx="4120743" cy="310896"/>
          </a:xfrm>
          <a:prstGeom prst="rect">
            <a:avLst/>
          </a:prstGeom>
          <a:noFill/>
        </p:spPr>
        <p:txBody>
          <a:bodyPr wrap="square" anchor="t" lIns="0" rIns="0" tIns="0" bIns="0">
            <a:spAutoFit/>
          </a:bodyPr>
          <a:lstStyle/>
          <a:p>
            <a:pPr algn="l">
              <a:spcAft>
                <a:spcPts val="0"/>
              </a:spcAft>
            </a:pPr>
            <a:r>
              <a:rPr sz="2100" b="1">
                <a:solidFill>
                  <a:srgbClr val="0B2447"/>
                </a:solidFill>
                <a:latin typeface="游ゴシック"/>
                <a:ea typeface="游ゴシック"/>
              </a:rPr>
              <a:t>20万〜30万円</a:t>
            </a:r>
          </a:p>
        </p:txBody>
      </p:sp>
      <p:sp>
        <p:nvSpPr>
          <p:cNvPr id="10" name="TextBox 9"/>
          <p:cNvSpPr txBox="1"/>
          <p:nvPr/>
        </p:nvSpPr>
        <p:spPr>
          <a:xfrm>
            <a:off x="896112" y="2633472"/>
            <a:ext cx="4120743" cy="219456"/>
          </a:xfrm>
          <a:prstGeom prst="rect">
            <a:avLst/>
          </a:prstGeom>
          <a:noFill/>
        </p:spPr>
        <p:txBody>
          <a:bodyPr wrap="square" anchor="t" lIns="0" rIns="0" tIns="0" bIns="0">
            <a:spAutoFit/>
          </a:bodyPr>
          <a:lstStyle/>
          <a:p>
            <a:pPr algn="l">
              <a:spcAft>
                <a:spcPts val="0"/>
              </a:spcAft>
            </a:pPr>
            <a:r>
              <a:rPr sz="1050" b="0">
                <a:solidFill>
                  <a:srgbClr val="1A2233"/>
                </a:solidFill>
                <a:latin typeface="游ゴシック"/>
                <a:ea typeface="游ゴシック"/>
              </a:rPr>
              <a:t>オウンドメディア＋LP　画像を生成する場合は30万円</a:t>
            </a:r>
          </a:p>
        </p:txBody>
      </p:sp>
      <p:sp>
        <p:nvSpPr>
          <p:cNvPr id="11" name="Rectangle 10"/>
          <p:cNvSpPr/>
          <p:nvPr/>
        </p:nvSpPr>
        <p:spPr>
          <a:xfrm>
            <a:off x="5455767" y="1938528"/>
            <a:ext cx="4577943" cy="932688"/>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693511" y="2066544"/>
            <a:ext cx="4120743"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2サイト目以降</a:t>
            </a:r>
          </a:p>
        </p:txBody>
      </p:sp>
      <p:sp>
        <p:nvSpPr>
          <p:cNvPr id="13" name="TextBox 12"/>
          <p:cNvSpPr txBox="1"/>
          <p:nvPr/>
        </p:nvSpPr>
        <p:spPr>
          <a:xfrm>
            <a:off x="5693511" y="2286000"/>
            <a:ext cx="4120743" cy="310896"/>
          </a:xfrm>
          <a:prstGeom prst="rect">
            <a:avLst/>
          </a:prstGeom>
          <a:noFill/>
        </p:spPr>
        <p:txBody>
          <a:bodyPr wrap="square" anchor="t" lIns="0" rIns="0" tIns="0" bIns="0">
            <a:spAutoFit/>
          </a:bodyPr>
          <a:lstStyle/>
          <a:p>
            <a:pPr algn="l">
              <a:spcAft>
                <a:spcPts val="0"/>
              </a:spcAft>
            </a:pPr>
            <a:r>
              <a:rPr sz="2100" b="1">
                <a:solidFill>
                  <a:srgbClr val="0B2447"/>
                </a:solidFill>
                <a:latin typeface="游ゴシック"/>
                <a:ea typeface="游ゴシック"/>
              </a:rPr>
              <a:t>10万〜15万円</a:t>
            </a:r>
          </a:p>
        </p:txBody>
      </p:sp>
      <p:sp>
        <p:nvSpPr>
          <p:cNvPr id="14" name="TextBox 13"/>
          <p:cNvSpPr txBox="1"/>
          <p:nvPr/>
        </p:nvSpPr>
        <p:spPr>
          <a:xfrm>
            <a:off x="5693511" y="2633472"/>
            <a:ext cx="4120743" cy="219456"/>
          </a:xfrm>
          <a:prstGeom prst="rect">
            <a:avLst/>
          </a:prstGeom>
          <a:noFill/>
        </p:spPr>
        <p:txBody>
          <a:bodyPr wrap="square" anchor="t" lIns="0" rIns="0" tIns="0" bIns="0">
            <a:spAutoFit/>
          </a:bodyPr>
          <a:lstStyle/>
          <a:p>
            <a:pPr algn="l">
              <a:spcAft>
                <a:spcPts val="0"/>
              </a:spcAft>
            </a:pPr>
            <a:r>
              <a:rPr sz="1050" b="0">
                <a:solidFill>
                  <a:srgbClr val="1A2233"/>
                </a:solidFill>
                <a:latin typeface="游ゴシック"/>
                <a:ea typeface="游ゴシック"/>
              </a:rPr>
              <a:t>同じ設計を使い回すため割安になります</a:t>
            </a:r>
          </a:p>
        </p:txBody>
      </p:sp>
      <p:sp>
        <p:nvSpPr>
          <p:cNvPr id="15" name="TextBox 14"/>
          <p:cNvSpPr txBox="1"/>
          <p:nvPr/>
        </p:nvSpPr>
        <p:spPr>
          <a:xfrm>
            <a:off x="658368" y="3163824"/>
            <a:ext cx="9375343"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月額費用（記事60本＋レポート＋運用・改善）</a:t>
            </a:r>
          </a:p>
        </p:txBody>
      </p:sp>
      <p:sp>
        <p:nvSpPr>
          <p:cNvPr id="16" name="Rectangle 15"/>
          <p:cNvSpPr/>
          <p:nvPr/>
        </p:nvSpPr>
        <p:spPr>
          <a:xfrm>
            <a:off x="658368" y="3584448"/>
            <a:ext cx="2991002" cy="1005840"/>
          </a:xfrm>
          <a:prstGeom prst="rect">
            <a:avLst/>
          </a:prstGeom>
          <a:solidFill>
            <a:srgbClr val="EBF2FC"/>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3712464"/>
            <a:ext cx="2552090"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1サイト運用</a:t>
            </a:r>
          </a:p>
        </p:txBody>
      </p:sp>
      <p:sp>
        <p:nvSpPr>
          <p:cNvPr id="18" name="TextBox 17"/>
          <p:cNvSpPr txBox="1"/>
          <p:nvPr/>
        </p:nvSpPr>
        <p:spPr>
          <a:xfrm>
            <a:off x="877824" y="3931920"/>
            <a:ext cx="2552090" cy="310896"/>
          </a:xfrm>
          <a:prstGeom prst="rect">
            <a:avLst/>
          </a:prstGeom>
          <a:noFill/>
        </p:spPr>
        <p:txBody>
          <a:bodyPr wrap="square" anchor="t" lIns="0" rIns="0" tIns="0" bIns="0">
            <a:spAutoFit/>
          </a:bodyPr>
          <a:lstStyle/>
          <a:p>
            <a:pPr algn="l">
              <a:spcAft>
                <a:spcPts val="0"/>
              </a:spcAft>
            </a:pPr>
            <a:r>
              <a:rPr sz="2100" b="1">
                <a:solidFill>
                  <a:srgbClr val="0B2447"/>
                </a:solidFill>
                <a:latin typeface="游ゴシック"/>
                <a:ea typeface="游ゴシック"/>
              </a:rPr>
              <a:t>月額17万円〜</a:t>
            </a:r>
          </a:p>
        </p:txBody>
      </p:sp>
      <p:sp>
        <p:nvSpPr>
          <p:cNvPr id="19" name="TextBox 18"/>
          <p:cNvSpPr txBox="1"/>
          <p:nvPr/>
        </p:nvSpPr>
        <p:spPr>
          <a:xfrm>
            <a:off x="877824" y="4279392"/>
            <a:ext cx="2552090" cy="274320"/>
          </a:xfrm>
          <a:prstGeom prst="rect">
            <a:avLst/>
          </a:prstGeom>
          <a:noFill/>
        </p:spPr>
        <p:txBody>
          <a:bodyPr wrap="square" anchor="t" lIns="0" rIns="0" tIns="0" bIns="0">
            <a:spAutoFit/>
          </a:bodyPr>
          <a:lstStyle/>
          <a:p>
            <a:pPr algn="l">
              <a:lnSpc>
                <a:spcPct val="130000"/>
              </a:lnSpc>
              <a:spcAft>
                <a:spcPts val="0"/>
              </a:spcAft>
            </a:pPr>
            <a:r>
              <a:rPr sz="1000" b="0">
                <a:solidFill>
                  <a:srgbClr val="1A2233"/>
                </a:solidFill>
                <a:latin typeface="游ゴシック"/>
                <a:ea typeface="游ゴシック"/>
              </a:rPr>
              <a:t>記事60本／月　レポート・改善込み</a:t>
            </a:r>
          </a:p>
        </p:txBody>
      </p:sp>
      <p:sp>
        <p:nvSpPr>
          <p:cNvPr id="20" name="Rectangle 19"/>
          <p:cNvSpPr/>
          <p:nvPr/>
        </p:nvSpPr>
        <p:spPr>
          <a:xfrm>
            <a:off x="3850538" y="3584448"/>
            <a:ext cx="2991002" cy="100584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069994" y="3712464"/>
            <a:ext cx="2552090"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2サイト運用</a:t>
            </a:r>
          </a:p>
        </p:txBody>
      </p:sp>
      <p:sp>
        <p:nvSpPr>
          <p:cNvPr id="22" name="TextBox 21"/>
          <p:cNvSpPr txBox="1"/>
          <p:nvPr/>
        </p:nvSpPr>
        <p:spPr>
          <a:xfrm>
            <a:off x="4069994" y="3931920"/>
            <a:ext cx="2552090" cy="310896"/>
          </a:xfrm>
          <a:prstGeom prst="rect">
            <a:avLst/>
          </a:prstGeom>
          <a:noFill/>
        </p:spPr>
        <p:txBody>
          <a:bodyPr wrap="square" anchor="t" lIns="0" rIns="0" tIns="0" bIns="0">
            <a:spAutoFit/>
          </a:bodyPr>
          <a:lstStyle/>
          <a:p>
            <a:pPr algn="l">
              <a:spcAft>
                <a:spcPts val="0"/>
              </a:spcAft>
            </a:pPr>
            <a:r>
              <a:rPr sz="2100" b="1">
                <a:solidFill>
                  <a:srgbClr val="0B2447"/>
                </a:solidFill>
                <a:latin typeface="游ゴシック"/>
                <a:ea typeface="游ゴシック"/>
              </a:rPr>
              <a:t>月額27万円</a:t>
            </a:r>
          </a:p>
        </p:txBody>
      </p:sp>
      <p:sp>
        <p:nvSpPr>
          <p:cNvPr id="23" name="TextBox 22"/>
          <p:cNvSpPr txBox="1"/>
          <p:nvPr/>
        </p:nvSpPr>
        <p:spPr>
          <a:xfrm>
            <a:off x="4069994" y="4279392"/>
            <a:ext cx="2552090" cy="274320"/>
          </a:xfrm>
          <a:prstGeom prst="rect">
            <a:avLst/>
          </a:prstGeom>
          <a:noFill/>
        </p:spPr>
        <p:txBody>
          <a:bodyPr wrap="square" anchor="t" lIns="0" rIns="0" tIns="0" bIns="0">
            <a:spAutoFit/>
          </a:bodyPr>
          <a:lstStyle/>
          <a:p>
            <a:pPr algn="l">
              <a:lnSpc>
                <a:spcPct val="130000"/>
              </a:lnSpc>
              <a:spcAft>
                <a:spcPts val="0"/>
              </a:spcAft>
            </a:pPr>
            <a:r>
              <a:rPr sz="1000" b="0">
                <a:solidFill>
                  <a:srgbClr val="1A2233"/>
                </a:solidFill>
                <a:latin typeface="游ゴシック"/>
                <a:ea typeface="游ゴシック"/>
              </a:rPr>
              <a:t>2サイト合計60本　横断の重複検査つき</a:t>
            </a:r>
          </a:p>
        </p:txBody>
      </p:sp>
      <p:sp>
        <p:nvSpPr>
          <p:cNvPr id="24" name="Rectangle 23"/>
          <p:cNvSpPr/>
          <p:nvPr/>
        </p:nvSpPr>
        <p:spPr>
          <a:xfrm>
            <a:off x="7042708" y="3584448"/>
            <a:ext cx="2991002" cy="1005840"/>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262164" y="3712464"/>
            <a:ext cx="2552090" cy="219456"/>
          </a:xfrm>
          <a:prstGeom prst="rect">
            <a:avLst/>
          </a:prstGeom>
          <a:noFill/>
        </p:spPr>
        <p:txBody>
          <a:bodyPr wrap="square" anchor="t" lIns="0" rIns="0" tIns="0" bIns="0">
            <a:spAutoFit/>
          </a:bodyPr>
          <a:lstStyle/>
          <a:p>
            <a:pPr algn="l">
              <a:spcAft>
                <a:spcPts val="0"/>
              </a:spcAft>
            </a:pPr>
            <a:r>
              <a:rPr sz="1150" b="1">
                <a:solidFill>
                  <a:srgbClr val="5B6B84"/>
                </a:solidFill>
                <a:latin typeface="游ゴシック"/>
                <a:ea typeface="游ゴシック"/>
              </a:rPr>
              <a:t>3サイト運用</a:t>
            </a:r>
          </a:p>
        </p:txBody>
      </p:sp>
      <p:sp>
        <p:nvSpPr>
          <p:cNvPr id="26" name="TextBox 25"/>
          <p:cNvSpPr txBox="1"/>
          <p:nvPr/>
        </p:nvSpPr>
        <p:spPr>
          <a:xfrm>
            <a:off x="7262164" y="3931920"/>
            <a:ext cx="2552090" cy="310896"/>
          </a:xfrm>
          <a:prstGeom prst="rect">
            <a:avLst/>
          </a:prstGeom>
          <a:noFill/>
        </p:spPr>
        <p:txBody>
          <a:bodyPr wrap="square" anchor="t" lIns="0" rIns="0" tIns="0" bIns="0">
            <a:spAutoFit/>
          </a:bodyPr>
          <a:lstStyle/>
          <a:p>
            <a:pPr algn="l">
              <a:spcAft>
                <a:spcPts val="0"/>
              </a:spcAft>
            </a:pPr>
            <a:r>
              <a:rPr sz="2100" b="1">
                <a:solidFill>
                  <a:srgbClr val="0B2447"/>
                </a:solidFill>
                <a:latin typeface="游ゴシック"/>
                <a:ea typeface="游ゴシック"/>
              </a:rPr>
              <a:t>月額34万円</a:t>
            </a:r>
          </a:p>
        </p:txBody>
      </p:sp>
      <p:sp>
        <p:nvSpPr>
          <p:cNvPr id="27" name="TextBox 26"/>
          <p:cNvSpPr txBox="1"/>
          <p:nvPr/>
        </p:nvSpPr>
        <p:spPr>
          <a:xfrm>
            <a:off x="7262164" y="4279392"/>
            <a:ext cx="2552090" cy="274320"/>
          </a:xfrm>
          <a:prstGeom prst="rect">
            <a:avLst/>
          </a:prstGeom>
          <a:noFill/>
        </p:spPr>
        <p:txBody>
          <a:bodyPr wrap="square" anchor="t" lIns="0" rIns="0" tIns="0" bIns="0">
            <a:spAutoFit/>
          </a:bodyPr>
          <a:lstStyle/>
          <a:p>
            <a:pPr algn="l">
              <a:lnSpc>
                <a:spcPct val="130000"/>
              </a:lnSpc>
              <a:spcAft>
                <a:spcPts val="0"/>
              </a:spcAft>
            </a:pPr>
            <a:r>
              <a:rPr sz="1000" b="0">
                <a:solidFill>
                  <a:srgbClr val="1A2233"/>
                </a:solidFill>
                <a:latin typeface="游ゴシック"/>
                <a:ea typeface="游ゴシック"/>
              </a:rPr>
              <a:t>3サイト合計60本　役割分担の設計から</a:t>
            </a:r>
          </a:p>
        </p:txBody>
      </p:sp>
      <p:sp>
        <p:nvSpPr>
          <p:cNvPr id="28" name="Rectangle 27"/>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表示はすべて税別です。複数サイトの場合、記事本数は合計60本を配分します。写真素材のご支給がない場合、初期費用は上限額となります。</a:t>
            </a:r>
          </a:p>
        </p:txBody>
      </p:sp>
      <p:sp>
        <p:nvSpPr>
          <p:cNvPr id="30" name="TextBox 29"/>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24</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他の方法と比べた場合</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同じ「月60本の記事を作る」を、他の手段で実現した場合と比べます。</a:t>
            </a:r>
          </a:p>
        </p:txBody>
      </p:sp>
      <p:sp>
        <p:nvSpPr>
          <p:cNvPr id="6" name="Rectangle 5"/>
          <p:cNvSpPr/>
          <p:nvPr/>
        </p:nvSpPr>
        <p:spPr>
          <a:xfrm>
            <a:off x="658368" y="1517904"/>
            <a:ext cx="9375343" cy="347472"/>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1591056"/>
            <a:ext cx="1317174"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手段</a:t>
            </a:r>
          </a:p>
        </p:txBody>
      </p:sp>
      <p:sp>
        <p:nvSpPr>
          <p:cNvPr id="8" name="TextBox 7"/>
          <p:cNvSpPr txBox="1"/>
          <p:nvPr/>
        </p:nvSpPr>
        <p:spPr>
          <a:xfrm>
            <a:off x="2286438" y="1591056"/>
            <a:ext cx="1598435"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月あたりの費用</a:t>
            </a:r>
          </a:p>
        </p:txBody>
      </p:sp>
      <p:sp>
        <p:nvSpPr>
          <p:cNvPr id="9" name="TextBox 8"/>
          <p:cNvSpPr txBox="1"/>
          <p:nvPr/>
        </p:nvSpPr>
        <p:spPr>
          <a:xfrm>
            <a:off x="4067753" y="1591056"/>
            <a:ext cx="5911092" cy="228600"/>
          </a:xfrm>
          <a:prstGeom prst="rect">
            <a:avLst/>
          </a:prstGeom>
          <a:noFill/>
        </p:spPr>
        <p:txBody>
          <a:bodyPr wrap="square" anchor="t" lIns="0" rIns="0" tIns="0" bIns="0">
            <a:spAutoFit/>
          </a:bodyPr>
          <a:lstStyle/>
          <a:p>
            <a:pPr algn="l">
              <a:spcAft>
                <a:spcPts val="0"/>
              </a:spcAft>
            </a:pPr>
            <a:r>
              <a:rPr sz="1150" b="1">
                <a:solidFill>
                  <a:srgbClr val="FFFFFF"/>
                </a:solidFill>
                <a:latin typeface="游ゴシック"/>
                <a:ea typeface="游ゴシック"/>
              </a:rPr>
              <a:t>含まれるもの / 残る課題</a:t>
            </a:r>
          </a:p>
        </p:txBody>
      </p:sp>
      <p:sp>
        <p:nvSpPr>
          <p:cNvPr id="10" name="Rectangle 9"/>
          <p:cNvSpPr/>
          <p:nvPr/>
        </p:nvSpPr>
        <p:spPr>
          <a:xfrm>
            <a:off x="658368" y="2487168"/>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947672"/>
            <a:ext cx="1280598" cy="530352"/>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本サービス</a:t>
            </a:r>
          </a:p>
        </p:txBody>
      </p:sp>
      <p:sp>
        <p:nvSpPr>
          <p:cNvPr id="12" name="TextBox 11"/>
          <p:cNvSpPr txBox="1"/>
          <p:nvPr/>
        </p:nvSpPr>
        <p:spPr>
          <a:xfrm>
            <a:off x="2286438" y="1947672"/>
            <a:ext cx="1561859" cy="530352"/>
          </a:xfrm>
          <a:prstGeom prst="rect">
            <a:avLst/>
          </a:prstGeom>
          <a:noFill/>
        </p:spPr>
        <p:txBody>
          <a:bodyPr wrap="square" anchor="t" lIns="0" rIns="0" tIns="0" bIns="0">
            <a:spAutoFit/>
          </a:bodyPr>
          <a:lstStyle/>
          <a:p>
            <a:pPr algn="l">
              <a:lnSpc>
                <a:spcPct val="130000"/>
              </a:lnSpc>
              <a:spcAft>
                <a:spcPts val="0"/>
              </a:spcAft>
            </a:pPr>
            <a:r>
              <a:rPr sz="1200" b="1">
                <a:solidFill>
                  <a:srgbClr val="2563EB"/>
                </a:solidFill>
                <a:latin typeface="游ゴシック"/>
                <a:ea typeface="游ゴシック"/>
              </a:rPr>
              <a:t>月額17万円〜</a:t>
            </a:r>
          </a:p>
        </p:txBody>
      </p:sp>
      <p:sp>
        <p:nvSpPr>
          <p:cNvPr id="13" name="TextBox 12"/>
          <p:cNvSpPr txBox="1"/>
          <p:nvPr/>
        </p:nvSpPr>
        <p:spPr>
          <a:xfrm>
            <a:off x="4067753" y="1947672"/>
            <a:ext cx="5874516"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記事60本＋図解＋公開＋改善レポートまで込み</a:t>
            </a:r>
          </a:p>
        </p:txBody>
      </p:sp>
      <p:sp>
        <p:nvSpPr>
          <p:cNvPr id="14" name="Rectangle 13"/>
          <p:cNvSpPr/>
          <p:nvPr/>
        </p:nvSpPr>
        <p:spPr>
          <a:xfrm>
            <a:off x="658368" y="2487168"/>
            <a:ext cx="9375343"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3108960"/>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86384" y="2569464"/>
            <a:ext cx="1280598"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外注ライター</a:t>
            </a:r>
          </a:p>
        </p:txBody>
      </p:sp>
      <p:sp>
        <p:nvSpPr>
          <p:cNvPr id="17" name="TextBox 16"/>
          <p:cNvSpPr txBox="1"/>
          <p:nvPr/>
        </p:nvSpPr>
        <p:spPr>
          <a:xfrm>
            <a:off x="2286438" y="2569464"/>
            <a:ext cx="1561859"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180万〜300万円</a:t>
            </a:r>
          </a:p>
        </p:txBody>
      </p:sp>
      <p:sp>
        <p:nvSpPr>
          <p:cNvPr id="18" name="TextBox 17"/>
          <p:cNvSpPr txBox="1"/>
          <p:nvPr/>
        </p:nvSpPr>
        <p:spPr>
          <a:xfrm>
            <a:off x="4067753" y="2569464"/>
            <a:ext cx="5874516"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1本3〜5万円×60本。原稿のみで、公開作業・図解・改善は自社に残ります</a:t>
            </a:r>
          </a:p>
        </p:txBody>
      </p:sp>
      <p:sp>
        <p:nvSpPr>
          <p:cNvPr id="19" name="Rectangle 18"/>
          <p:cNvSpPr/>
          <p:nvPr/>
        </p:nvSpPr>
        <p:spPr>
          <a:xfrm>
            <a:off x="658368" y="3730752"/>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86384" y="3191256"/>
            <a:ext cx="1280598"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社内で採用</a:t>
            </a:r>
          </a:p>
        </p:txBody>
      </p:sp>
      <p:sp>
        <p:nvSpPr>
          <p:cNvPr id="21" name="TextBox 20"/>
          <p:cNvSpPr txBox="1"/>
          <p:nvPr/>
        </p:nvSpPr>
        <p:spPr>
          <a:xfrm>
            <a:off x="2286438" y="3191256"/>
            <a:ext cx="1561859"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150万〜240万円</a:t>
            </a:r>
          </a:p>
        </p:txBody>
      </p:sp>
      <p:sp>
        <p:nvSpPr>
          <p:cNvPr id="22" name="TextBox 21"/>
          <p:cNvSpPr txBox="1"/>
          <p:nvPr/>
        </p:nvSpPr>
        <p:spPr>
          <a:xfrm>
            <a:off x="4067753" y="3191256"/>
            <a:ext cx="5874516"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1人が月10本として6名必要。採用・育成の期間と、退職時に止まるリスクが残ります</a:t>
            </a:r>
          </a:p>
        </p:txBody>
      </p:sp>
      <p:sp>
        <p:nvSpPr>
          <p:cNvPr id="23" name="Rectangle 22"/>
          <p:cNvSpPr/>
          <p:nvPr/>
        </p:nvSpPr>
        <p:spPr>
          <a:xfrm>
            <a:off x="658368" y="3730752"/>
            <a:ext cx="9375343"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4352544"/>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86384" y="3813048"/>
            <a:ext cx="1280598"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SEOコンサル</a:t>
            </a:r>
          </a:p>
        </p:txBody>
      </p:sp>
      <p:sp>
        <p:nvSpPr>
          <p:cNvPr id="26" name="TextBox 25"/>
          <p:cNvSpPr txBox="1"/>
          <p:nvPr/>
        </p:nvSpPr>
        <p:spPr>
          <a:xfrm>
            <a:off x="2286438" y="3813048"/>
            <a:ext cx="1561859"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10万〜30万円</a:t>
            </a:r>
          </a:p>
        </p:txBody>
      </p:sp>
      <p:sp>
        <p:nvSpPr>
          <p:cNvPr id="27" name="TextBox 26"/>
          <p:cNvSpPr txBox="1"/>
          <p:nvPr/>
        </p:nvSpPr>
        <p:spPr>
          <a:xfrm>
            <a:off x="4067753" y="3813048"/>
            <a:ext cx="5874516" cy="530352"/>
          </a:xfrm>
          <a:prstGeom prst="rect">
            <a:avLst/>
          </a:prstGeom>
          <a:noFill/>
        </p:spPr>
        <p:txBody>
          <a:bodyPr wrap="square" anchor="t" lIns="0" rIns="0" tIns="0" bIns="0">
            <a:spAutoFit/>
          </a:bodyPr>
          <a:lstStyle/>
          <a:p>
            <a:pPr algn="l">
              <a:lnSpc>
                <a:spcPct val="130000"/>
              </a:lnSpc>
              <a:spcAft>
                <a:spcPts val="0"/>
              </a:spcAft>
            </a:pPr>
            <a:r>
              <a:rPr sz="1200" b="0">
                <a:solidFill>
                  <a:srgbClr val="1A2233"/>
                </a:solidFill>
                <a:latin typeface="游ゴシック"/>
                <a:ea typeface="游ゴシック"/>
              </a:rPr>
              <a:t>助言が中心で、記事の制作は含まれないことが多い。実作業は自社に残ります</a:t>
            </a:r>
          </a:p>
        </p:txBody>
      </p:sp>
      <p:sp>
        <p:nvSpPr>
          <p:cNvPr id="28" name="Rectangle 27"/>
          <p:cNvSpPr/>
          <p:nvPr/>
        </p:nvSpPr>
        <p:spPr>
          <a:xfrm>
            <a:off x="658368" y="4535424"/>
            <a:ext cx="9375343" cy="89611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14400" y="4718304"/>
            <a:ext cx="8863279" cy="548640"/>
          </a:xfrm>
          <a:prstGeom prst="rect">
            <a:avLst/>
          </a:prstGeom>
          <a:noFill/>
        </p:spPr>
        <p:txBody>
          <a:bodyPr wrap="square" anchor="t" lIns="0" rIns="0" tIns="0" bIns="0">
            <a:spAutoFit/>
          </a:bodyPr>
          <a:lstStyle/>
          <a:p>
            <a:pPr algn="l">
              <a:lnSpc>
                <a:spcPct val="150000"/>
              </a:lnSpc>
              <a:spcAft>
                <a:spcPts val="0"/>
              </a:spcAft>
            </a:pPr>
            <a:r>
              <a:rPr sz="1200" b="0">
                <a:solidFill>
                  <a:srgbClr val="1A2233"/>
                </a:solidFill>
                <a:latin typeface="游ゴシック"/>
                <a:ea typeface="游ゴシック"/>
              </a:rPr>
              <a:t>費用よりも「止まらないこと」に差が出ます。外注も採用も、担当が変わればペースが落ちます。本サービスは仕組みで動くため、公開のペースと品質の基準が人に依存しません。</a:t>
            </a:r>
          </a:p>
        </p:txBody>
      </p:sp>
      <p:sp>
        <p:nvSpPr>
          <p:cNvPr id="30" name="Rectangle 29"/>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7121347"/>
            <a:ext cx="7546543" cy="182880"/>
          </a:xfrm>
          <a:prstGeom prst="rect">
            <a:avLst/>
          </a:prstGeom>
          <a:noFill/>
        </p:spPr>
        <p:txBody>
          <a:bodyPr wrap="square" anchor="t" lIns="0" rIns="0" tIns="0" bIns="0">
            <a:spAutoFit/>
          </a:bodyPr>
          <a:lstStyle/>
          <a:p>
            <a:pPr algn="l">
              <a:lnSpc>
                <a:spcPct val="140000"/>
              </a:lnSpc>
              <a:spcAft>
                <a:spcPts val="0"/>
              </a:spcAft>
            </a:pPr>
            <a:r>
              <a:rPr sz="850" b="0">
                <a:solidFill>
                  <a:srgbClr val="5B6B84"/>
                </a:solidFill>
                <a:latin typeface="游ゴシック"/>
                <a:ea typeface="游ゴシック"/>
              </a:rPr>
              <a:t>※ 外注・採用・コンサルの金額は一般的な相場の範囲であり、当社が保証するものではありません。</a:t>
            </a:r>
          </a:p>
        </p:txBody>
      </p:sp>
      <p:sp>
        <p:nvSpPr>
          <p:cNvPr id="32" name="TextBox 31"/>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25</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導入の流れ</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133856"/>
            <a:ext cx="9375343" cy="256032"/>
          </a:xfrm>
          <a:prstGeom prst="rect">
            <a:avLst/>
          </a:prstGeom>
          <a:noFill/>
        </p:spPr>
        <p:txBody>
          <a:bodyPr wrap="square" anchor="t" lIns="0" rIns="0" tIns="0" bIns="0">
            <a:spAutoFit/>
          </a:bodyPr>
          <a:lstStyle/>
          <a:p>
            <a:pPr algn="l">
              <a:lnSpc>
                <a:spcPct val="155000"/>
              </a:lnSpc>
              <a:spcAft>
                <a:spcPts val="0"/>
              </a:spcAft>
            </a:pPr>
            <a:r>
              <a:rPr sz="1250" b="0">
                <a:solidFill>
                  <a:srgbClr val="5B6B84"/>
                </a:solidFill>
                <a:latin typeface="游ゴシック"/>
                <a:ea typeface="游ゴシック"/>
              </a:rPr>
              <a:t>お申し込みから最初の記事が公開されるまで、おおむね3〜4週間です。</a:t>
            </a:r>
          </a:p>
        </p:txBody>
      </p:sp>
      <p:sp>
        <p:nvSpPr>
          <p:cNvPr id="6" name="Rectangle 5"/>
          <p:cNvSpPr/>
          <p:nvPr/>
        </p:nvSpPr>
        <p:spPr>
          <a:xfrm>
            <a:off x="658368" y="1517904"/>
            <a:ext cx="457200" cy="45720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636776"/>
            <a:ext cx="457200" cy="274320"/>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01</a:t>
            </a:r>
          </a:p>
        </p:txBody>
      </p:sp>
      <p:sp>
        <p:nvSpPr>
          <p:cNvPr id="8" name="Rectangle 7"/>
          <p:cNvSpPr/>
          <p:nvPr/>
        </p:nvSpPr>
        <p:spPr>
          <a:xfrm>
            <a:off x="877824" y="2011680"/>
            <a:ext cx="15240" cy="292608"/>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316736" y="1499616"/>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無料相談・ヒアリング</a:t>
            </a:r>
          </a:p>
        </p:txBody>
      </p:sp>
      <p:sp>
        <p:nvSpPr>
          <p:cNvPr id="10" name="Rectangle 9"/>
          <p:cNvSpPr/>
          <p:nvPr/>
        </p:nvSpPr>
        <p:spPr>
          <a:xfrm>
            <a:off x="4133088" y="1536192"/>
            <a:ext cx="868680" cy="25603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33088" y="1572768"/>
            <a:ext cx="868680" cy="219456"/>
          </a:xfrm>
          <a:prstGeom prst="rect">
            <a:avLst/>
          </a:prstGeom>
          <a:noFill/>
        </p:spPr>
        <p:txBody>
          <a:bodyPr wrap="square" anchor="t" lIns="0" rIns="0" tIns="0" bIns="0">
            <a:spAutoFit/>
          </a:bodyPr>
          <a:lstStyle/>
          <a:p>
            <a:pPr algn="ctr">
              <a:spcAft>
                <a:spcPts val="0"/>
              </a:spcAft>
            </a:pPr>
            <a:r>
              <a:rPr sz="1050" b="1">
                <a:solidFill>
                  <a:srgbClr val="0D9488"/>
                </a:solidFill>
                <a:latin typeface="游ゴシック"/>
                <a:ea typeface="游ゴシック"/>
              </a:rPr>
              <a:t>60分</a:t>
            </a:r>
          </a:p>
        </p:txBody>
      </p:sp>
      <p:sp>
        <p:nvSpPr>
          <p:cNvPr id="12" name="TextBox 11"/>
          <p:cNvSpPr txBox="1"/>
          <p:nvPr/>
        </p:nvSpPr>
        <p:spPr>
          <a:xfrm>
            <a:off x="1316736" y="1828800"/>
            <a:ext cx="8534095"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御社の強み、狙いたい層、競合状況を伺います。この場で、どのキーワードが狙えそうかの見立てをお出しします</a:t>
            </a:r>
          </a:p>
        </p:txBody>
      </p:sp>
      <p:sp>
        <p:nvSpPr>
          <p:cNvPr id="13" name="Rectangle 12"/>
          <p:cNvSpPr/>
          <p:nvPr/>
        </p:nvSpPr>
        <p:spPr>
          <a:xfrm>
            <a:off x="658368" y="2304288"/>
            <a:ext cx="457200" cy="45720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2423160"/>
            <a:ext cx="457200" cy="274320"/>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02</a:t>
            </a:r>
          </a:p>
        </p:txBody>
      </p:sp>
      <p:sp>
        <p:nvSpPr>
          <p:cNvPr id="15" name="Rectangle 14"/>
          <p:cNvSpPr/>
          <p:nvPr/>
        </p:nvSpPr>
        <p:spPr>
          <a:xfrm>
            <a:off x="877824" y="2798064"/>
            <a:ext cx="15240" cy="292608"/>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16736" y="2286000"/>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ヒアリングシートのご記入</a:t>
            </a:r>
          </a:p>
        </p:txBody>
      </p:sp>
      <p:sp>
        <p:nvSpPr>
          <p:cNvPr id="17" name="Rectangle 16"/>
          <p:cNvSpPr/>
          <p:nvPr/>
        </p:nvSpPr>
        <p:spPr>
          <a:xfrm>
            <a:off x="4133088" y="2322576"/>
            <a:ext cx="868680" cy="25603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133088" y="2359152"/>
            <a:ext cx="868680" cy="219456"/>
          </a:xfrm>
          <a:prstGeom prst="rect">
            <a:avLst/>
          </a:prstGeom>
          <a:noFill/>
        </p:spPr>
        <p:txBody>
          <a:bodyPr wrap="square" anchor="t" lIns="0" rIns="0" tIns="0" bIns="0">
            <a:spAutoFit/>
          </a:bodyPr>
          <a:lstStyle/>
          <a:p>
            <a:pPr algn="ctr">
              <a:spcAft>
                <a:spcPts val="0"/>
              </a:spcAft>
            </a:pPr>
            <a:r>
              <a:rPr sz="1050" b="1">
                <a:solidFill>
                  <a:srgbClr val="0D9488"/>
                </a:solidFill>
                <a:latin typeface="游ゴシック"/>
                <a:ea typeface="游ゴシック"/>
              </a:rPr>
              <a:t>30分程度</a:t>
            </a:r>
          </a:p>
        </p:txBody>
      </p:sp>
      <p:sp>
        <p:nvSpPr>
          <p:cNvPr id="19" name="TextBox 18"/>
          <p:cNvSpPr txBox="1"/>
          <p:nvPr/>
        </p:nvSpPr>
        <p:spPr>
          <a:xfrm>
            <a:off x="1316736" y="2615184"/>
            <a:ext cx="8534095"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1枚のシートをお渡しします。ご記入いただくのはこの1回だけで、主力商材・守備範囲・実績の数値・問い合わせ導線が決まります</a:t>
            </a:r>
          </a:p>
        </p:txBody>
      </p:sp>
      <p:sp>
        <p:nvSpPr>
          <p:cNvPr id="20" name="Rectangle 19"/>
          <p:cNvSpPr/>
          <p:nvPr/>
        </p:nvSpPr>
        <p:spPr>
          <a:xfrm>
            <a:off x="658368" y="3090672"/>
            <a:ext cx="457200" cy="45720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3209544"/>
            <a:ext cx="457200" cy="274320"/>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03</a:t>
            </a:r>
          </a:p>
        </p:txBody>
      </p:sp>
      <p:sp>
        <p:nvSpPr>
          <p:cNvPr id="22" name="Rectangle 21"/>
          <p:cNvSpPr/>
          <p:nvPr/>
        </p:nvSpPr>
        <p:spPr>
          <a:xfrm>
            <a:off x="877824" y="3584448"/>
            <a:ext cx="15240" cy="292608"/>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316736" y="3072384"/>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ご提案・お見積り</a:t>
            </a:r>
          </a:p>
        </p:txBody>
      </p:sp>
      <p:sp>
        <p:nvSpPr>
          <p:cNvPr id="24" name="Rectangle 23"/>
          <p:cNvSpPr/>
          <p:nvPr/>
        </p:nvSpPr>
        <p:spPr>
          <a:xfrm>
            <a:off x="4133088" y="3108960"/>
            <a:ext cx="868680" cy="25603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133088" y="3145536"/>
            <a:ext cx="868680" cy="219456"/>
          </a:xfrm>
          <a:prstGeom prst="rect">
            <a:avLst/>
          </a:prstGeom>
          <a:noFill/>
        </p:spPr>
        <p:txBody>
          <a:bodyPr wrap="square" anchor="t" lIns="0" rIns="0" tIns="0" bIns="0">
            <a:spAutoFit/>
          </a:bodyPr>
          <a:lstStyle/>
          <a:p>
            <a:pPr algn="ctr">
              <a:spcAft>
                <a:spcPts val="0"/>
              </a:spcAft>
            </a:pPr>
            <a:r>
              <a:rPr sz="1050" b="1">
                <a:solidFill>
                  <a:srgbClr val="0D9488"/>
                </a:solidFill>
                <a:latin typeface="游ゴシック"/>
                <a:ea typeface="游ゴシック"/>
              </a:rPr>
              <a:t>1週間</a:t>
            </a:r>
          </a:p>
        </p:txBody>
      </p:sp>
      <p:sp>
        <p:nvSpPr>
          <p:cNvPr id="26" name="TextBox 25"/>
          <p:cNvSpPr txBox="1"/>
          <p:nvPr/>
        </p:nvSpPr>
        <p:spPr>
          <a:xfrm>
            <a:off x="1316736" y="3401568"/>
            <a:ext cx="8534095"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シートの内容からサイト構成とキーワードの一覧をご提案します。ご要望を反映してから着手します</a:t>
            </a:r>
          </a:p>
        </p:txBody>
      </p:sp>
      <p:sp>
        <p:nvSpPr>
          <p:cNvPr id="27" name="Rectangle 26"/>
          <p:cNvSpPr/>
          <p:nvPr/>
        </p:nvSpPr>
        <p:spPr>
          <a:xfrm>
            <a:off x="658368" y="3877056"/>
            <a:ext cx="457200" cy="45720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3995928"/>
            <a:ext cx="457200" cy="274320"/>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04</a:t>
            </a:r>
          </a:p>
        </p:txBody>
      </p:sp>
      <p:sp>
        <p:nvSpPr>
          <p:cNvPr id="29" name="Rectangle 28"/>
          <p:cNvSpPr/>
          <p:nvPr/>
        </p:nvSpPr>
        <p:spPr>
          <a:xfrm>
            <a:off x="877824" y="4370832"/>
            <a:ext cx="15240" cy="292608"/>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316736" y="3858768"/>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サイト構築</a:t>
            </a:r>
          </a:p>
        </p:txBody>
      </p:sp>
      <p:sp>
        <p:nvSpPr>
          <p:cNvPr id="31" name="Rectangle 30"/>
          <p:cNvSpPr/>
          <p:nvPr/>
        </p:nvSpPr>
        <p:spPr>
          <a:xfrm>
            <a:off x="4133088" y="3895344"/>
            <a:ext cx="868680" cy="25603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133088" y="3931920"/>
            <a:ext cx="868680" cy="219456"/>
          </a:xfrm>
          <a:prstGeom prst="rect">
            <a:avLst/>
          </a:prstGeom>
          <a:noFill/>
        </p:spPr>
        <p:txBody>
          <a:bodyPr wrap="square" anchor="t" lIns="0" rIns="0" tIns="0" bIns="0">
            <a:spAutoFit/>
          </a:bodyPr>
          <a:lstStyle/>
          <a:p>
            <a:pPr algn="ctr">
              <a:spcAft>
                <a:spcPts val="0"/>
              </a:spcAft>
            </a:pPr>
            <a:r>
              <a:rPr sz="1050" b="1">
                <a:solidFill>
                  <a:srgbClr val="0D9488"/>
                </a:solidFill>
                <a:latin typeface="游ゴシック"/>
                <a:ea typeface="游ゴシック"/>
              </a:rPr>
              <a:t>2〜3週間</a:t>
            </a:r>
          </a:p>
        </p:txBody>
      </p:sp>
      <p:sp>
        <p:nvSpPr>
          <p:cNvPr id="33" name="TextBox 32"/>
          <p:cNvSpPr txBox="1"/>
          <p:nvPr/>
        </p:nvSpPr>
        <p:spPr>
          <a:xfrm>
            <a:off x="1316736" y="4187952"/>
            <a:ext cx="8534095"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デザイン・実装・AI検索対応の設定まで。写真素材をご支給いただくタイミングです</a:t>
            </a:r>
          </a:p>
        </p:txBody>
      </p:sp>
      <p:sp>
        <p:nvSpPr>
          <p:cNvPr id="34" name="Rectangle 33"/>
          <p:cNvSpPr/>
          <p:nvPr/>
        </p:nvSpPr>
        <p:spPr>
          <a:xfrm>
            <a:off x="658368" y="4663440"/>
            <a:ext cx="457200" cy="45720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8368" y="4782312"/>
            <a:ext cx="457200" cy="274320"/>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05</a:t>
            </a:r>
          </a:p>
        </p:txBody>
      </p:sp>
      <p:sp>
        <p:nvSpPr>
          <p:cNvPr id="36" name="Rectangle 35"/>
          <p:cNvSpPr/>
          <p:nvPr/>
        </p:nvSpPr>
        <p:spPr>
          <a:xfrm>
            <a:off x="877824" y="5157216"/>
            <a:ext cx="15240" cy="292608"/>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316736" y="4645152"/>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公開・運用開始</a:t>
            </a:r>
          </a:p>
        </p:txBody>
      </p:sp>
      <p:sp>
        <p:nvSpPr>
          <p:cNvPr id="38" name="Rectangle 37"/>
          <p:cNvSpPr/>
          <p:nvPr/>
        </p:nvSpPr>
        <p:spPr>
          <a:xfrm>
            <a:off x="4133088" y="4681728"/>
            <a:ext cx="868680" cy="25603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133088" y="4718304"/>
            <a:ext cx="868680" cy="219456"/>
          </a:xfrm>
          <a:prstGeom prst="rect">
            <a:avLst/>
          </a:prstGeom>
          <a:noFill/>
        </p:spPr>
        <p:txBody>
          <a:bodyPr wrap="square" anchor="t" lIns="0" rIns="0" tIns="0" bIns="0">
            <a:spAutoFit/>
          </a:bodyPr>
          <a:lstStyle/>
          <a:p>
            <a:pPr algn="ctr">
              <a:spcAft>
                <a:spcPts val="0"/>
              </a:spcAft>
            </a:pPr>
            <a:r>
              <a:rPr sz="1050" b="1">
                <a:solidFill>
                  <a:srgbClr val="0D9488"/>
                </a:solidFill>
                <a:latin typeface="游ゴシック"/>
                <a:ea typeface="游ゴシック"/>
              </a:rPr>
              <a:t>翌日〜</a:t>
            </a:r>
          </a:p>
        </p:txBody>
      </p:sp>
      <p:sp>
        <p:nvSpPr>
          <p:cNvPr id="40" name="TextBox 39"/>
          <p:cNvSpPr txBox="1"/>
          <p:nvPr/>
        </p:nvSpPr>
        <p:spPr>
          <a:xfrm>
            <a:off x="1316736" y="4974336"/>
            <a:ext cx="8534095"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公開の翌日から記事が増え始めます。1ヶ月目から月60本のペースで積み上がります</a:t>
            </a:r>
          </a:p>
        </p:txBody>
      </p:sp>
      <p:sp>
        <p:nvSpPr>
          <p:cNvPr id="41" name="Rectangle 40"/>
          <p:cNvSpPr/>
          <p:nvPr/>
        </p:nvSpPr>
        <p:spPr>
          <a:xfrm>
            <a:off x="658368" y="5449824"/>
            <a:ext cx="457200" cy="45720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8368" y="5568696"/>
            <a:ext cx="457200" cy="274320"/>
          </a:xfrm>
          <a:prstGeom prst="rect">
            <a:avLst/>
          </a:prstGeom>
          <a:noFill/>
        </p:spPr>
        <p:txBody>
          <a:bodyPr wrap="square" anchor="t" lIns="0" rIns="0" tIns="0" bIns="0">
            <a:spAutoFit/>
          </a:bodyPr>
          <a:lstStyle/>
          <a:p>
            <a:pPr algn="ctr">
              <a:spcAft>
                <a:spcPts val="0"/>
              </a:spcAft>
            </a:pPr>
            <a:r>
              <a:rPr sz="1300" b="1">
                <a:solidFill>
                  <a:srgbClr val="FFFFFF"/>
                </a:solidFill>
                <a:latin typeface="游ゴシック"/>
                <a:ea typeface="游ゴシック"/>
              </a:rPr>
              <a:t>06</a:t>
            </a:r>
          </a:p>
        </p:txBody>
      </p:sp>
      <p:sp>
        <p:nvSpPr>
          <p:cNvPr id="43" name="TextBox 42"/>
          <p:cNvSpPr txBox="1"/>
          <p:nvPr/>
        </p:nvSpPr>
        <p:spPr>
          <a:xfrm>
            <a:off x="1316736" y="5431536"/>
            <a:ext cx="2743200" cy="274320"/>
          </a:xfrm>
          <a:prstGeom prst="rect">
            <a:avLst/>
          </a:prstGeom>
          <a:noFill/>
        </p:spPr>
        <p:txBody>
          <a:bodyPr wrap="square" anchor="t" lIns="0" rIns="0" tIns="0" bIns="0">
            <a:spAutoFit/>
          </a:bodyPr>
          <a:lstStyle/>
          <a:p>
            <a:pPr algn="l">
              <a:spcAft>
                <a:spcPts val="0"/>
              </a:spcAft>
            </a:pPr>
            <a:r>
              <a:rPr sz="1400" b="1">
                <a:solidFill>
                  <a:srgbClr val="0B2447"/>
                </a:solidFill>
                <a:latin typeface="游ゴシック"/>
                <a:ea typeface="游ゴシック"/>
              </a:rPr>
              <a:t>毎月のレポート</a:t>
            </a:r>
          </a:p>
        </p:txBody>
      </p:sp>
      <p:sp>
        <p:nvSpPr>
          <p:cNvPr id="44" name="Rectangle 43"/>
          <p:cNvSpPr/>
          <p:nvPr/>
        </p:nvSpPr>
        <p:spPr>
          <a:xfrm>
            <a:off x="4133088" y="5468112"/>
            <a:ext cx="868680" cy="256032"/>
          </a:xfrm>
          <a:prstGeom prst="rect">
            <a:avLst/>
          </a:prstGeom>
          <a:solidFill>
            <a:srgbClr val="F5F8FC"/>
          </a:solidFill>
          <a:ln w="12700">
            <a:solidFill>
              <a:srgbClr val="E3EA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133088" y="5504688"/>
            <a:ext cx="868680" cy="219456"/>
          </a:xfrm>
          <a:prstGeom prst="rect">
            <a:avLst/>
          </a:prstGeom>
          <a:noFill/>
        </p:spPr>
        <p:txBody>
          <a:bodyPr wrap="square" anchor="t" lIns="0" rIns="0" tIns="0" bIns="0">
            <a:spAutoFit/>
          </a:bodyPr>
          <a:lstStyle/>
          <a:p>
            <a:pPr algn="ctr">
              <a:spcAft>
                <a:spcPts val="0"/>
              </a:spcAft>
            </a:pPr>
            <a:r>
              <a:rPr sz="1050" b="1">
                <a:solidFill>
                  <a:srgbClr val="0D9488"/>
                </a:solidFill>
                <a:latin typeface="游ゴシック"/>
                <a:ea typeface="游ゴシック"/>
              </a:rPr>
              <a:t>継続</a:t>
            </a:r>
          </a:p>
        </p:txBody>
      </p:sp>
      <p:sp>
        <p:nvSpPr>
          <p:cNvPr id="46" name="TextBox 45"/>
          <p:cNvSpPr txBox="1"/>
          <p:nvPr/>
        </p:nvSpPr>
        <p:spPr>
          <a:xfrm>
            <a:off x="1316736" y="5760720"/>
            <a:ext cx="8534095" cy="457200"/>
          </a:xfrm>
          <a:prstGeom prst="rect">
            <a:avLst/>
          </a:prstGeom>
          <a:noFill/>
        </p:spPr>
        <p:txBody>
          <a:bodyPr wrap="square" anchor="t" lIns="0" rIns="0" tIns="0" bIns="0">
            <a:spAutoFit/>
          </a:bodyPr>
          <a:lstStyle/>
          <a:p>
            <a:pPr algn="l">
              <a:lnSpc>
                <a:spcPct val="140000"/>
              </a:lnSpc>
              <a:spcAft>
                <a:spcPts val="0"/>
              </a:spcAft>
            </a:pPr>
            <a:r>
              <a:rPr sz="1150" b="0">
                <a:solidFill>
                  <a:srgbClr val="1A2233"/>
                </a:solidFill>
                <a:latin typeface="游ゴシック"/>
                <a:ea typeface="游ゴシック"/>
              </a:rPr>
              <a:t>数字の報告と、翌月の改善指示をお渡しします。ご要望に応じてキーワードの追加も承ります</a:t>
            </a:r>
          </a:p>
        </p:txBody>
      </p:sp>
      <p:sp>
        <p:nvSpPr>
          <p:cNvPr id="47" name="Rectangle 4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26</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よくあるご質問（1/2）</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16736"/>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7" name="TextBox 6"/>
          <p:cNvSpPr txBox="1"/>
          <p:nvPr/>
        </p:nvSpPr>
        <p:spPr>
          <a:xfrm>
            <a:off x="1060704" y="127101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記事の品質は大丈夫ですか。AIが書いた記事だと分かりませんか？</a:t>
            </a:r>
          </a:p>
        </p:txBody>
      </p:sp>
      <p:sp>
        <p:nvSpPr>
          <p:cNvPr id="8" name="TextBox 7"/>
          <p:cNvSpPr txBox="1"/>
          <p:nvPr/>
        </p:nvSpPr>
        <p:spPr>
          <a:xfrm>
            <a:off x="1060704" y="1682496"/>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AI特有の言い回しを排除する7項目を全記事でチェックし、一人称の体験・観察を必ず入れています。さらに3観点（一次性・抽出性・決定支援）の採点で、各80点以上かつ総合90点以上に届かない記事は公開されません。実際の記事は貴社サイトでご確認いただけますので、まずは既存メディアの記事をご覧ください。</a:t>
            </a:r>
          </a:p>
        </p:txBody>
      </p:sp>
      <p:sp>
        <p:nvSpPr>
          <p:cNvPr id="9" name="Rectangle 8"/>
          <p:cNvSpPr/>
          <p:nvPr/>
        </p:nvSpPr>
        <p:spPr>
          <a:xfrm>
            <a:off x="658368" y="2635948"/>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672524"/>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11" name="TextBox 10"/>
          <p:cNvSpPr txBox="1"/>
          <p:nvPr/>
        </p:nvSpPr>
        <p:spPr>
          <a:xfrm>
            <a:off x="1060704" y="2626804"/>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効果が出るまでどれくらいかかりますか？</a:t>
            </a:r>
          </a:p>
        </p:txBody>
      </p:sp>
      <p:sp>
        <p:nvSpPr>
          <p:cNvPr id="12" name="TextBox 11"/>
          <p:cNvSpPr txBox="1"/>
          <p:nvPr/>
        </p:nvSpPr>
        <p:spPr>
          <a:xfrm>
            <a:off x="1060704" y="3038284"/>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検索での順位は、記事公開から評価が安定するまで6〜8ヶ月かかるのが一般的です。ただし記事は資産として積み上がるため、8ヶ月目以降は同じ費用でも成果が伸び続けます。初月から見えるのは、インデックス登録状況と表示回数の増加です。</a:t>
            </a:r>
          </a:p>
        </p:txBody>
      </p:sp>
      <p:sp>
        <p:nvSpPr>
          <p:cNvPr id="13" name="Rectangle 12"/>
          <p:cNvSpPr/>
          <p:nvPr/>
        </p:nvSpPr>
        <p:spPr>
          <a:xfrm>
            <a:off x="658368" y="3765358"/>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3801934"/>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15" name="TextBox 14"/>
          <p:cNvSpPr txBox="1"/>
          <p:nvPr/>
        </p:nvSpPr>
        <p:spPr>
          <a:xfrm>
            <a:off x="1060704" y="3756214"/>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記事のテーマはこちらで決められますか？</a:t>
            </a:r>
          </a:p>
        </p:txBody>
      </p:sp>
      <p:sp>
        <p:nvSpPr>
          <p:cNvPr id="16" name="TextBox 15"/>
          <p:cNvSpPr txBox="1"/>
          <p:nvPr/>
        </p:nvSpPr>
        <p:spPr>
          <a:xfrm>
            <a:off x="1060704" y="4167694"/>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はい。初回のヒアリングで御社の強みと狙いたい層を伺い、キーワードの一覧をご提案します。台帳はスプレッドシートで共有するため、いつでもご確認・ご要望の追加が可能です。</a:t>
            </a:r>
          </a:p>
        </p:txBody>
      </p:sp>
      <p:sp>
        <p:nvSpPr>
          <p:cNvPr id="17" name="Rectangle 16"/>
          <p:cNvSpPr/>
          <p:nvPr/>
        </p:nvSpPr>
        <p:spPr>
          <a:xfrm>
            <a:off x="658368" y="4894768"/>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4931344"/>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19" name="TextBox 18"/>
          <p:cNvSpPr txBox="1"/>
          <p:nvPr/>
        </p:nvSpPr>
        <p:spPr>
          <a:xfrm>
            <a:off x="1060704" y="4885624"/>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公開前に内容を確認できますか？</a:t>
            </a:r>
          </a:p>
        </p:txBody>
      </p:sp>
      <p:sp>
        <p:nvSpPr>
          <p:cNvPr id="20" name="TextBox 19"/>
          <p:cNvSpPr txBox="1"/>
          <p:nvPr/>
        </p:nvSpPr>
        <p:spPr>
          <a:xfrm>
            <a:off x="1060704" y="5297104"/>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可能です。ご希望に応じて、公開前の確認フローを挟む運用に変更できます。医療・金融など表現規制のある業種では、この運用を推奨しています。</a:t>
            </a:r>
          </a:p>
        </p:txBody>
      </p:sp>
      <p:sp>
        <p:nvSpPr>
          <p:cNvPr id="21" name="Rectangle 20"/>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612648"/>
            <a:ext cx="457200" cy="256032"/>
          </a:xfrm>
          <a:prstGeom prst="rect">
            <a:avLst/>
          </a:prstGeom>
          <a:noFill/>
        </p:spPr>
        <p:txBody>
          <a:bodyPr wrap="square" anchor="t" lIns="0" rIns="0" tIns="0" bIns="0">
            <a:spAutoFit/>
          </a:bodyPr>
          <a:lstStyle/>
          <a:p>
            <a:pPr algn="l">
              <a:spcAft>
                <a:spcPts val="0"/>
              </a:spcAft>
            </a:pPr>
            <a:r>
              <a:rPr sz="1250" b="1">
                <a:solidFill>
                  <a:srgbClr val="B7922E"/>
                </a:solidFill>
                <a:latin typeface="游ゴシック"/>
                <a:ea typeface="游ゴシック"/>
              </a:rPr>
              <a:t>26</a:t>
            </a:r>
          </a:p>
        </p:txBody>
      </p:sp>
      <p:sp>
        <p:nvSpPr>
          <p:cNvPr id="3" name="TextBox 2"/>
          <p:cNvSpPr txBox="1"/>
          <p:nvPr/>
        </p:nvSpPr>
        <p:spPr>
          <a:xfrm>
            <a:off x="1170432" y="548640"/>
            <a:ext cx="8863279" cy="365760"/>
          </a:xfrm>
          <a:prstGeom prst="rect">
            <a:avLst/>
          </a:prstGeom>
          <a:noFill/>
        </p:spPr>
        <p:txBody>
          <a:bodyPr wrap="square" anchor="t" lIns="0" rIns="0" tIns="0" bIns="0">
            <a:spAutoFit/>
          </a:bodyPr>
          <a:lstStyle/>
          <a:p>
            <a:pPr algn="l">
              <a:spcAft>
                <a:spcPts val="0"/>
              </a:spcAft>
            </a:pPr>
            <a:r>
              <a:rPr sz="2300" b="1">
                <a:solidFill>
                  <a:srgbClr val="0B2447"/>
                </a:solidFill>
                <a:latin typeface="游ゴシック"/>
                <a:ea typeface="游ゴシック"/>
              </a:rPr>
              <a:t>よくあるご質問（2/2）</a:t>
            </a:r>
          </a:p>
        </p:txBody>
      </p:sp>
      <p:sp>
        <p:nvSpPr>
          <p:cNvPr id="4" name="Rectangle 3"/>
          <p:cNvSpPr/>
          <p:nvPr/>
        </p:nvSpPr>
        <p:spPr>
          <a:xfrm>
            <a:off x="658368" y="1005840"/>
            <a:ext cx="457200" cy="3302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16736"/>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7" name="TextBox 6"/>
          <p:cNvSpPr txBox="1"/>
          <p:nvPr/>
        </p:nvSpPr>
        <p:spPr>
          <a:xfrm>
            <a:off x="1060704" y="127101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既存のサイトがありますが、作り直しになりますか？</a:t>
            </a:r>
          </a:p>
        </p:txBody>
      </p:sp>
      <p:sp>
        <p:nvSpPr>
          <p:cNvPr id="8" name="TextBox 7"/>
          <p:cNvSpPr txBox="1"/>
          <p:nvPr/>
        </p:nvSpPr>
        <p:spPr>
          <a:xfrm>
            <a:off x="1060704" y="1682496"/>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既存サイトを活かしたまま、記事部分だけを追加することも可能です。ただしAI検索への対応度は既存サイトの作りに左右されるため、初回の診断でどちらが良いかをご提案します。</a:t>
            </a:r>
          </a:p>
        </p:txBody>
      </p:sp>
      <p:sp>
        <p:nvSpPr>
          <p:cNvPr id="9" name="Rectangle 8"/>
          <p:cNvSpPr/>
          <p:nvPr/>
        </p:nvSpPr>
        <p:spPr>
          <a:xfrm>
            <a:off x="658368" y="2409570"/>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446146"/>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11" name="TextBox 10"/>
          <p:cNvSpPr txBox="1"/>
          <p:nvPr/>
        </p:nvSpPr>
        <p:spPr>
          <a:xfrm>
            <a:off x="1060704" y="2400426"/>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解約はいつでもできますか？</a:t>
            </a:r>
          </a:p>
        </p:txBody>
      </p:sp>
      <p:sp>
        <p:nvSpPr>
          <p:cNvPr id="12" name="TextBox 11"/>
          <p:cNvSpPr txBox="1"/>
          <p:nvPr/>
        </p:nvSpPr>
        <p:spPr>
          <a:xfrm>
            <a:off x="1060704" y="2811906"/>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可能です。解約後も公開済みの記事とサイトはそのまま御社の資産として残ります。データの引き渡しにも対応します。</a:t>
            </a:r>
          </a:p>
        </p:txBody>
      </p:sp>
      <p:sp>
        <p:nvSpPr>
          <p:cNvPr id="13" name="Rectangle 12"/>
          <p:cNvSpPr/>
          <p:nvPr/>
        </p:nvSpPr>
        <p:spPr>
          <a:xfrm>
            <a:off x="658368" y="3312603"/>
            <a:ext cx="274320" cy="274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3349179"/>
            <a:ext cx="274320" cy="219456"/>
          </a:xfrm>
          <a:prstGeom prst="rect">
            <a:avLst/>
          </a:prstGeom>
          <a:noFill/>
        </p:spPr>
        <p:txBody>
          <a:bodyPr wrap="square" anchor="t" lIns="0" rIns="0" tIns="0" bIns="0">
            <a:spAutoFit/>
          </a:bodyPr>
          <a:lstStyle/>
          <a:p>
            <a:pPr algn="ctr">
              <a:spcAft>
                <a:spcPts val="0"/>
              </a:spcAft>
            </a:pPr>
            <a:r>
              <a:rPr sz="1200" b="1">
                <a:solidFill>
                  <a:srgbClr val="FFFFFF"/>
                </a:solidFill>
                <a:latin typeface="游ゴシック"/>
                <a:ea typeface="游ゴシック"/>
              </a:rPr>
              <a:t>Q</a:t>
            </a:r>
          </a:p>
        </p:txBody>
      </p:sp>
      <p:sp>
        <p:nvSpPr>
          <p:cNvPr id="15" name="TextBox 14"/>
          <p:cNvSpPr txBox="1"/>
          <p:nvPr/>
        </p:nvSpPr>
        <p:spPr>
          <a:xfrm>
            <a:off x="1060704" y="3303459"/>
            <a:ext cx="8918143" cy="274320"/>
          </a:xfrm>
          <a:prstGeom prst="rect">
            <a:avLst/>
          </a:prstGeom>
          <a:noFill/>
        </p:spPr>
        <p:txBody>
          <a:bodyPr wrap="square" anchor="t" lIns="0" rIns="0" tIns="0" bIns="0">
            <a:spAutoFit/>
          </a:bodyPr>
          <a:lstStyle/>
          <a:p>
            <a:pPr algn="l">
              <a:spcAft>
                <a:spcPts val="0"/>
              </a:spcAft>
            </a:pPr>
            <a:r>
              <a:rPr sz="1350" b="1">
                <a:solidFill>
                  <a:srgbClr val="0B2447"/>
                </a:solidFill>
                <a:latin typeface="游ゴシック"/>
                <a:ea typeface="游ゴシック"/>
              </a:rPr>
              <a:t>写真はこちらで用意する必要がありますか？</a:t>
            </a:r>
          </a:p>
        </p:txBody>
      </p:sp>
      <p:sp>
        <p:nvSpPr>
          <p:cNvPr id="16" name="TextBox 15"/>
          <p:cNvSpPr txBox="1"/>
          <p:nvPr/>
        </p:nvSpPr>
        <p:spPr>
          <a:xfrm>
            <a:off x="1060704" y="3714939"/>
            <a:ext cx="8808415" cy="365760"/>
          </a:xfrm>
          <a:prstGeom prst="rect">
            <a:avLst/>
          </a:prstGeom>
          <a:noFill/>
        </p:spPr>
        <p:txBody>
          <a:bodyPr wrap="square" anchor="t" lIns="0" rIns="0" tIns="0" bIns="0">
            <a:spAutoFit/>
          </a:bodyPr>
          <a:lstStyle/>
          <a:p>
            <a:pPr algn="l">
              <a:lnSpc>
                <a:spcPct val="155000"/>
              </a:lnSpc>
              <a:spcAft>
                <a:spcPts val="0"/>
              </a:spcAft>
            </a:pPr>
            <a:r>
              <a:rPr sz="1150" b="0">
                <a:solidFill>
                  <a:srgbClr val="1A2233"/>
                </a:solidFill>
                <a:latin typeface="游ゴシック"/>
                <a:ea typeface="游ゴシック"/>
              </a:rPr>
              <a:t>店舗写真・商品写真・スタッフ写真はご支給いただく前提です（初期費用 20万〜30万円）。AIでの画像生成をご希望の場合は初期費用30万円となります。なお記事内の図解は、いずれの場合も当社が全て作成します。</a:t>
            </a:r>
          </a:p>
        </p:txBody>
      </p:sp>
      <p:sp>
        <p:nvSpPr>
          <p:cNvPr id="17" name="Rectangle 16"/>
          <p:cNvSpPr/>
          <p:nvPr/>
        </p:nvSpPr>
        <p:spPr>
          <a:xfrm>
            <a:off x="658368" y="7029907"/>
            <a:ext cx="9375343" cy="9525"/>
          </a:xfrm>
          <a:prstGeom prst="rect">
            <a:avLst/>
          </a:prstGeom>
          <a:solidFill>
            <a:srgbClr val="E3EA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04911" y="7121347"/>
            <a:ext cx="1828800" cy="201168"/>
          </a:xfrm>
          <a:prstGeom prst="rect">
            <a:avLst/>
          </a:prstGeom>
          <a:noFill/>
        </p:spPr>
        <p:txBody>
          <a:bodyPr wrap="square" anchor="t" lIns="0" rIns="0" tIns="0" bIns="0">
            <a:spAutoFit/>
          </a:bodyPr>
          <a:lstStyle/>
          <a:p>
            <a:pPr algn="r">
              <a:spcAft>
                <a:spcPts val="0"/>
              </a:spcAft>
            </a:pPr>
            <a:r>
              <a:rPr sz="850" b="0">
                <a:solidFill>
                  <a:srgbClr val="5B6B84"/>
                </a:solidFill>
                <a:latin typeface="游ゴシック"/>
                <a:ea typeface="游ゴシック"/>
              </a:rPr>
              <a:t>セブンセンシズ株式会社</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79" cy="7560259"/>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692079" cy="109728"/>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logo-white.png"/>
          <p:cNvPicPr>
            <a:picLocks noChangeAspect="1"/>
          </p:cNvPicPr>
          <p:nvPr/>
        </p:nvPicPr>
        <p:blipFill>
          <a:blip r:embed="rId2"/>
          <a:stretch>
            <a:fillRect/>
          </a:stretch>
        </p:blipFill>
        <p:spPr>
          <a:xfrm>
            <a:off x="658368" y="777240"/>
            <a:ext cx="1011277" cy="402336"/>
          </a:xfrm>
          <a:prstGeom prst="rect">
            <a:avLst/>
          </a:prstGeom>
        </p:spPr>
      </p:pic>
      <p:sp>
        <p:nvSpPr>
          <p:cNvPr id="5" name="TextBox 4"/>
          <p:cNvSpPr txBox="1"/>
          <p:nvPr/>
        </p:nvSpPr>
        <p:spPr>
          <a:xfrm>
            <a:off x="658368" y="1874519"/>
            <a:ext cx="10241280" cy="868680"/>
          </a:xfrm>
          <a:prstGeom prst="rect">
            <a:avLst/>
          </a:prstGeom>
          <a:noFill/>
        </p:spPr>
        <p:txBody>
          <a:bodyPr wrap="square" anchor="t" lIns="0" rIns="0" tIns="0" bIns="0">
            <a:spAutoFit/>
          </a:bodyPr>
          <a:lstStyle/>
          <a:p>
            <a:pPr algn="l">
              <a:lnSpc>
                <a:spcPct val="132000"/>
              </a:lnSpc>
              <a:spcAft>
                <a:spcPts val="0"/>
              </a:spcAft>
            </a:pPr>
            <a:r>
              <a:rPr sz="3400" b="1">
                <a:solidFill>
                  <a:srgbClr val="FFFFFF"/>
                </a:solidFill>
                <a:latin typeface="游ゴシック"/>
                <a:ea typeface="游ゴシック"/>
              </a:rPr>
              <a:t>まずは、御社のキーワードを</a:t>
            </a:r>
          </a:p>
          <a:p>
            <a:pPr algn="l">
              <a:lnSpc>
                <a:spcPct val="132000"/>
              </a:lnSpc>
              <a:spcAft>
                <a:spcPts val="0"/>
              </a:spcAft>
            </a:pPr>
            <a:r>
              <a:rPr sz="3400" b="1">
                <a:solidFill>
                  <a:srgbClr val="FFFFFF"/>
                </a:solidFill>
                <a:latin typeface="游ゴシック"/>
                <a:ea typeface="游ゴシック"/>
              </a:rPr>
              <a:t>無料でお調べします</a:t>
            </a:r>
          </a:p>
        </p:txBody>
      </p:sp>
      <p:sp>
        <p:nvSpPr>
          <p:cNvPr id="6" name="Rectangle 5"/>
          <p:cNvSpPr/>
          <p:nvPr/>
        </p:nvSpPr>
        <p:spPr>
          <a:xfrm>
            <a:off x="658368" y="3474720"/>
            <a:ext cx="1188720" cy="44450"/>
          </a:xfrm>
          <a:prstGeom prst="rect">
            <a:avLst/>
          </a:prstGeom>
          <a:solidFill>
            <a:srgbClr val="B792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3749039"/>
            <a:ext cx="9692640" cy="822960"/>
          </a:xfrm>
          <a:prstGeom prst="rect">
            <a:avLst/>
          </a:prstGeom>
          <a:noFill/>
        </p:spPr>
        <p:txBody>
          <a:bodyPr wrap="square" anchor="t" lIns="0" rIns="0" tIns="0" bIns="0">
            <a:spAutoFit/>
          </a:bodyPr>
          <a:lstStyle/>
          <a:p>
            <a:pPr algn="l">
              <a:lnSpc>
                <a:spcPct val="170000"/>
              </a:lnSpc>
              <a:spcAft>
                <a:spcPts val="0"/>
              </a:spcAft>
            </a:pPr>
            <a:r>
              <a:rPr sz="1400" b="0">
                <a:solidFill>
                  <a:srgbClr val="C5D6EB"/>
                </a:solidFill>
                <a:latin typeface="游ゴシック"/>
                <a:ea typeface="游ゴシック"/>
              </a:rPr>
              <a:t>60分のご相談で、どのキーワードなら狙えるか、競合がいま何本の記事を持っているかをお調べしてお伝えします。</a:t>
            </a:r>
          </a:p>
          <a:p>
            <a:pPr algn="l">
              <a:lnSpc>
                <a:spcPct val="170000"/>
              </a:lnSpc>
              <a:spcAft>
                <a:spcPts val="0"/>
              </a:spcAft>
            </a:pPr>
            <a:r>
              <a:rPr sz="1400" b="0">
                <a:solidFill>
                  <a:srgbClr val="C5D6EB"/>
                </a:solidFill>
                <a:latin typeface="游ゴシック"/>
                <a:ea typeface="游ゴシック"/>
              </a:rPr>
              <a:t>ご契約を前提としたご案内ではありません。</a:t>
            </a:r>
          </a:p>
        </p:txBody>
      </p:sp>
      <p:sp>
        <p:nvSpPr>
          <p:cNvPr id="8" name="TextBox 7"/>
          <p:cNvSpPr txBox="1"/>
          <p:nvPr/>
        </p:nvSpPr>
        <p:spPr>
          <a:xfrm>
            <a:off x="658368" y="5074920"/>
            <a:ext cx="4754880" cy="219456"/>
          </a:xfrm>
          <a:prstGeom prst="rect">
            <a:avLst/>
          </a:prstGeom>
          <a:noFill/>
        </p:spPr>
        <p:txBody>
          <a:bodyPr wrap="square" anchor="t" lIns="0" rIns="0" tIns="0" bIns="0">
            <a:spAutoFit/>
          </a:bodyPr>
          <a:lstStyle/>
          <a:p>
            <a:pPr algn="l">
              <a:spcAft>
                <a:spcPts val="0"/>
              </a:spcAft>
            </a:pPr>
            <a:r>
              <a:rPr sz="1050" b="0">
                <a:solidFill>
                  <a:srgbClr val="7E9ABE"/>
                </a:solidFill>
                <a:latin typeface="游ゴシック"/>
                <a:ea typeface="游ゴシック"/>
              </a:rPr>
              <a:t>お問い合わせ</a:t>
            </a:r>
          </a:p>
        </p:txBody>
      </p:sp>
      <p:sp>
        <p:nvSpPr>
          <p:cNvPr id="9" name="TextBox 8"/>
          <p:cNvSpPr txBox="1"/>
          <p:nvPr/>
        </p:nvSpPr>
        <p:spPr>
          <a:xfrm>
            <a:off x="658368" y="5349240"/>
            <a:ext cx="4754880" cy="274320"/>
          </a:xfrm>
          <a:prstGeom prst="rect">
            <a:avLst/>
          </a:prstGeom>
          <a:noFill/>
        </p:spPr>
        <p:txBody>
          <a:bodyPr wrap="square" anchor="t" lIns="0" rIns="0" tIns="0" bIns="0">
            <a:spAutoFit/>
          </a:bodyPr>
          <a:lstStyle/>
          <a:p>
            <a:pPr algn="l">
              <a:spcAft>
                <a:spcPts val="0"/>
              </a:spcAft>
            </a:pPr>
            <a:r>
              <a:rPr sz="1400" b="1">
                <a:solidFill>
                  <a:srgbClr val="FFFFFF"/>
                </a:solidFill>
                <a:latin typeface="游ゴシック"/>
                <a:ea typeface="游ゴシック"/>
              </a:rPr>
              <a:t>corp.7senses.co.jp/contact/</a:t>
            </a:r>
          </a:p>
        </p:txBody>
      </p:sp>
      <p:sp>
        <p:nvSpPr>
          <p:cNvPr id="10" name="TextBox 9"/>
          <p:cNvSpPr txBox="1"/>
          <p:nvPr/>
        </p:nvSpPr>
        <p:spPr>
          <a:xfrm>
            <a:off x="5779008" y="5074920"/>
            <a:ext cx="4754880" cy="219456"/>
          </a:xfrm>
          <a:prstGeom prst="rect">
            <a:avLst/>
          </a:prstGeom>
          <a:noFill/>
        </p:spPr>
        <p:txBody>
          <a:bodyPr wrap="square" anchor="t" lIns="0" rIns="0" tIns="0" bIns="0">
            <a:spAutoFit/>
          </a:bodyPr>
          <a:lstStyle/>
          <a:p>
            <a:pPr algn="l">
              <a:spcAft>
                <a:spcPts val="0"/>
              </a:spcAft>
            </a:pPr>
            <a:r>
              <a:rPr sz="1050" b="0">
                <a:solidFill>
                  <a:srgbClr val="7E9ABE"/>
                </a:solidFill>
                <a:latin typeface="游ゴシック"/>
                <a:ea typeface="游ゴシック"/>
              </a:rPr>
              <a:t>運用中のメディア</a:t>
            </a:r>
          </a:p>
        </p:txBody>
      </p:sp>
      <p:sp>
        <p:nvSpPr>
          <p:cNvPr id="11" name="TextBox 10"/>
          <p:cNvSpPr txBox="1"/>
          <p:nvPr/>
        </p:nvSpPr>
        <p:spPr>
          <a:xfrm>
            <a:off x="5779008" y="5349240"/>
            <a:ext cx="4754880" cy="274320"/>
          </a:xfrm>
          <a:prstGeom prst="rect">
            <a:avLst/>
          </a:prstGeom>
          <a:noFill/>
        </p:spPr>
        <p:txBody>
          <a:bodyPr wrap="square" anchor="t" lIns="0" rIns="0" tIns="0" bIns="0">
            <a:spAutoFit/>
          </a:bodyPr>
          <a:lstStyle/>
          <a:p>
            <a:pPr algn="l">
              <a:spcAft>
                <a:spcPts val="0"/>
              </a:spcAft>
            </a:pPr>
            <a:r>
              <a:rPr sz="1400" b="1">
                <a:solidFill>
                  <a:srgbClr val="FFFFFF"/>
                </a:solidFill>
                <a:latin typeface="游ゴシック"/>
                <a:ea typeface="游ゴシック"/>
              </a:rPr>
              <a:t>ai.7senses.co.jp</a:t>
            </a:r>
          </a:p>
        </p:txBody>
      </p:sp>
      <p:sp>
        <p:nvSpPr>
          <p:cNvPr id="12" name="TextBox 11"/>
          <p:cNvSpPr txBox="1"/>
          <p:nvPr/>
        </p:nvSpPr>
        <p:spPr>
          <a:xfrm>
            <a:off x="658368" y="6080760"/>
            <a:ext cx="10058400" cy="274320"/>
          </a:xfrm>
          <a:prstGeom prst="rect">
            <a:avLst/>
          </a:prstGeom>
          <a:noFill/>
        </p:spPr>
        <p:txBody>
          <a:bodyPr wrap="square" anchor="t" lIns="0" rIns="0" tIns="0" bIns="0">
            <a:spAutoFit/>
          </a:bodyPr>
          <a:lstStyle/>
          <a:p>
            <a:pPr algn="l">
              <a:spcAft>
                <a:spcPts val="0"/>
              </a:spcAft>
            </a:pPr>
            <a:r>
              <a:rPr sz="1200" b="0">
                <a:solidFill>
                  <a:srgbClr val="9EC0E8"/>
                </a:solidFill>
                <a:latin typeface="游ゴシック"/>
                <a:ea typeface="游ゴシック"/>
              </a:rPr>
              <a:t>セブンセンシズ株式会社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